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0782" autoAdjust="0"/>
  </p:normalViewPr>
  <p:slideViewPr>
    <p:cSldViewPr snapToGrid="0" snapToObjects="1">
      <p:cViewPr>
        <p:scale>
          <a:sx n="98" d="100"/>
          <a:sy n="98" d="100"/>
        </p:scale>
        <p:origin x="3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F5E59"/>
                </a:solidFill>
                <a:latin typeface="Calibri"/>
              </a:defRPr>
            </a:pPr>
            <a:r>
              <a:rPr lang="en-US" sz="1200" b="0" i="0" u="none" strike="noStrike">
                <a:solidFill>
                  <a:srgbClr val="5F5E59"/>
                </a:solidFill>
                <a:latin typeface="Calibri"/>
              </a:rPr>
              <a:t>Annual net savings per adherent patient (USD)</a:t>
            </a:r>
          </a:p>
        </c:rich>
      </c:tx>
      <c:overlay val="0"/>
    </c:title>
    <c:autoTitleDeleted val="0"/>
    <c:plotArea>
      <c:layout/>
      <c:barChart>
        <c:barDir val="bar"/>
        <c:grouping val="clustered"/>
        <c:varyColors val="0"/>
        <c:ser>
          <c:idx val="0"/>
          <c:order val="0"/>
          <c:tx>
            <c:strRef>
              <c:f>Sheet1!$B$1</c:f>
              <c:strCache>
                <c:ptCount val="1"/>
                <c:pt idx="0">
                  <c:v>Annual net savings per adherent patient</c:v>
                </c:pt>
              </c:strCache>
            </c:strRef>
          </c:tx>
          <c:spPr>
            <a:solidFill>
              <a:srgbClr val="20808D"/>
            </a:solidFill>
            <a:effectLst/>
          </c:spPr>
          <c:invertIfNegative val="0"/>
          <c:dLbls>
            <c:numFmt formatCode="\$#,##0" sourceLinked="0"/>
            <c:spPr>
              <a:noFill/>
              <a:ln>
                <a:noFill/>
              </a:ln>
              <a:effectLst/>
            </c:spPr>
            <c:txPr>
              <a:bodyPr/>
              <a:lstStyle/>
              <a:p>
                <a:pPr>
                  <a:defRPr sz="1200" b="0" i="0" u="none" strike="noStrike">
                    <a:solidFill>
                      <a:srgbClr val="28251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Heart failure</c:v>
                </c:pt>
                <c:pt idx="1">
                  <c:v>Hypertension</c:v>
                </c:pt>
                <c:pt idx="2">
                  <c:v>Diabetes</c:v>
                </c:pt>
                <c:pt idx="3">
                  <c:v>Dyslipidemia</c:v>
                </c:pt>
              </c:strCache>
            </c:strRef>
          </c:cat>
          <c:val>
            <c:numRef>
              <c:f>Sheet1!$B$2:$B$5</c:f>
              <c:numCache>
                <c:formatCode>General</c:formatCode>
                <c:ptCount val="4"/>
                <c:pt idx="0">
                  <c:v>7823</c:v>
                </c:pt>
                <c:pt idx="1">
                  <c:v>3908</c:v>
                </c:pt>
                <c:pt idx="2">
                  <c:v>3756</c:v>
                </c:pt>
                <c:pt idx="3">
                  <c:v>1258</c:v>
                </c:pt>
              </c:numCache>
            </c:numRef>
          </c:val>
          <c:extLst>
            <c:ext xmlns:c16="http://schemas.microsoft.com/office/drawing/2014/chart" uri="{C3380CC4-5D6E-409C-BE32-E72D297353CC}">
              <c16:uniqueId val="{00000000-F62C-446D-B56F-6E122AB6A3FA}"/>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8251D"/>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t"/>
        <c:numFmt formatCode="General" sourceLinked="0"/>
        <c:majorTickMark val="out"/>
        <c:minorTickMark val="none"/>
        <c:tickLblPos val="low"/>
        <c:spPr>
          <a:ln w="12700" cap="flat">
            <a:noFill/>
            <a:prstDash val="solid"/>
            <a:round/>
          </a:ln>
        </c:spPr>
        <c:txPr>
          <a:bodyPr/>
          <a:lstStyle/>
          <a:p>
            <a:pPr>
              <a:defRPr sz="1200" b="0" i="0" u="none" strike="noStrike">
                <a:solidFill>
                  <a:srgbClr val="F7F6F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2614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 Title (0:00 to 1:00)</a:t>
            </a:r>
          </a:p>
          <a:p>
            <a:r>
              <a:rPr lang="en-US" dirty="0"/>
              <a:t>Good evening everyone. Thank you for being here.</a:t>
            </a:r>
          </a:p>
          <a:p>
            <a:r>
              <a:rPr lang="en-US" dirty="0"/>
              <a:t>Today I'm going to provide a demonstration of my most recent project, the Automated Pill Dispenser. It's a small station that does three things for every dose: it dispenses the pill, it uses a camera to confirm the patient is there and that the pill actually dropped, and it streams every event into Databricks. The station costs between 100 and 150 dollars to build.</a:t>
            </a:r>
          </a:p>
          <a:p>
            <a:r>
              <a:rPr lang="en-US" dirty="0"/>
              <a:t>The idea is simple. Medication adherence is usually a guess. This project turns it into data.</a:t>
            </a:r>
          </a:p>
          <a:p>
            <a:r>
              <a:rPr lang="en-US" dirty="0"/>
              <a:t>We'll spend about 20 minutes on the build, 15 minutes in a live demo of the Databricks tables and dashboard, and then we'll close with the financial case for healthcare.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2. About me (1:00 to 2:00)</a:t>
            </a:r>
          </a:p>
          <a:p>
            <a:endParaRPr lang="en-US" b="1" dirty="0"/>
          </a:p>
          <a:p>
            <a:r>
              <a:rPr lang="en-US" dirty="0"/>
              <a:t>A little bit about me. My name is Arewa. I'm an AI Robotics Engineer in the Pharmaceutical Manufacturing sector, and I have evolved to working at the intersection of artificial intelligence, hardware and data , specializing in manufacturing monitoring, anomaly detection and omniverse simulation research. </a:t>
            </a:r>
          </a:p>
          <a:p>
            <a:endParaRPr lang="en-US" dirty="0"/>
          </a:p>
          <a:p>
            <a:r>
              <a:rPr lang="en-US" dirty="0"/>
              <a:t>I studied computer science for my bachelors and am currently finishing up my MBA with a data science concentration.</a:t>
            </a:r>
          </a:p>
          <a:p>
            <a:endParaRPr lang="en-US" dirty="0"/>
          </a:p>
          <a:p>
            <a:r>
              <a:rPr lang="en-US" dirty="0"/>
              <a:t>My most recent project showcased for South Florida Data Geeks is an Isolation Forest model that predicts 30-day hospital readmission risk visualized with Tableau. I have also recently been conducting research on building virtual omniverse pharmaceutical manufacturing environments to generated </a:t>
            </a:r>
            <a:r>
              <a:rPr lang="en-US" dirty="0" err="1"/>
              <a:t>labled</a:t>
            </a:r>
            <a:r>
              <a:rPr lang="en-US" dirty="0"/>
              <a:t> synthetic computer vision data to evaluate models and test physical AI before deploying in real production line.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3. Agenda (2:00 to 3:00)</a:t>
            </a:r>
          </a:p>
          <a:p>
            <a:endParaRPr lang="en-US" b="1" dirty="0"/>
          </a:p>
          <a:p>
            <a:r>
              <a:rPr lang="en-US" dirty="0"/>
              <a:t>Here's where the next 45 minutes go.</a:t>
            </a:r>
          </a:p>
          <a:p>
            <a:endParaRPr lang="en-US" dirty="0"/>
          </a:p>
          <a:p>
            <a:r>
              <a:rPr lang="en-US" dirty="0"/>
              <a:t>We start with the problem, then the system design, then four build highlights for about 20 to 35 minutes, then we dive into the demo and  explore our dashboard in Databricks. That's the centerpiece. After that, we discuss the financial impact, and we finish with the roadmap and your questions.</a:t>
            </a:r>
          </a:p>
          <a:p>
            <a:endParaRPr lang="en-US" dirty="0"/>
          </a:p>
          <a:p>
            <a:r>
              <a:rPr lang="en-US" dirty="0"/>
              <a:t>If the live connection misbehaves, I have a backup slide with every number already verified, so we won't lose anything.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4. The problem (3:00 to 5:00)</a:t>
            </a:r>
          </a:p>
          <a:p>
            <a:endParaRPr lang="en-US" b="1" dirty="0"/>
          </a:p>
          <a:p>
            <a:r>
              <a:rPr lang="en-US" dirty="0"/>
              <a:t>Let’s talk about the problem this project aims to solve</a:t>
            </a:r>
          </a:p>
          <a:p>
            <a:endParaRPr lang="en-US" dirty="0"/>
          </a:p>
          <a:p>
            <a:r>
              <a:rPr lang="en-US" dirty="0"/>
              <a:t>According to the CDC, about half of filled prescriptions are taken incorrectly. Incorrectly can be defined as wrong timing, the wrong dose, the wrong frequency, or stopping too early.</a:t>
            </a:r>
          </a:p>
          <a:p>
            <a:endParaRPr lang="en-US" dirty="0"/>
          </a:p>
          <a:p>
            <a:r>
              <a:rPr lang="en-US" dirty="0"/>
              <a:t>Non-adherence costs the US health system between 100 and 300 billion dollars a year in direct costs. It's linked to about 125,000 deaths a year and to roughly 10 percent of hospitalizations.</a:t>
            </a:r>
          </a:p>
          <a:p>
            <a:endParaRPr lang="en-US" dirty="0"/>
          </a:p>
          <a:p>
            <a:r>
              <a:rPr lang="en-US" dirty="0"/>
              <a:t>[Pause.]</a:t>
            </a:r>
          </a:p>
          <a:p>
            <a:endParaRPr lang="en-US" dirty="0"/>
          </a:p>
          <a:p>
            <a:r>
              <a:rPr lang="en-US" dirty="0"/>
              <a:t>The point I want you to remember as engineers is this: the most common failure is timing, and timing is almost never recorded. </a:t>
            </a:r>
          </a:p>
          <a:p>
            <a:r>
              <a:rPr lang="en-US" dirty="0"/>
              <a:t>That missing data is the opportunity, and a connected dispenser can observe and timestamp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out there today?</a:t>
            </a:r>
          </a:p>
          <a:p>
            <a:endParaRPr lang="en-US" dirty="0"/>
          </a:p>
          <a:p>
            <a:r>
              <a:rPr lang="en-US" dirty="0"/>
              <a:t>On the left is the typical pillbox or reminder app. An alarm goes off. But there's no proof the right person was there, no proof that exactly one pill came out, and the caregivers usually finds out about a missed dose days later, if at all.</a:t>
            </a:r>
          </a:p>
          <a:p>
            <a:endParaRPr lang="en-US" dirty="0"/>
          </a:p>
          <a:p>
            <a:r>
              <a:rPr lang="en-US" dirty="0"/>
              <a:t>On the right is what this prototype does. First, a face gate: it only dispenses when a person is actually present. Second, a pill check: the camera counts what landed in the tray. Third, every dose is logged with timing drift, latency, and detection confidence. And fourth, the analytics look for drift before it turns into a full missed dose.</a:t>
            </a:r>
          </a:p>
          <a:p>
            <a:endParaRPr lang="en-US" dirty="0"/>
          </a:p>
          <a:p>
            <a:r>
              <a:rPr lang="en-US" dirty="0"/>
              <a:t>That last point matters. People rarely go from perfect to missing doses overnight. They drift later and later first. Drift is an early warning signal.</a:t>
            </a:r>
          </a:p>
          <a:p>
            <a:r>
              <a:rPr lang="en-US" dirty="0"/>
              <a:t>The design goal is non-invasive caregiving: no wearables, and no app the patient has to open. The device acts, observes, and reports.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6. System design (7:00 to 9:00)</a:t>
            </a:r>
          </a:p>
          <a:p>
            <a:endParaRPr lang="en-US" b="1" dirty="0"/>
          </a:p>
          <a:p>
            <a:r>
              <a:rPr lang="en-US" dirty="0"/>
              <a:t>The system has four layers.</a:t>
            </a:r>
          </a:p>
          <a:p>
            <a:endParaRPr lang="en-US" dirty="0"/>
          </a:p>
          <a:p>
            <a:r>
              <a:rPr lang="en-US" dirty="0"/>
              <a:t>The embedded layer is an Arduino Nano 33 BLE driving a single positional MG90S servo. It moves the carousel 45 degrees per dose, with absolute stops.</a:t>
            </a:r>
          </a:p>
          <a:p>
            <a:r>
              <a:rPr lang="en-US" dirty="0"/>
              <a:t>The edge vision layer is Python with OpenCV and </a:t>
            </a:r>
            <a:r>
              <a:rPr lang="en-US" dirty="0" err="1"/>
              <a:t>MediaPipe</a:t>
            </a:r>
            <a:r>
              <a:rPr lang="en-US" dirty="0"/>
              <a:t>, and </a:t>
            </a:r>
            <a:r>
              <a:rPr lang="en-US" dirty="0" err="1"/>
              <a:t>PySerial</a:t>
            </a:r>
            <a:endParaRPr lang="en-US" dirty="0"/>
          </a:p>
          <a:p>
            <a:endParaRPr lang="en-US" dirty="0"/>
          </a:p>
          <a:p>
            <a:r>
              <a:rPr lang="en-US" dirty="0"/>
              <a:t>These four run the edge program on the laptop. A dose proceeds only after a face stays in view, the Nano moves the carousel, and the tray shows one new pill.</a:t>
            </a:r>
          </a:p>
          <a:p>
            <a:endParaRPr lang="en-US" dirty="0"/>
          </a:p>
          <a:p>
            <a:r>
              <a:rPr lang="en-US" dirty="0"/>
              <a:t>Python is the program that runs that cycle. It opens the camera, decides when to dispense, writes the JSONL event, and inserts the same row into Bronze when the Databricks token is set.</a:t>
            </a:r>
          </a:p>
          <a:p>
            <a:endParaRPr lang="en-US" dirty="0"/>
          </a:p>
          <a:p>
            <a:r>
              <a:rPr lang="en-US" dirty="0" err="1"/>
              <a:t>MediaPipe</a:t>
            </a:r>
            <a:r>
              <a:rPr lang="en-US" dirty="0"/>
              <a:t> </a:t>
            </a:r>
            <a:r>
              <a:rPr lang="en-US" dirty="0" err="1"/>
              <a:t>BlazeFace</a:t>
            </a:r>
            <a:r>
              <a:rPr lang="en-US" dirty="0"/>
              <a:t> decides whether a person is in front of the camera. It checks presence, not identity. The carousel does not move until the face stays above the confidence threshold for several frames.</a:t>
            </a:r>
          </a:p>
          <a:p>
            <a:endParaRPr lang="en-US" dirty="0"/>
          </a:p>
          <a:p>
            <a:r>
              <a:rPr lang="en-US" dirty="0" err="1"/>
              <a:t>PySerial</a:t>
            </a:r>
            <a:r>
              <a:rPr lang="en-US" dirty="0"/>
              <a:t> is the USB link to the Nano on COM3. After the face is stable, Python sends </a:t>
            </a:r>
            <a:r>
              <a:rPr lang="en-US" sz="1200" kern="1200" dirty="0">
                <a:solidFill>
                  <a:schemeClr val="tx1"/>
                </a:solidFill>
                <a:latin typeface="+mn-lt"/>
                <a:ea typeface="+mn-ea"/>
                <a:cs typeface="+mn-cs"/>
              </a:rPr>
              <a:t>DISPENSE</a:t>
            </a:r>
            <a:r>
              <a:rPr lang="en-US" dirty="0"/>
              <a:t> and reads the acknowledgement. That command is what turns the servo.</a:t>
            </a:r>
          </a:p>
          <a:p>
            <a:endParaRPr lang="en-US" dirty="0"/>
          </a:p>
          <a:p>
            <a:r>
              <a:rPr lang="en-US" dirty="0"/>
              <a:t>OpenCV runs the camera and checks the tray. It grabs the laptop camera at index 0, counts pill-colored blobs before and after the move, and draws the preview window. A successful cycle is a count that goes up by one.</a:t>
            </a:r>
          </a:p>
          <a:p>
            <a:endParaRPr lang="en-US" dirty="0"/>
          </a:p>
          <a:p>
            <a:r>
              <a:rPr lang="en-US" dirty="0"/>
              <a:t>The data layer is Databricks Delta tables, written through the SQL Statement Execution API.</a:t>
            </a:r>
          </a:p>
          <a:p>
            <a:endParaRPr lang="en-US" dirty="0"/>
          </a:p>
          <a:p>
            <a:r>
              <a:rPr lang="en-US" dirty="0"/>
              <a:t>The analytics layer is a Databricks dashboard running on a serverless SQL warehouse.</a:t>
            </a:r>
          </a:p>
          <a:p>
            <a:endParaRPr lang="en-US" dirty="0"/>
          </a:p>
          <a:p>
            <a:r>
              <a:rPr lang="en-US" dirty="0"/>
              <a:t>The hardware costs around 100 -150 all-in with the cloud trial.</a:t>
            </a:r>
          </a:p>
          <a:p>
            <a:endParaRPr lang="en-US" dirty="0"/>
          </a:p>
          <a:p>
            <a:r>
              <a:rPr lang="en-US" dirty="0"/>
              <a:t>One design choice I want to highlight: I built this software-first. Every layer runs without the others. The firmware has a host test harness. The edge pipeline has a mock Arduino. And the data transforms run locally on synthetic data before they ever touch Databricks. That's how I could build and test the whole pipeline before the hardware was ready.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7. One dose, end to end (9:00 to 11:00)</a:t>
            </a:r>
          </a:p>
          <a:p>
            <a:r>
              <a:rPr lang="en-US" dirty="0"/>
              <a:t>Let's follow one dose through the system.</a:t>
            </a:r>
          </a:p>
          <a:p>
            <a:endParaRPr lang="en-US" dirty="0"/>
          </a:p>
          <a:p>
            <a:r>
              <a:rPr lang="en-US" dirty="0"/>
              <a:t>Step one, the face gate. </a:t>
            </a:r>
            <a:r>
              <a:rPr lang="en-US" dirty="0" err="1"/>
              <a:t>MediaPipe</a:t>
            </a:r>
            <a:r>
              <a:rPr lang="en-US" dirty="0"/>
              <a:t> needs eight stable frames at 0.65 confidence or higher before it allows a dispense. That stops a passing shadow from triggering anything.</a:t>
            </a:r>
          </a:p>
          <a:p>
            <a:endParaRPr lang="en-US" dirty="0"/>
          </a:p>
          <a:p>
            <a:r>
              <a:rPr lang="en-US" dirty="0"/>
              <a:t>Step two, the dispense command enables release. The device acknowledges it, and there's a retry limit of two.</a:t>
            </a:r>
          </a:p>
          <a:p>
            <a:endParaRPr lang="en-US" dirty="0"/>
          </a:p>
          <a:p>
            <a:r>
              <a:rPr lang="en-US" dirty="0"/>
              <a:t>Step three, the servo advances the carousel by one 45-degree bin.</a:t>
            </a:r>
          </a:p>
          <a:p>
            <a:endParaRPr lang="en-US" dirty="0"/>
          </a:p>
          <a:p>
            <a:r>
              <a:rPr lang="en-US" dirty="0"/>
              <a:t>Step four, the pill check. The camera counts pills in the tray against a baseline, with a three-second timeout. We count the change, not the total, because pills stay in the tray. The second dose is a count of two, not another one.</a:t>
            </a:r>
          </a:p>
          <a:p>
            <a:endParaRPr lang="en-US" dirty="0"/>
          </a:p>
          <a:p>
            <a:r>
              <a:rPr lang="en-US" dirty="0"/>
              <a:t>Step five, the event is written to a local JSON Lines file and inserted into the Bronze table in Databricks. If the network is down, the dose is still recorded locally.</a:t>
            </a:r>
          </a:p>
          <a:p>
            <a:endParaRPr lang="en-US" dirty="0"/>
          </a:p>
          <a:p>
            <a:r>
              <a:rPr lang="en-US" dirty="0"/>
              <a:t>Step six, Databricks turns it into Silver and Gold tables and the dashboard.</a:t>
            </a:r>
          </a:p>
          <a:p>
            <a:endParaRPr lang="en-US" dirty="0"/>
          </a:p>
          <a:p>
            <a:r>
              <a:rPr lang="en-US" dirty="0"/>
              <a:t>At the bottom of the slide, you can see the eight fields in every Bronze row. Remember these, because you'll see them live in a few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8. Highlight 1: the mechanism (11:00 to 13:30)</a:t>
            </a:r>
          </a:p>
          <a:p>
            <a:endParaRPr lang="en-US" b="1" dirty="0"/>
          </a:p>
          <a:p>
            <a:r>
              <a:rPr lang="en-US" dirty="0"/>
              <a:t>The first highlight is the mechanism. The whole v3 design comes down to one number: plus or minus 6.2 degrees of parking margin.</a:t>
            </a:r>
          </a:p>
          <a:p>
            <a:r>
              <a:rPr lang="en-US" dirty="0"/>
              <a:t>Here's why. The carousel has eight open bins in 45-degree steps. There's a single 24-degree opening in the deck above the chute. When the carousel is at rest, the bin that was just emptied sits over that opening, so nothing can fall through. Each compartment spans about 36 degrees at that radius, which leaves 6.2 degrees of margin either side. If it parks further off than that, the opening starts draining the next bin. That's why v3 uses a positional servo instead of a continuous-rotation one.</a:t>
            </a:r>
          </a:p>
          <a:p>
            <a:endParaRPr lang="en-US" dirty="0"/>
          </a:p>
          <a:p>
            <a:r>
              <a:rPr lang="en-US" dirty="0"/>
              <a:t>The torque isn't the problem. The MG90S has roughly six times the torque this needs. The problem is the error budget. So I used a 12-millimeter hex coupling instead of 7 millimeters, which cuts the rotational play from about 6.3 degrees down to 2.58.</a:t>
            </a:r>
          </a:p>
          <a:p>
            <a:r>
              <a:rPr lang="en-US" dirty="0"/>
              <a:t>Assembly tolerances alone can still put the carousel up to 8.6 degrees off center, which is more than the margin. So the firmware has trim and jog commands that shift the stop positions at run time.</a:t>
            </a:r>
          </a:p>
          <a:p>
            <a:endParaRPr lang="en-US" dirty="0"/>
          </a:p>
          <a:p>
            <a:r>
              <a:rPr lang="en-US" dirty="0"/>
              <a:t>My favorite detail: the firmware's geometry constants are generated directly from the CAD parameters file. The mechanical design and the code can't drift apart.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9. Highlight 2: edge vision and firmware (13:30 to 16:00)</a:t>
            </a:r>
          </a:p>
          <a:p>
            <a:endParaRPr lang="en-US" b="1" dirty="0"/>
          </a:p>
          <a:p>
            <a:r>
              <a:rPr lang="en-US" dirty="0"/>
              <a:t>The second highlight is the vision and firmware layer. Vision decides when to dispense and whether it worked.</a:t>
            </a:r>
          </a:p>
          <a:p>
            <a:endParaRPr lang="en-US" dirty="0"/>
          </a:p>
          <a:p>
            <a:r>
              <a:rPr lang="en-US" dirty="0"/>
              <a:t>For the face gate, I use the </a:t>
            </a:r>
            <a:r>
              <a:rPr lang="en-US" dirty="0" err="1"/>
              <a:t>MediaPipe</a:t>
            </a:r>
            <a:r>
              <a:rPr lang="en-US" dirty="0"/>
              <a:t> Tasks face detector with the </a:t>
            </a:r>
            <a:r>
              <a:rPr lang="en-US" dirty="0" err="1"/>
              <a:t>BlazeFace</a:t>
            </a:r>
            <a:r>
              <a:rPr lang="en-US" dirty="0"/>
              <a:t> short-range model bundled into the repo. It starts up on reduced-resolution frames with a short settling phase, so it's fast. </a:t>
            </a:r>
          </a:p>
          <a:p>
            <a:endParaRPr lang="en-US" dirty="0"/>
          </a:p>
          <a:p>
            <a:r>
              <a:rPr lang="en-US" dirty="0"/>
              <a:t>There's also a DirectShow fallback for Windows laptops where the camera won't open the normal way.</a:t>
            </a:r>
          </a:p>
          <a:p>
            <a:r>
              <a:rPr lang="en-US" dirty="0"/>
              <a:t>For pill verification, I use an OpenCV color threshold and contour filter, keeping shapes between 80 and 8,000 pixels in area. It counts new pills against the baseline, so if two pills drop at once, it notices. Every event is recorded as success, retry, or failure.</a:t>
            </a:r>
          </a:p>
          <a:p>
            <a:endParaRPr lang="en-US" dirty="0"/>
          </a:p>
          <a:p>
            <a:r>
              <a:rPr lang="en-US" dirty="0"/>
              <a:t>The firmware is a non-blocking state machine on one servo. When the magazine is empty, it re-zeroes before checking the next turn, which prevents the mechanism from burning through cycles.</a:t>
            </a:r>
          </a:p>
          <a:p>
            <a:endParaRPr lang="en-US" dirty="0"/>
          </a:p>
          <a:p>
            <a:r>
              <a:rPr lang="en-US" dirty="0"/>
              <a:t>To be clear about scope: today the camera confirms that a person is present. It doesn't identify who they are. Patient matching is on the roadmap.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10. Highlight 3: the data pipeline (16:00 to 18:00)</a:t>
            </a:r>
          </a:p>
          <a:p>
            <a:endParaRPr lang="en-US" b="1" dirty="0"/>
          </a:p>
          <a:p>
            <a:r>
              <a:rPr lang="en-US" dirty="0"/>
              <a:t>The third highlight is the data pipeline, a standard medallion architecture.</a:t>
            </a:r>
          </a:p>
          <a:p>
            <a:r>
              <a:rPr lang="en-US" dirty="0"/>
              <a:t>Bronze holds the raw rows, inserted once per dose by the edge device. The same schema works for mock runs, synthetic data, and live hardware.</a:t>
            </a:r>
          </a:p>
          <a:p>
            <a:r>
              <a:rPr lang="en-US" dirty="0"/>
              <a:t>Silver adds three things: whether the dose succeeded, which dose window it belongs to, morning or evening, and the time drift in minutes from the 8 AM or 8 PM schedule.</a:t>
            </a:r>
          </a:p>
          <a:p>
            <a:endParaRPr lang="en-US" dirty="0"/>
          </a:p>
          <a:p>
            <a:r>
              <a:rPr lang="en-US" dirty="0"/>
              <a:t>Gold calculates the adherence rate and a risk flag. The rule is deliberately simple: flag the patient if average drift is 15 minutes or more, or if adherence drops below 85 percent.</a:t>
            </a:r>
          </a:p>
          <a:p>
            <a:endParaRPr lang="en-US" dirty="0"/>
          </a:p>
          <a:p>
            <a:r>
              <a:rPr lang="en-US" dirty="0"/>
              <a:t>The serving tables use a calendar spine, so a day with no doses still shows up as a zero instead of disappearing from the chart.</a:t>
            </a:r>
          </a:p>
          <a:p>
            <a:endParaRPr lang="en-US" dirty="0"/>
          </a:p>
          <a:p>
            <a:r>
              <a:rPr lang="en-US" dirty="0"/>
              <a:t>For the demo, I loaded a 90-day synthetic history from July 1 to September 29: 182 scheduled doses, 172 taken, and 10 missed on August 10 to 14. The missed doses count against adherence in Gold. Later, a machine learning model in </a:t>
            </a:r>
            <a:r>
              <a:rPr lang="en-US" dirty="0" err="1"/>
              <a:t>MLflow</a:t>
            </a:r>
            <a:r>
              <a:rPr lang="en-US" dirty="0"/>
              <a:t> will replace the simple risk rule.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11. Highlight 4: safety findings (18:00 to 20:00)</a:t>
            </a:r>
          </a:p>
          <a:p>
            <a:endParaRPr lang="en-US" b="1" dirty="0"/>
          </a:p>
          <a:p>
            <a:r>
              <a:rPr lang="en-US" dirty="0"/>
              <a:t>The fourth highlight is my favorite, because it's real.</a:t>
            </a:r>
          </a:p>
          <a:p>
            <a:endParaRPr lang="en-US" dirty="0"/>
          </a:p>
          <a:p>
            <a:r>
              <a:rPr lang="en-US" dirty="0"/>
              <a:t>On the evening of September 29, I ran five live dispenses from the actual hardware on my bench, and they went straight into Databricks. I've left them in the dashboard on purpose.</a:t>
            </a:r>
          </a:p>
          <a:p>
            <a:endParaRPr lang="en-US" dirty="0"/>
          </a:p>
          <a:p>
            <a:r>
              <a:rPr lang="en-US" dirty="0"/>
              <a:t>Look at what the telemetry caught. One event detected three pills. One detected zero and was logged as a failure. Four cycles ran within 23 seconds. Across the whole dataset, that's 178 pills detected over 177 events.</a:t>
            </a:r>
          </a:p>
          <a:p>
            <a:endParaRPr lang="en-US" dirty="0"/>
          </a:p>
          <a:p>
            <a:r>
              <a:rPr lang="en-US" dirty="0"/>
              <a:t>That's a multi-pill dispense, which is exactly the kind of safety issue that matters in a medication device. The data caught it the moment it happened.</a:t>
            </a:r>
          </a:p>
          <a:p>
            <a:r>
              <a:rPr lang="en-US" dirty="0"/>
              <a:t>In response, I added the safeguards on the right: exactly one actuation per dispense cycle, count-change verification for the second dose, waiting for the face to leave before the next cycle, and re-zero handling so the magazine doesn't burn through.</a:t>
            </a:r>
          </a:p>
          <a:p>
            <a:endParaRPr lang="en-US" dirty="0"/>
          </a:p>
          <a:p>
            <a:r>
              <a:rPr lang="en-US" dirty="0"/>
              <a:t>So let's look at this data live.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 to 35:00 | 15 min DEMO]
Pre-flight: set CAMERA_INDEX in edge/config.py to the camera you will use (currently 1); have edge/.env loaded with Databricks credentials; open the SQL editor and the published dashboard in separate tabs.
20:00 Mock dispense (2 min): run python pipeline.py --mode mock from edge/. Point out the face gate status, the DISPENSE handshake, and the pill count overlay.
22:00 Bronze (3 min): SELECT * FROM workspace.pill_dispenser.bronze_dispense_events ORDER BY event_ts DESC LIMIT 5. Show the new row. Explain the local JSONL fallback.
25:00 Silver and Gold (3 min): show silver_dispense_events columns is_success, scheduled_window, time_drift_minutes. Then SELECT * FROM gold_adherence_7d: 187 events, 176 successes, 11 missed, 94.12% adherence, 33.77 min drift, high_adherence_risk = true.
28:00 Dashboard (4 min): Weekly Events Trend plots pills detected per week; note the dip to 4 in the week of 10 Aug (10 missed doses) and the week of 28 Sep showing 10 pills across 9 events. Monthly: July 62, August 52, September 63. Events by status: 167 success, 9 retry, 1 failure.
32:00 Two rates (1 min): dashboard success rate is 176 of 177 = 99.44%, a dispense reliability metric. Scheduled adherence for the synthetic patient is 172 of 182 = 94.51%. Explain why both matter.
33:00 Risk flag (2 min): synthetic doses average 5.94 min of drift; the 5 live test rows are scored against the wrong anchor (223 and 1,183 min), lifting the average to 33.77 and triggering the flag. Turn this into a lesson: data quality and anchor logic matter as much as the model.
If anything fails live, switch to slide 13.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13. Demo backup (only if needed)</a:t>
            </a:r>
          </a:p>
          <a:p>
            <a:r>
              <a:rPr lang="en-US" dirty="0"/>
              <a:t>[Use only if the live demo fails.]</a:t>
            </a:r>
          </a:p>
          <a:p>
            <a:r>
              <a:rPr lang="en-US" dirty="0"/>
              <a:t>Here are the same numbers, verified directly against the Databricks tables. The dashboard shows 177 events, 99.44 percent dispense success, 178 pills detected, 33.77 minutes of average drift, 1,246 milliseconds average latency, and 94.12 percent adherence in Gold.</a:t>
            </a:r>
          </a:p>
          <a:p>
            <a:r>
              <a:rPr lang="en-US" dirty="0"/>
              <a:t>If you take out the five live bench events, the synthetic patient is 172 events, 100 percent dispense success, 5.94 minutes of drift, and 94.51 percent scheduled adherence. The difference between those two columns is the data-quality story I just told.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14. Financial impact 1 of 4: the national cost (35:00 to 37:00)</a:t>
            </a:r>
          </a:p>
          <a:p>
            <a:endParaRPr lang="en-US" b="1" dirty="0"/>
          </a:p>
          <a:p>
            <a:r>
              <a:rPr lang="en-US" dirty="0"/>
              <a:t>Let's talk about Financial Impact</a:t>
            </a:r>
          </a:p>
          <a:p>
            <a:endParaRPr lang="en-US" dirty="0"/>
          </a:p>
          <a:p>
            <a:r>
              <a:rPr lang="en-US" dirty="0"/>
              <a:t>According to the CDC, in the United States, non-adherence is a 100 to 300 billion dollar problem , where dose timing is rarely measured. Most of that cost doesn't show up as pharmacy spending. It shows up as avoidable hospital admissions.</a:t>
            </a:r>
          </a:p>
          <a:p>
            <a:endParaRPr lang="en-US" dirty="0"/>
          </a:p>
          <a:p>
            <a:r>
              <a:rPr lang="en-US" dirty="0"/>
              <a:t>For scale: 3.8 billion prescriptions are written in the US every year, and one in five new prescriptions is never even filled. And for older adults with dementia, care is projected to cost 409 billion dollars in 2026. That's a population where managing medication is especially hard.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15. Financial impact 2 of 4: readmission penalties (37:00 to 39:00)</a:t>
            </a:r>
          </a:p>
          <a:p>
            <a:endParaRPr lang="en-US" b="1" dirty="0"/>
          </a:p>
          <a:p>
            <a:r>
              <a:rPr lang="en-US" dirty="0"/>
              <a:t>For hospitals, this is a revenue issue.</a:t>
            </a:r>
          </a:p>
          <a:p>
            <a:endParaRPr lang="en-US" dirty="0"/>
          </a:p>
          <a:p>
            <a:r>
              <a:rPr lang="en-US" dirty="0"/>
              <a:t>Under Medicare's Hospital Readmissions Reduction Program, a hospital with too many readmissions can lose up to 3 percent of all its Medicare fee-for-service base payments, not just the payments for the readmitted patients.</a:t>
            </a:r>
          </a:p>
          <a:p>
            <a:endParaRPr lang="en-US" dirty="0"/>
          </a:p>
          <a:p>
            <a:r>
              <a:rPr lang="en-US" dirty="0"/>
              <a:t>In fiscal year 2026, about 78 percent of hospitals are being penalized. Only 21.8 percent got no penalty at all. 240 hospitals face penalties of 1 percent or more, up from 208 the year before.</a:t>
            </a:r>
          </a:p>
          <a:p>
            <a:endParaRPr lang="en-US" dirty="0"/>
          </a:p>
          <a:p>
            <a:r>
              <a:rPr lang="en-US" dirty="0"/>
              <a:t>And a single 30-day readmission costs about 16,000 dollars on average.</a:t>
            </a:r>
          </a:p>
          <a:p>
            <a:endParaRPr lang="en-US" dirty="0"/>
          </a:p>
          <a:p>
            <a:r>
              <a:rPr lang="en-US" dirty="0"/>
              <a:t>Here's where the product fits. A dispenser that reports missed or late doses after discharge gives the care team a signal inside that 30-day window, while there's still time to act.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16. Financial impact 3 of 4: savings per patient (39:00 to 41:00)</a:t>
            </a:r>
          </a:p>
          <a:p>
            <a:endParaRPr lang="en-US" b="1" dirty="0"/>
          </a:p>
          <a:p>
            <a:r>
              <a:rPr lang="en-US" dirty="0"/>
              <a:t>What's the value of better adherence for one patient?</a:t>
            </a:r>
          </a:p>
          <a:p>
            <a:endParaRPr lang="en-US" dirty="0"/>
          </a:p>
          <a:p>
            <a:r>
              <a:rPr lang="en-US" dirty="0"/>
              <a:t>A large Health Affairs study of more than 135,000 patients found that patients who took their medications as prescribed saved money every year, even after paying for the extra medication. The net savings were 7,823 dollars a year for heart failure, 3,908 for hypertension, 3,756 for diabetes, and 1,258 for high cholesterol. The return was between 3 and 10 dollars for every dollar spent.</a:t>
            </a:r>
          </a:p>
          <a:p>
            <a:endParaRPr lang="en-US" dirty="0"/>
          </a:p>
          <a:p>
            <a:r>
              <a:rPr lang="en-US" dirty="0"/>
              <a:t>Now compare that with the device. It costs 100 to 150 dollars. One avoided readmission, at about 16,000 dollars, is roughly 148 times the cost of the device.</a:t>
            </a:r>
          </a:p>
          <a:p>
            <a:r>
              <a:rPr lang="en-US" dirty="0"/>
              <a:t>To be clear, that's illustrative math, not a measured result. This prototype hasn't been tested with patients yet. But it shows why the unit economics are worth pursuing.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17. Financial impact 4 of 4: dementia and staying at home (41:00 to 43:30)</a:t>
            </a:r>
          </a:p>
          <a:p>
            <a:r>
              <a:rPr lang="en-US" dirty="0"/>
              <a:t>The last point is the one I care about most: independence.</a:t>
            </a:r>
          </a:p>
          <a:p>
            <a:r>
              <a:rPr lang="en-US" dirty="0"/>
              <a:t>An estimated 7.4 million Americans aged 65 and older live with Alzheimer's dementia. And 75 percent of adults over 50 say they want to stay in their own homes for life.</a:t>
            </a:r>
          </a:p>
          <a:p>
            <a:endParaRPr lang="en-US" dirty="0"/>
          </a:p>
          <a:p>
            <a:r>
              <a:rPr lang="en-US" dirty="0"/>
              <a:t>Medication is often what breaks that. According to AHRQ, about three million older adults are admitted to nursing homes because of drug-related problems, at a cost of more than 14 billion dollars a year.</a:t>
            </a:r>
          </a:p>
          <a:p>
            <a:endParaRPr lang="en-US" dirty="0"/>
          </a:p>
          <a:p>
            <a:r>
              <a:rPr lang="en-US" dirty="0"/>
              <a:t>Look at the costs on the left. A private nursing home room costs a median of about 129,600 dollars a year. A semi-private room is about 115,000. Assisted living is about 74,400. The dispenser is a one-time cost of around 100 dollars.</a:t>
            </a:r>
          </a:p>
          <a:p>
            <a:endParaRPr lang="en-US" dirty="0"/>
          </a:p>
          <a:p>
            <a:r>
              <a:rPr lang="en-US" dirty="0"/>
              <a:t>There's encouraging evidence too. In a three-month study of 18 people with mild dementia, 11 of them were taking none of their medication independently before using a reminder device. At three months, 9 of the 18 were taking 100 percent of their doses on their own.</a:t>
            </a:r>
          </a:p>
          <a:p>
            <a:endParaRPr lang="en-US" dirty="0"/>
          </a:p>
          <a:p>
            <a:r>
              <a:rPr lang="en-US" dirty="0"/>
              <a:t>That's the human outcome. The patient keeps taking their own medication, and the caregiver gets data instead of daily check-in calls. Every year someone with mild dementia can safely stay at home avoids up to about 129,600 dollars in nursing home costs.</a:t>
            </a:r>
          </a:p>
          <a:p>
            <a:endParaRPr lang="en-US" dirty="0"/>
          </a:p>
          <a:p>
            <a:r>
              <a:rPr lang="en-US" dirty="0"/>
              <a:t>Currently, the prototype hasn't been studied with people who have dementia. This is the target use case, not a proven result.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18. Roadmap and Q&amp;A (43:30 to 45:00)</a:t>
            </a:r>
          </a:p>
          <a:p>
            <a:r>
              <a:rPr lang="en-US" dirty="0"/>
              <a:t>So what's next?</a:t>
            </a:r>
          </a:p>
          <a:p>
            <a:r>
              <a:rPr lang="en-US" dirty="0"/>
              <a:t>On safety, I'll validate one actuation per cycle and face-departure gating on the v3 hardware. On data quality, I'll separate bench test rows from patient rows and fix the drift calculation for doses after midnight UTC. On prediction, an </a:t>
            </a:r>
            <a:r>
              <a:rPr lang="en-US" dirty="0" err="1"/>
              <a:t>MLflow</a:t>
            </a:r>
            <a:r>
              <a:rPr lang="en-US" dirty="0"/>
              <a:t> adherence-risk model will replace the simple rule. On identity, I'll move from detecting that someone is present to matching the right patient, and add pill color and size checks. And for validation, I'll bench-test the v3 drivetrain and then run a supervised pilot with caregivers.</a:t>
            </a:r>
          </a:p>
          <a:p>
            <a:r>
              <a:rPr lang="en-US" dirty="0"/>
              <a:t>To sum up: the system works end to end, the data has already caught a real safety issue, and the roadmap is specific.</a:t>
            </a:r>
          </a:p>
          <a:p>
            <a:r>
              <a:rPr lang="en-US" dirty="0"/>
              <a:t>The code is all on GitHub at </a:t>
            </a:r>
            <a:r>
              <a:rPr lang="en-US" dirty="0" err="1"/>
              <a:t>arewa</a:t>
            </a:r>
            <a:r>
              <a:rPr lang="en-US" dirty="0"/>
              <a:t>-builds, under </a:t>
            </a:r>
            <a:r>
              <a:rPr lang="en-US" dirty="0" err="1"/>
              <a:t>AutomatedPillDispenser</a:t>
            </a:r>
            <a:r>
              <a:rPr lang="en-US" dirty="0"/>
              <a:t>. Thank you. I'm happy to take your questions about the data pipeline, the vision thresholds, the mechanism, or the cost model.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 not part of the timed 45 minutes. Every title is a clickable link to the source.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rewa-builds/AutomatedPillDispense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arewa-builds"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cdc.gov/mmwr/volumes/66/wr/mm6645a2.htm"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pmc.ncbi.nlm.nih.gov/articles/PMC10372970/"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arewa-builds/AutomatedPillDispenser"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arewa-builds/AutomatedPillDispenser"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https://github.com/arewa-builds/AutomatedPillDispenser/tree/main/firmware" TargetMode="External"/><Relationship Id="rId4" Type="http://schemas.openxmlformats.org/officeDocument/2006/relationships/hyperlink" Target="https://github.com/arewa-builds/AutomatedPillDispenser/tree/main/cad/v3"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arewa-builds/AutomatedPillDispenser/pull/5"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github.com/arewa-builds/AutomatedPillDispenser/pull/15" TargetMode="External"/><Relationship Id="rId5" Type="http://schemas.openxmlformats.org/officeDocument/2006/relationships/hyperlink" Target="https://github.com/arewa-builds/AutomatedPillDispenser/pull/14" TargetMode="External"/><Relationship Id="rId4" Type="http://schemas.openxmlformats.org/officeDocument/2006/relationships/hyperlink" Target="https://github.com/arewa-builds/AutomatedPillDispenser/pull/9"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arewa-builds/AutomatedPillDispenser/pull/20"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github.com/arewa-builds/AutomatedPillDispenser/blob/main/databricks/sql/bronze_dispense_month.sql"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dbc-841e48ce-abec.cloud.databricks.com/dashboardsv3/01f1bc66f608184bb87e728ccb7f308e/published?o=7474657233579766"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github.com/arewa-builds/AutomatedPillDispenser"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dbc-841e48ce-abec.cloud.databricks.com/dashboardsv3/01f1bc66f608184bb87e728ccb7f308e/published?o=7474657233579766"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github.com/arewa-builds/AutomatedPillDispenser"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https://github.com/arewa-builds/AutomatedPillDispenser/pull/20" TargetMode="External"/><Relationship Id="rId4" Type="http://schemas.openxmlformats.org/officeDocument/2006/relationships/hyperlink" Target="https://dbc-841e48ce-abec.cloud.databricks.com/dashboardsv3/01f1bc66f608184bb87e728ccb7f308e/published?o=7474657233579766"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cdc.gov/mmwr/volumes/66/wr/mm6645a2.htm"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hyperlink" Target="https://pmc.ncbi.nlm.nih.gov/articles/PMC13098189/" TargetMode="External"/><Relationship Id="rId4" Type="http://schemas.openxmlformats.org/officeDocument/2006/relationships/hyperlink" Target="https://pmc.ncbi.nlm.nih.gov/articles/PMC3934668/"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cms.gov/medicare/payment/prospective-payment-systems/acute-inpatient-pps/hospital-readmissions-reduction-program-hrrp"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pmc.ncbi.nlm.nih.gov/articles/PMC11011876/" TargetMode="External"/><Relationship Id="rId5" Type="http://schemas.openxmlformats.org/officeDocument/2006/relationships/hyperlink" Target="https://www.beckershospitalreview.com/finance/cms-more-hospitals-to-face-higher-readmission-penalties-in-2026/" TargetMode="External"/><Relationship Id="rId4" Type="http://schemas.openxmlformats.org/officeDocument/2006/relationships/hyperlink" Target="https://www.cms.gov/Medicare/Medicare-Fee-for-Service-Payment/AcuteInpatientPPS/Downloads/HRRP_StratMethod_ImpctFile_UG.PDF" TargetMode="Externa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github.com/arewa-builds/AutomatedPillDispenser" TargetMode="External"/><Relationship Id="rId5" Type="http://schemas.openxmlformats.org/officeDocument/2006/relationships/hyperlink" Target="https://pmc.ncbi.nlm.nih.gov/articles/PMC11011876/" TargetMode="External"/><Relationship Id="rId4" Type="http://schemas.openxmlformats.org/officeDocument/2006/relationships/hyperlink" Target="https://vbidcenter.org/wp-content/uploads/2014/11/Medication-Adherence-Leads-To-Lower-Health-Care-Use-And-Costs-Despite-Increased-Drug-Spending_Health-Affairs_JAN_2011.pdf"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alz.org/help-support/caregiving/financial-legal-planning/planning-for-care-costs" TargetMode="External"/><Relationship Id="rId7" Type="http://schemas.openxmlformats.org/officeDocument/2006/relationships/hyperlink" Target="https://pmc.ncbi.nlm.nih.gov/articles/PMC10697399/"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www.ncbi.nlm.nih.gov/books/NBK2670/" TargetMode="External"/><Relationship Id="rId5" Type="http://schemas.openxmlformats.org/officeDocument/2006/relationships/hyperlink" Target="https://www.aarp.org/pri/topics/livable-communities/aarp-research-insights-livable-communities/" TargetMode="External"/><Relationship Id="rId4" Type="http://schemas.openxmlformats.org/officeDocument/2006/relationships/hyperlink" Target="https://pmc.ncbi.nlm.nih.gov/articles/PMC13098189/"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arewa-builds/AutomatedPillDispenser"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hyperlink" Target="https://www.cms.gov/Medicare/Medicare-Fee-for-Service-Payment/AcuteInpatientPPS/Downloads/HRRP_StratMethod_ImpctFile_UG.PDF" TargetMode="External"/><Relationship Id="rId13" Type="http://schemas.openxmlformats.org/officeDocument/2006/relationships/hyperlink" Target="https://www.aarp.org/pri/topics/livable-communities/aarp-research-insights-livable-communities/" TargetMode="External"/><Relationship Id="rId18" Type="http://schemas.openxmlformats.org/officeDocument/2006/relationships/hyperlink" Target="https://github.com/arewa-builds/AutomatedPillDispenser/tree/main/firmware" TargetMode="External"/><Relationship Id="rId3" Type="http://schemas.openxmlformats.org/officeDocument/2006/relationships/hyperlink" Target="https://www.cdc.gov/mmwr/volumes/66/wr/mm6645a2.htm" TargetMode="External"/><Relationship Id="rId21" Type="http://schemas.openxmlformats.org/officeDocument/2006/relationships/hyperlink" Target="https://github.com/arewa-builds/AutomatedPillDispenser/blob/main/databricks/sql/bronze_dispense_month.sql" TargetMode="External"/><Relationship Id="rId7" Type="http://schemas.openxmlformats.org/officeDocument/2006/relationships/hyperlink" Target="https://www.cms.gov/medicare/payment/prospective-payment-systems/acute-inpatient-pps/hospital-readmissions-reduction-program-hrrp" TargetMode="External"/><Relationship Id="rId12" Type="http://schemas.openxmlformats.org/officeDocument/2006/relationships/hyperlink" Target="https://www.alz.org/help-support/caregiving/financial-legal-planning/planning-for-care-costs" TargetMode="External"/><Relationship Id="rId17" Type="http://schemas.openxmlformats.org/officeDocument/2006/relationships/hyperlink" Target="https://github.com/arewa-builds/AutomatedPillDispenser/tree/main/cad/v3" TargetMode="External"/><Relationship Id="rId2" Type="http://schemas.openxmlformats.org/officeDocument/2006/relationships/notesSlide" Target="../notesSlides/notesSlide19.xml"/><Relationship Id="rId16" Type="http://schemas.openxmlformats.org/officeDocument/2006/relationships/hyperlink" Target="https://github.com/arewa-builds/AutomatedPillDispenser" TargetMode="External"/><Relationship Id="rId20" Type="http://schemas.openxmlformats.org/officeDocument/2006/relationships/hyperlink" Target="https://github.com/arewa-builds/AutomatedPillDispenser/pull/20" TargetMode="External"/><Relationship Id="rId1" Type="http://schemas.openxmlformats.org/officeDocument/2006/relationships/slideLayout" Target="../slideLayouts/slideLayout1.xml"/><Relationship Id="rId6" Type="http://schemas.openxmlformats.org/officeDocument/2006/relationships/hyperlink" Target="https://vbidcenter.org/wp-content/uploads/2014/11/Medication-Adherence-Leads-To-Lower-Health-Care-Use-And-Costs-Despite-Increased-Drug-Spending_Health-Affairs_JAN_2011.pdf" TargetMode="External"/><Relationship Id="rId11" Type="http://schemas.openxmlformats.org/officeDocument/2006/relationships/hyperlink" Target="https://pmc.ncbi.nlm.nih.gov/articles/PMC13098189/" TargetMode="External"/><Relationship Id="rId5" Type="http://schemas.openxmlformats.org/officeDocument/2006/relationships/hyperlink" Target="https://pmc.ncbi.nlm.nih.gov/articles/PMC3934668/" TargetMode="External"/><Relationship Id="rId15" Type="http://schemas.openxmlformats.org/officeDocument/2006/relationships/hyperlink" Target="https://pmc.ncbi.nlm.nih.gov/articles/PMC10697399/" TargetMode="External"/><Relationship Id="rId10" Type="http://schemas.openxmlformats.org/officeDocument/2006/relationships/hyperlink" Target="https://pmc.ncbi.nlm.nih.gov/articles/PMC11011876/" TargetMode="External"/><Relationship Id="rId19" Type="http://schemas.openxmlformats.org/officeDocument/2006/relationships/hyperlink" Target="https://github.com/arewa-builds/AutomatedPillDispenser/pulls?q=is%3Apr" TargetMode="External"/><Relationship Id="rId4" Type="http://schemas.openxmlformats.org/officeDocument/2006/relationships/hyperlink" Target="https://pmc.ncbi.nlm.nih.gov/articles/PMC10372970/" TargetMode="External"/><Relationship Id="rId9" Type="http://schemas.openxmlformats.org/officeDocument/2006/relationships/hyperlink" Target="https://www.beckershospitalreview.com/finance/cms-more-hospitals-to-face-higher-readmission-penalties-in-2026/" TargetMode="External"/><Relationship Id="rId14" Type="http://schemas.openxmlformats.org/officeDocument/2006/relationships/hyperlink" Target="https://www.ncbi.nlm.nih.gov/books/NBK2670/" TargetMode="External"/><Relationship Id="rId22" Type="http://schemas.openxmlformats.org/officeDocument/2006/relationships/hyperlink" Target="https://dbc-841e48ce-abec.cloud.databricks.com/dashboardsv3/01f1bc66f608184bb87e728ccb7f308e/published?o=7474657233579766"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B2D"/>
        </a:solidFill>
        <a:effectLst/>
      </p:bgPr>
    </p:bg>
    <p:spTree>
      <p:nvGrpSpPr>
        <p:cNvPr id="1" name=""/>
        <p:cNvGrpSpPr/>
        <p:nvPr/>
      </p:nvGrpSpPr>
      <p:grpSpPr>
        <a:xfrm>
          <a:off x="0" y="0"/>
          <a:ext cx="0" cy="0"/>
          <a:chOff x="0" y="0"/>
          <a:chExt cx="0" cy="0"/>
        </a:xfrm>
      </p:grpSpPr>
      <p:sp>
        <p:nvSpPr>
          <p:cNvPr id="2" name="Text 0"/>
          <p:cNvSpPr/>
          <p:nvPr/>
        </p:nvSpPr>
        <p:spPr>
          <a:xfrm>
            <a:off x="548640" y="640080"/>
            <a:ext cx="8046720" cy="274320"/>
          </a:xfrm>
          <a:prstGeom prst="rect">
            <a:avLst/>
          </a:prstGeom>
          <a:noFill/>
          <a:ln/>
        </p:spPr>
        <p:txBody>
          <a:bodyPr wrap="square" lIns="0" tIns="0" rIns="0" bIns="0" rtlCol="0" anchor="ctr"/>
          <a:lstStyle/>
          <a:p>
            <a:pPr marL="0" indent="0">
              <a:buNone/>
            </a:pPr>
            <a:r>
              <a:rPr lang="en-US" sz="1200" b="1" kern="0" spc="200" dirty="0">
                <a:solidFill>
                  <a:srgbClr val="A9B8B7"/>
                </a:solidFill>
                <a:latin typeface="Calibri" pitchFamily="34" charset="0"/>
                <a:ea typeface="Calibri" pitchFamily="34" charset="-122"/>
                <a:cs typeface="Calibri" pitchFamily="34" charset="-120"/>
              </a:rPr>
              <a:t>MEDTECH PROTOTYPE  |  APPLIED AI  |  DATA ENGINEERING</a:t>
            </a:r>
            <a:endParaRPr lang="en-US" sz="1200" dirty="0"/>
          </a:p>
        </p:txBody>
      </p:sp>
      <p:sp>
        <p:nvSpPr>
          <p:cNvPr id="3" name="Text 1"/>
          <p:cNvSpPr/>
          <p:nvPr/>
        </p:nvSpPr>
        <p:spPr>
          <a:xfrm>
            <a:off x="548640" y="1143000"/>
            <a:ext cx="8046720" cy="822960"/>
          </a:xfrm>
          <a:prstGeom prst="rect">
            <a:avLst/>
          </a:prstGeom>
          <a:noFill/>
          <a:ln/>
        </p:spPr>
        <p:txBody>
          <a:bodyPr wrap="square" lIns="0" tIns="0" rIns="0" bIns="0"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Automated Pill Dispenser</a:t>
            </a:r>
            <a:endParaRPr lang="en-US" sz="4400" dirty="0"/>
          </a:p>
        </p:txBody>
      </p:sp>
      <p:sp>
        <p:nvSpPr>
          <p:cNvPr id="4" name="Text 2"/>
          <p:cNvSpPr/>
          <p:nvPr/>
        </p:nvSpPr>
        <p:spPr>
          <a:xfrm>
            <a:off x="548640" y="2011680"/>
            <a:ext cx="7498080" cy="822960"/>
          </a:xfrm>
          <a:prstGeom prst="rect">
            <a:avLst/>
          </a:prstGeom>
          <a:noFill/>
          <a:ln/>
        </p:spPr>
        <p:txBody>
          <a:bodyPr wrap="square" lIns="0" tIns="0" rIns="0" bIns="0" rtlCol="0" anchor="t"/>
          <a:lstStyle/>
          <a:p>
            <a:pPr marL="0" indent="0">
              <a:buNone/>
            </a:pPr>
            <a:r>
              <a:rPr lang="en-US" sz="2000" dirty="0">
                <a:solidFill>
                  <a:srgbClr val="EEF1EF"/>
                </a:solidFill>
                <a:latin typeface="Calibri" pitchFamily="34" charset="0"/>
                <a:ea typeface="Calibri" pitchFamily="34" charset="-122"/>
                <a:cs typeface="Calibri" pitchFamily="34" charset="-120"/>
              </a:rPr>
              <a:t>Dispense, verify, and measure every dose: a $100 to $150 station that closes the medication adherence loop</a:t>
            </a:r>
            <a:endParaRPr lang="en-US" sz="2000" dirty="0"/>
          </a:p>
        </p:txBody>
      </p:sp>
      <p:sp>
        <p:nvSpPr>
          <p:cNvPr id="5" name="Text 3"/>
          <p:cNvSpPr/>
          <p:nvPr/>
        </p:nvSpPr>
        <p:spPr>
          <a:xfrm>
            <a:off x="548640" y="3291840"/>
            <a:ext cx="8046720" cy="640080"/>
          </a:xfrm>
          <a:prstGeom prst="rect">
            <a:avLst/>
          </a:prstGeom>
          <a:noFill/>
          <a:ln/>
        </p:spPr>
        <p:txBody>
          <a:bodyPr wrap="square" lIns="0" tIns="0" rIns="0" bIns="0" rtlCol="0" anchor="ctr"/>
          <a:lstStyle/>
          <a:p>
            <a:pPr marL="0" indent="0">
              <a:spcAft>
                <a:spcPts val="400"/>
              </a:spcAft>
              <a:buNone/>
            </a:pPr>
            <a:r>
              <a:rPr lang="en-US" sz="1400" dirty="0">
                <a:solidFill>
                  <a:srgbClr val="A9B8B7"/>
                </a:solidFill>
                <a:latin typeface="Calibri" pitchFamily="34" charset="0"/>
                <a:ea typeface="Calibri" pitchFamily="34" charset="-122"/>
                <a:cs typeface="Calibri" pitchFamily="34" charset="-120"/>
              </a:rPr>
              <a:t>3D-printed carousel  +  edge computer vision  +  Databricks analytics</a:t>
            </a:r>
            <a:endParaRPr lang="en-US" sz="1400" dirty="0"/>
          </a:p>
          <a:p>
            <a:pPr marL="0" indent="0">
              <a:spcAft>
                <a:spcPts val="400"/>
              </a:spcAft>
              <a:buNone/>
            </a:pPr>
            <a:r>
              <a:rPr lang="en-US" sz="1400" dirty="0">
                <a:solidFill>
                  <a:srgbClr val="A9B8B7"/>
                </a:solidFill>
                <a:latin typeface="Calibri" pitchFamily="34" charset="0"/>
                <a:ea typeface="Calibri" pitchFamily="34" charset="-122"/>
                <a:cs typeface="Calibri" pitchFamily="34" charset="-120"/>
              </a:rPr>
              <a:t>45-minute session, including a 15-minute live demo</a:t>
            </a:r>
            <a:endParaRPr lang="en-US" sz="1400" dirty="0"/>
          </a:p>
        </p:txBody>
      </p:sp>
      <p:sp>
        <p:nvSpPr>
          <p:cNvPr id="6" name="Text 4"/>
          <p:cNvSpPr/>
          <p:nvPr/>
        </p:nvSpPr>
        <p:spPr>
          <a:xfrm>
            <a:off x="548640" y="4343400"/>
            <a:ext cx="8046720" cy="274320"/>
          </a:xfrm>
          <a:prstGeom prst="rect">
            <a:avLst/>
          </a:prstGeom>
          <a:noFill/>
          <a:ln/>
        </p:spPr>
        <p:txBody>
          <a:bodyPr wrap="square" lIns="0" tIns="0" rIns="0" bIns="0" rtlCol="0" anchor="ctr"/>
          <a:lstStyle/>
          <a:p>
            <a:pPr marL="0" indent="0">
              <a:buNone/>
            </a:pPr>
            <a:r>
              <a:rPr lang="en-US" sz="1200" u="sng" dirty="0">
                <a:solidFill>
                  <a:srgbClr val="7FC4C9"/>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github.com/arewa-builds/AutomatedPillDispenser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ABOUT ME</a:t>
            </a:r>
            <a:endParaRPr lang="en-US" sz="1100" dirty="0"/>
          </a:p>
        </p:txBody>
      </p:sp>
      <p:sp>
        <p:nvSpPr>
          <p:cNvPr id="3" name="Text 1"/>
          <p:cNvSpPr/>
          <p:nvPr/>
        </p:nvSpPr>
        <p:spPr>
          <a:xfrm>
            <a:off x="2330909" y="854163"/>
            <a:ext cx="6773694"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Arewa Ojelade: AI Robotics Engineer</a:t>
            </a:r>
            <a:endParaRPr lang="en-US" sz="2400" dirty="0"/>
          </a:p>
        </p:txBody>
      </p:sp>
      <p:sp>
        <p:nvSpPr>
          <p:cNvPr id="4" name="Shape 2"/>
          <p:cNvSpPr/>
          <p:nvPr/>
        </p:nvSpPr>
        <p:spPr>
          <a:xfrm>
            <a:off x="457200" y="1326205"/>
            <a:ext cx="3931920" cy="3200400"/>
          </a:xfrm>
          <a:prstGeom prst="roundRect">
            <a:avLst>
              <a:gd name="adj" fmla="val 2286"/>
            </a:avLst>
          </a:prstGeom>
          <a:solidFill>
            <a:srgbClr val="FFFFFF"/>
          </a:solidFill>
          <a:ln w="9525">
            <a:solidFill>
              <a:srgbClr val="D4D1CA"/>
            </a:solidFill>
            <a:prstDash val="solid"/>
          </a:ln>
        </p:spPr>
        <p:txBody>
          <a:bodyPr/>
          <a:lstStyle/>
          <a:p>
            <a:endParaRPr lang="en-US"/>
          </a:p>
        </p:txBody>
      </p:sp>
      <p:sp>
        <p:nvSpPr>
          <p:cNvPr id="5" name="Text 3"/>
          <p:cNvSpPr/>
          <p:nvPr/>
        </p:nvSpPr>
        <p:spPr>
          <a:xfrm>
            <a:off x="640080" y="2706267"/>
            <a:ext cx="3566160" cy="320040"/>
          </a:xfrm>
          <a:prstGeom prst="rect">
            <a:avLst/>
          </a:prstGeom>
          <a:noFill/>
          <a:ln/>
        </p:spPr>
        <p:txBody>
          <a:bodyPr wrap="square" lIns="0" tIns="0" rIns="0" bIns="0" rtlCol="0" anchor="ctr"/>
          <a:lstStyle/>
          <a:p>
            <a:pPr marL="0" indent="0">
              <a:buNone/>
            </a:pPr>
            <a:r>
              <a:rPr lang="en-US" sz="1500" b="1" dirty="0">
                <a:solidFill>
                  <a:srgbClr val="01696F"/>
                </a:solidFill>
                <a:latin typeface="Trebuchet MS" pitchFamily="34" charset="0"/>
                <a:ea typeface="Trebuchet MS" pitchFamily="34" charset="-122"/>
                <a:cs typeface="Trebuchet MS" pitchFamily="34" charset="-120"/>
              </a:rPr>
              <a:t>Background</a:t>
            </a:r>
            <a:endParaRPr lang="en-US" sz="1500" dirty="0"/>
          </a:p>
        </p:txBody>
      </p:sp>
      <p:sp>
        <p:nvSpPr>
          <p:cNvPr id="6" name="Text 4"/>
          <p:cNvSpPr/>
          <p:nvPr/>
        </p:nvSpPr>
        <p:spPr>
          <a:xfrm>
            <a:off x="640079" y="3067455"/>
            <a:ext cx="3696997" cy="1321989"/>
          </a:xfrm>
          <a:prstGeom prst="rect">
            <a:avLst/>
          </a:prstGeom>
          <a:noFill/>
          <a:ln/>
        </p:spPr>
        <p:txBody>
          <a:bodyPr wrap="square" lIns="0" tIns="0" rIns="0" bIns="0" rtlCol="0" anchor="t"/>
          <a:lstStyle/>
          <a:p>
            <a:pPr marL="0" indent="0">
              <a:spcAft>
                <a:spcPts val="400"/>
              </a:spcAft>
              <a:buNone/>
            </a:pPr>
            <a:r>
              <a:rPr lang="en-US" sz="1250" b="1" dirty="0">
                <a:solidFill>
                  <a:srgbClr val="28251D"/>
                </a:solidFill>
                <a:latin typeface="Calibri" pitchFamily="34" charset="0"/>
                <a:ea typeface="Calibri" pitchFamily="34" charset="-122"/>
                <a:cs typeface="Calibri" pitchFamily="34" charset="-120"/>
              </a:rPr>
              <a:t>AI and Robotics Engineer</a:t>
            </a:r>
            <a:r>
              <a:rPr lang="en-US" sz="1250" b="1" dirty="0"/>
              <a:t> </a:t>
            </a:r>
            <a:r>
              <a:rPr lang="en-US" sz="1250" dirty="0">
                <a:solidFill>
                  <a:srgbClr val="5F5E59"/>
                </a:solidFill>
                <a:latin typeface="Calibri" pitchFamily="34" charset="0"/>
                <a:ea typeface="Calibri" pitchFamily="34" charset="-122"/>
                <a:cs typeface="Calibri" pitchFamily="34" charset="-120"/>
              </a:rPr>
              <a:t>Pharmaceutical Manufacturing </a:t>
            </a:r>
          </a:p>
          <a:p>
            <a:pPr marL="0" indent="0">
              <a:spcAft>
                <a:spcPts val="400"/>
              </a:spcAft>
              <a:buNone/>
            </a:pPr>
            <a:r>
              <a:rPr lang="en-US" sz="1250" dirty="0">
                <a:solidFill>
                  <a:srgbClr val="5F5E59"/>
                </a:solidFill>
                <a:latin typeface="Calibri" pitchFamily="34" charset="0"/>
                <a:ea typeface="Calibri" pitchFamily="34" charset="-122"/>
                <a:cs typeface="Calibri" pitchFamily="34" charset="-120"/>
              </a:rPr>
              <a:t>monitoring, calibration automation, anomaly detection </a:t>
            </a:r>
          </a:p>
          <a:p>
            <a:pPr marL="0" indent="0">
              <a:spcAft>
                <a:spcPts val="400"/>
              </a:spcAft>
              <a:buNone/>
            </a:pPr>
            <a:endParaRPr lang="en-US" sz="1250" dirty="0"/>
          </a:p>
          <a:p>
            <a:pPr marL="0" indent="0">
              <a:spcAft>
                <a:spcPts val="400"/>
              </a:spcAft>
              <a:buNone/>
            </a:pPr>
            <a:r>
              <a:rPr lang="en-US" sz="1250" b="1" dirty="0">
                <a:solidFill>
                  <a:srgbClr val="28251D"/>
                </a:solidFill>
                <a:latin typeface="Calibri" pitchFamily="34" charset="0"/>
                <a:ea typeface="Calibri" pitchFamily="34" charset="-122"/>
                <a:cs typeface="Calibri" pitchFamily="34" charset="-120"/>
              </a:rPr>
              <a:t>University of Maryland Global Campus</a:t>
            </a:r>
            <a:endParaRPr lang="en-US" sz="1250" dirty="0"/>
          </a:p>
          <a:p>
            <a:pPr marL="0" indent="0">
              <a:spcAft>
                <a:spcPts val="400"/>
              </a:spcAft>
              <a:buNone/>
            </a:pPr>
            <a:r>
              <a:rPr lang="en-US" sz="1250" dirty="0">
                <a:solidFill>
                  <a:srgbClr val="5F5E59"/>
                </a:solidFill>
                <a:latin typeface="Calibri" pitchFamily="34" charset="0"/>
                <a:ea typeface="Calibri" pitchFamily="34" charset="-122"/>
                <a:cs typeface="Calibri" pitchFamily="34" charset="-120"/>
              </a:rPr>
              <a:t>B.S. Computer Science; MBA, Data Science concentration</a:t>
            </a:r>
            <a:endParaRPr lang="en-US" sz="1250" dirty="0"/>
          </a:p>
        </p:txBody>
      </p:sp>
      <p:sp>
        <p:nvSpPr>
          <p:cNvPr id="7" name="Shape 5"/>
          <p:cNvSpPr/>
          <p:nvPr/>
        </p:nvSpPr>
        <p:spPr>
          <a:xfrm>
            <a:off x="4754880" y="1371600"/>
            <a:ext cx="3931920" cy="1965960"/>
          </a:xfrm>
          <a:prstGeom prst="roundRect">
            <a:avLst>
              <a:gd name="adj" fmla="val 3721"/>
            </a:avLst>
          </a:prstGeom>
          <a:solidFill>
            <a:srgbClr val="E3EEEE"/>
          </a:solidFill>
          <a:ln w="9525">
            <a:solidFill>
              <a:srgbClr val="D4D1CA"/>
            </a:solidFill>
            <a:prstDash val="solid"/>
          </a:ln>
        </p:spPr>
        <p:txBody>
          <a:bodyPr/>
          <a:lstStyle/>
          <a:p>
            <a:endParaRPr lang="en-US"/>
          </a:p>
        </p:txBody>
      </p:sp>
      <p:sp>
        <p:nvSpPr>
          <p:cNvPr id="8" name="Text 6"/>
          <p:cNvSpPr/>
          <p:nvPr/>
        </p:nvSpPr>
        <p:spPr>
          <a:xfrm>
            <a:off x="4937760" y="1508760"/>
            <a:ext cx="3566160" cy="320040"/>
          </a:xfrm>
          <a:prstGeom prst="rect">
            <a:avLst/>
          </a:prstGeom>
          <a:noFill/>
          <a:ln/>
        </p:spPr>
        <p:txBody>
          <a:bodyPr wrap="square" lIns="0" tIns="0" rIns="0" bIns="0" rtlCol="0" anchor="ctr"/>
          <a:lstStyle/>
          <a:p>
            <a:pPr marL="0" indent="0">
              <a:buNone/>
            </a:pPr>
            <a:r>
              <a:rPr lang="en-US" sz="1500" b="1" dirty="0">
                <a:solidFill>
                  <a:srgbClr val="01696F"/>
                </a:solidFill>
                <a:latin typeface="Trebuchet MS" pitchFamily="34" charset="0"/>
                <a:ea typeface="Trebuchet MS" pitchFamily="34" charset="-122"/>
                <a:cs typeface="Trebuchet MS" pitchFamily="34" charset="-120"/>
              </a:rPr>
              <a:t>Related builds</a:t>
            </a:r>
            <a:endParaRPr lang="en-US" sz="1500" dirty="0"/>
          </a:p>
        </p:txBody>
      </p:sp>
      <p:sp>
        <p:nvSpPr>
          <p:cNvPr id="9" name="Text 7"/>
          <p:cNvSpPr/>
          <p:nvPr/>
        </p:nvSpPr>
        <p:spPr>
          <a:xfrm>
            <a:off x="4937760" y="1874520"/>
            <a:ext cx="3611880" cy="14173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8251D"/>
                </a:solidFill>
                <a:latin typeface="Calibri" pitchFamily="34" charset="0"/>
                <a:ea typeface="Calibri" pitchFamily="34" charset="-122"/>
                <a:cs typeface="Calibri" pitchFamily="34" charset="-120"/>
              </a:rPr>
              <a:t>Patient Readmissions: 30-day readmission risk model with Tableau</a:t>
            </a:r>
            <a:endParaRPr lang="en-US" sz="1200" dirty="0"/>
          </a:p>
          <a:p>
            <a:pPr marL="342900" indent="-342900">
              <a:spcAft>
                <a:spcPts val="400"/>
              </a:spcAft>
              <a:buSzPct val="100000"/>
              <a:buChar char="•"/>
            </a:pPr>
            <a:r>
              <a:rPr lang="en-US" sz="1200" dirty="0">
                <a:solidFill>
                  <a:srgbClr val="28251D"/>
                </a:solidFill>
                <a:latin typeface="Calibri" pitchFamily="34" charset="0"/>
                <a:ea typeface="Calibri" pitchFamily="34" charset="-122"/>
                <a:cs typeface="Calibri" pitchFamily="34" charset="-120"/>
              </a:rPr>
              <a:t>PharmaVerse: synthetic pharma line clearance in Isaac Sim</a:t>
            </a:r>
            <a:endParaRPr lang="en-US" sz="1200" dirty="0"/>
          </a:p>
          <a:p>
            <a:pPr marL="342900" indent="-342900">
              <a:spcAft>
                <a:spcPts val="400"/>
              </a:spcAft>
              <a:buSzPct val="100000"/>
              <a:buChar char="•"/>
            </a:pPr>
            <a:r>
              <a:rPr lang="en-US" sz="1200" dirty="0">
                <a:solidFill>
                  <a:srgbClr val="28251D"/>
                </a:solidFill>
                <a:latin typeface="Calibri" pitchFamily="34" charset="0"/>
                <a:ea typeface="Calibri" pitchFamily="34" charset="-122"/>
                <a:cs typeface="Calibri" pitchFamily="34" charset="-120"/>
              </a:rPr>
              <a:t>SurgicalVision: CPU-only surgical simulation coaching</a:t>
            </a:r>
            <a:endParaRPr lang="en-US" sz="1200" dirty="0"/>
          </a:p>
        </p:txBody>
      </p:sp>
      <p:sp>
        <p:nvSpPr>
          <p:cNvPr id="10" name="Shape 8"/>
          <p:cNvSpPr/>
          <p:nvPr/>
        </p:nvSpPr>
        <p:spPr>
          <a:xfrm>
            <a:off x="4754880" y="3474720"/>
            <a:ext cx="3931920" cy="1097280"/>
          </a:xfrm>
          <a:prstGeom prst="roundRect">
            <a:avLst>
              <a:gd name="adj" fmla="val 6667"/>
            </a:avLst>
          </a:prstGeom>
          <a:solidFill>
            <a:srgbClr val="FFFFFF"/>
          </a:solidFill>
          <a:ln w="9525">
            <a:solidFill>
              <a:srgbClr val="D4D1CA"/>
            </a:solidFill>
            <a:prstDash val="solid"/>
          </a:ln>
        </p:spPr>
        <p:txBody>
          <a:bodyPr/>
          <a:lstStyle/>
          <a:p>
            <a:endParaRPr lang="en-US"/>
          </a:p>
        </p:txBody>
      </p:sp>
      <p:sp>
        <p:nvSpPr>
          <p:cNvPr id="11" name="Text 9"/>
          <p:cNvSpPr/>
          <p:nvPr/>
        </p:nvSpPr>
        <p:spPr>
          <a:xfrm>
            <a:off x="4937760" y="3566160"/>
            <a:ext cx="3566160" cy="274320"/>
          </a:xfrm>
          <a:prstGeom prst="rect">
            <a:avLst/>
          </a:prstGeom>
          <a:noFill/>
          <a:ln/>
        </p:spPr>
        <p:txBody>
          <a:bodyPr wrap="square" lIns="0" tIns="0" rIns="0" bIns="0" rtlCol="0" anchor="ctr"/>
          <a:lstStyle/>
          <a:p>
            <a:pPr marL="0" indent="0">
              <a:buNone/>
            </a:pPr>
            <a:r>
              <a:rPr lang="en-US" sz="1300" b="1" dirty="0">
                <a:solidFill>
                  <a:srgbClr val="01696F"/>
                </a:solidFill>
                <a:latin typeface="Trebuchet MS" pitchFamily="34" charset="0"/>
                <a:ea typeface="Trebuchet MS" pitchFamily="34" charset="-122"/>
                <a:cs typeface="Trebuchet MS" pitchFamily="34" charset="-120"/>
              </a:rPr>
              <a:t>Toolkit</a:t>
            </a:r>
            <a:endParaRPr lang="en-US" sz="1300" dirty="0"/>
          </a:p>
        </p:txBody>
      </p:sp>
      <p:sp>
        <p:nvSpPr>
          <p:cNvPr id="12" name="Text 10"/>
          <p:cNvSpPr/>
          <p:nvPr/>
        </p:nvSpPr>
        <p:spPr>
          <a:xfrm>
            <a:off x="4937760" y="3840480"/>
            <a:ext cx="3611880" cy="685800"/>
          </a:xfrm>
          <a:prstGeom prst="rect">
            <a:avLst/>
          </a:prstGeom>
          <a:noFill/>
          <a:ln/>
        </p:spPr>
        <p:txBody>
          <a:bodyPr wrap="square" lIns="0" tIns="0" rIns="0" bIns="0" rtlCol="0" anchor="t"/>
          <a:lstStyle/>
          <a:p>
            <a:pPr marL="0" indent="0">
              <a:buNone/>
            </a:pPr>
            <a:r>
              <a:rPr lang="en-US" sz="1150" dirty="0">
                <a:solidFill>
                  <a:srgbClr val="28251D"/>
                </a:solidFill>
                <a:latin typeface="Calibri" pitchFamily="34" charset="0"/>
                <a:ea typeface="Calibri" pitchFamily="34" charset="-122"/>
                <a:cs typeface="Calibri" pitchFamily="34" charset="-120"/>
              </a:rPr>
              <a:t>Python, FastAPI, LangChain, LangGraph, ONNX Runtime, OpenCV, MediaPipe, Databricks, Arduino, OpenSCAD</a:t>
            </a:r>
            <a:endParaRPr lang="en-US" sz="1150" dirty="0"/>
          </a:p>
        </p:txBody>
      </p:sp>
      <p:sp>
        <p:nvSpPr>
          <p:cNvPr id="13" name="Text 11"/>
          <p:cNvSpPr/>
          <p:nvPr/>
        </p:nvSpPr>
        <p:spPr>
          <a:xfrm>
            <a:off x="6339760" y="1535570"/>
            <a:ext cx="2164160" cy="312141"/>
          </a:xfrm>
          <a:prstGeom prst="rect">
            <a:avLst/>
          </a:prstGeom>
          <a:noFill/>
          <a:ln/>
        </p:spPr>
        <p:txBody>
          <a:bodyPr wrap="square" lIns="0" tIns="0" rIns="0" bIns="0" rtlCol="0" anchor="ctr"/>
          <a:lstStyle/>
          <a:p>
            <a:pPr marL="0" indent="0">
              <a:buNone/>
            </a:pPr>
            <a:r>
              <a:rPr lang="en-US" sz="1200" dirty="0">
                <a:solidFill>
                  <a:srgbClr val="5F5E59"/>
                </a:solidFill>
                <a:latin typeface="Calibri" pitchFamily="34" charset="0"/>
                <a:ea typeface="Calibri" pitchFamily="34" charset="-122"/>
                <a:cs typeface="Calibri" pitchFamily="34" charset="-120"/>
              </a:rPr>
              <a:t>GitHub: </a:t>
            </a:r>
            <a:r>
              <a:rPr lang="en-US" sz="1200" u="sng" dirty="0">
                <a:solidFill>
                  <a:srgbClr val="01696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github.com/arewa-builds</a:t>
            </a:r>
            <a:endParaRPr lang="en-US" sz="1200" dirty="0"/>
          </a:p>
        </p:txBody>
      </p:sp>
      <p:pic>
        <p:nvPicPr>
          <p:cNvPr id="15" name="Picture 14" descr="The image features a person with long, curly hair, wearing a vibrant, patterned red and black outfit.&#10;&#10;AI-generated content may be incorrect.">
            <a:extLst>
              <a:ext uri="{FF2B5EF4-FFF2-40B4-BE49-F238E27FC236}">
                <a16:creationId xmlns:a16="http://schemas.microsoft.com/office/drawing/2014/main" id="{873A845B-1ADE-A40B-A23D-FD4925A871BE}"/>
              </a:ext>
            </a:extLst>
          </p:cNvPr>
          <p:cNvPicPr>
            <a:picLocks noChangeAspect="1"/>
          </p:cNvPicPr>
          <p:nvPr/>
        </p:nvPicPr>
        <p:blipFill>
          <a:blip r:embed="rId4"/>
          <a:stretch>
            <a:fillRect/>
          </a:stretch>
        </p:blipFill>
        <p:spPr>
          <a:xfrm>
            <a:off x="254055" y="484957"/>
            <a:ext cx="1908729" cy="2023794"/>
          </a:xfrm>
          <a:prstGeom prst="flowChartConnector">
            <a:avLst/>
          </a:prstGeom>
        </p:spPr>
      </p:pic>
      <p:pic>
        <p:nvPicPr>
          <p:cNvPr id="17" name="Picture 16" descr="Al Automation | Robotics | Computer Vision | Data Science | Project Mana.&#10;&#10;AI-generated content may be incorrect.">
            <a:extLst>
              <a:ext uri="{FF2B5EF4-FFF2-40B4-BE49-F238E27FC236}">
                <a16:creationId xmlns:a16="http://schemas.microsoft.com/office/drawing/2014/main" id="{A3A94A7D-93F2-FC54-E57C-42388D39A924}"/>
              </a:ext>
            </a:extLst>
          </p:cNvPr>
          <p:cNvPicPr>
            <a:picLocks noChangeAspect="1"/>
          </p:cNvPicPr>
          <p:nvPr/>
        </p:nvPicPr>
        <p:blipFill>
          <a:blip r:embed="rId5"/>
          <a:srcRect t="24537" b="7935"/>
          <a:stretch>
            <a:fillRect/>
          </a:stretch>
        </p:blipFill>
        <p:spPr>
          <a:xfrm>
            <a:off x="2365929" y="1461840"/>
            <a:ext cx="1309850" cy="97539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Where the next 45 minutes go</a:t>
            </a:r>
            <a:endParaRPr lang="en-US" sz="2400" dirty="0"/>
          </a:p>
        </p:txBody>
      </p:sp>
      <p:sp>
        <p:nvSpPr>
          <p:cNvPr id="4" name="Shape 2"/>
          <p:cNvSpPr/>
          <p:nvPr/>
        </p:nvSpPr>
        <p:spPr>
          <a:xfrm>
            <a:off x="457200" y="1325880"/>
            <a:ext cx="8229600" cy="457200"/>
          </a:xfrm>
          <a:prstGeom prst="roundRect">
            <a:avLst>
              <a:gd name="adj" fmla="val 16000"/>
            </a:avLst>
          </a:prstGeom>
          <a:solidFill>
            <a:srgbClr val="FFFFFF"/>
          </a:solidFill>
          <a:ln w="9525">
            <a:solidFill>
              <a:srgbClr val="D4D1CA"/>
            </a:solidFill>
            <a:prstDash val="solid"/>
          </a:ln>
        </p:spPr>
        <p:txBody>
          <a:bodyPr/>
          <a:lstStyle/>
          <a:p>
            <a:endParaRPr lang="en-US"/>
          </a:p>
        </p:txBody>
      </p:sp>
      <p:sp>
        <p:nvSpPr>
          <p:cNvPr id="5" name="Text 3"/>
          <p:cNvSpPr/>
          <p:nvPr/>
        </p:nvSpPr>
        <p:spPr>
          <a:xfrm>
            <a:off x="640080" y="1325880"/>
            <a:ext cx="1371600" cy="457200"/>
          </a:xfrm>
          <a:prstGeom prst="rect">
            <a:avLst/>
          </a:prstGeom>
          <a:noFill/>
          <a:ln/>
        </p:spPr>
        <p:txBody>
          <a:bodyPr wrap="square" lIns="0" tIns="0" rIns="0" bIns="0" rtlCol="0" anchor="ctr"/>
          <a:lstStyle/>
          <a:p>
            <a:pPr marL="0" indent="0">
              <a:buNone/>
            </a:pPr>
            <a:r>
              <a:rPr lang="en-US" sz="1300" b="1" dirty="0">
                <a:solidFill>
                  <a:srgbClr val="01696F"/>
                </a:solidFill>
                <a:latin typeface="Calibri" pitchFamily="34" charset="0"/>
                <a:ea typeface="Calibri" pitchFamily="34" charset="-122"/>
                <a:cs typeface="Calibri" pitchFamily="34" charset="-120"/>
              </a:rPr>
              <a:t>0 to 7 min</a:t>
            </a:r>
            <a:endParaRPr lang="en-US" sz="1300" dirty="0"/>
          </a:p>
        </p:txBody>
      </p:sp>
      <p:sp>
        <p:nvSpPr>
          <p:cNvPr id="6" name="Text 4"/>
          <p:cNvSpPr/>
          <p:nvPr/>
        </p:nvSpPr>
        <p:spPr>
          <a:xfrm>
            <a:off x="2057400" y="1325880"/>
            <a:ext cx="1920240" cy="45720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Intro and problem</a:t>
            </a:r>
            <a:endParaRPr lang="en-US" sz="1400" dirty="0"/>
          </a:p>
        </p:txBody>
      </p:sp>
      <p:sp>
        <p:nvSpPr>
          <p:cNvPr id="7" name="Text 5"/>
          <p:cNvSpPr/>
          <p:nvPr/>
        </p:nvSpPr>
        <p:spPr>
          <a:xfrm>
            <a:off x="4023360" y="1325880"/>
            <a:ext cx="4572000" cy="457200"/>
          </a:xfrm>
          <a:prstGeom prst="rect">
            <a:avLst/>
          </a:prstGeom>
          <a:noFill/>
          <a:ln/>
        </p:spPr>
        <p:txBody>
          <a:bodyPr wrap="square" lIns="0" tIns="0" rIns="0" bIns="0" rtlCol="0" anchor="ctr"/>
          <a:lstStyle/>
          <a:p>
            <a:pPr marL="0" indent="0">
              <a:buNone/>
            </a:pPr>
            <a:r>
              <a:rPr lang="en-US" sz="1300" dirty="0">
                <a:solidFill>
                  <a:srgbClr val="5F5E59"/>
                </a:solidFill>
                <a:latin typeface="Calibri" pitchFamily="34" charset="0"/>
                <a:ea typeface="Calibri" pitchFamily="34" charset="-122"/>
                <a:cs typeface="Calibri" pitchFamily="34" charset="-120"/>
              </a:rPr>
              <a:t>Why non-adherence is a clinical problem as much as a data one</a:t>
            </a:r>
            <a:endParaRPr lang="en-US" sz="1300" dirty="0"/>
          </a:p>
        </p:txBody>
      </p:sp>
      <p:sp>
        <p:nvSpPr>
          <p:cNvPr id="8" name="Shape 6"/>
          <p:cNvSpPr/>
          <p:nvPr/>
        </p:nvSpPr>
        <p:spPr>
          <a:xfrm>
            <a:off x="457200" y="1874520"/>
            <a:ext cx="8229600" cy="457200"/>
          </a:xfrm>
          <a:prstGeom prst="roundRect">
            <a:avLst>
              <a:gd name="adj" fmla="val 16000"/>
            </a:avLst>
          </a:prstGeom>
          <a:solidFill>
            <a:srgbClr val="FFFFFF"/>
          </a:solidFill>
          <a:ln w="9525">
            <a:solidFill>
              <a:srgbClr val="D4D1CA"/>
            </a:solidFill>
            <a:prstDash val="solid"/>
          </a:ln>
        </p:spPr>
        <p:txBody>
          <a:bodyPr/>
          <a:lstStyle/>
          <a:p>
            <a:endParaRPr lang="en-US"/>
          </a:p>
        </p:txBody>
      </p:sp>
      <p:sp>
        <p:nvSpPr>
          <p:cNvPr id="9" name="Text 7"/>
          <p:cNvSpPr/>
          <p:nvPr/>
        </p:nvSpPr>
        <p:spPr>
          <a:xfrm>
            <a:off x="640080" y="1874520"/>
            <a:ext cx="1371600" cy="457200"/>
          </a:xfrm>
          <a:prstGeom prst="rect">
            <a:avLst/>
          </a:prstGeom>
          <a:noFill/>
          <a:ln/>
        </p:spPr>
        <p:txBody>
          <a:bodyPr wrap="square" lIns="0" tIns="0" rIns="0" bIns="0" rtlCol="0" anchor="ctr"/>
          <a:lstStyle/>
          <a:p>
            <a:pPr marL="0" indent="0">
              <a:buNone/>
            </a:pPr>
            <a:r>
              <a:rPr lang="en-US" sz="1300" b="1" dirty="0">
                <a:solidFill>
                  <a:srgbClr val="01696F"/>
                </a:solidFill>
                <a:latin typeface="Calibri" pitchFamily="34" charset="0"/>
                <a:ea typeface="Calibri" pitchFamily="34" charset="-122"/>
                <a:cs typeface="Calibri" pitchFamily="34" charset="-120"/>
              </a:rPr>
              <a:t>7 to 11 min</a:t>
            </a:r>
            <a:endParaRPr lang="en-US" sz="1300" dirty="0"/>
          </a:p>
        </p:txBody>
      </p:sp>
      <p:sp>
        <p:nvSpPr>
          <p:cNvPr id="10" name="Text 8"/>
          <p:cNvSpPr/>
          <p:nvPr/>
        </p:nvSpPr>
        <p:spPr>
          <a:xfrm>
            <a:off x="2057400" y="1874520"/>
            <a:ext cx="1920240" cy="45720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System design</a:t>
            </a:r>
            <a:endParaRPr lang="en-US" sz="1400" dirty="0"/>
          </a:p>
        </p:txBody>
      </p:sp>
      <p:sp>
        <p:nvSpPr>
          <p:cNvPr id="11" name="Text 9"/>
          <p:cNvSpPr/>
          <p:nvPr/>
        </p:nvSpPr>
        <p:spPr>
          <a:xfrm>
            <a:off x="4023360" y="1874520"/>
            <a:ext cx="4572000" cy="457200"/>
          </a:xfrm>
          <a:prstGeom prst="rect">
            <a:avLst/>
          </a:prstGeom>
          <a:noFill/>
          <a:ln/>
        </p:spPr>
        <p:txBody>
          <a:bodyPr wrap="square" lIns="0" tIns="0" rIns="0" bIns="0" rtlCol="0" anchor="ctr"/>
          <a:lstStyle/>
          <a:p>
            <a:pPr marL="0" indent="0">
              <a:buNone/>
            </a:pPr>
            <a:r>
              <a:rPr lang="en-US" sz="1300" dirty="0">
                <a:solidFill>
                  <a:srgbClr val="5F5E59"/>
                </a:solidFill>
                <a:latin typeface="Calibri" pitchFamily="34" charset="0"/>
                <a:ea typeface="Calibri" pitchFamily="34" charset="-122"/>
                <a:cs typeface="Calibri" pitchFamily="34" charset="-120"/>
              </a:rPr>
              <a:t>Four layers, one closed loop from servo to dashboard</a:t>
            </a:r>
            <a:endParaRPr lang="en-US" sz="1300" dirty="0"/>
          </a:p>
        </p:txBody>
      </p:sp>
      <p:sp>
        <p:nvSpPr>
          <p:cNvPr id="12" name="Shape 10"/>
          <p:cNvSpPr/>
          <p:nvPr/>
        </p:nvSpPr>
        <p:spPr>
          <a:xfrm>
            <a:off x="457200" y="2423160"/>
            <a:ext cx="8229600" cy="457200"/>
          </a:xfrm>
          <a:prstGeom prst="roundRect">
            <a:avLst>
              <a:gd name="adj" fmla="val 16000"/>
            </a:avLst>
          </a:prstGeom>
          <a:solidFill>
            <a:srgbClr val="FFFFFF"/>
          </a:solidFill>
          <a:ln w="9525">
            <a:solidFill>
              <a:srgbClr val="D4D1CA"/>
            </a:solidFill>
            <a:prstDash val="solid"/>
          </a:ln>
        </p:spPr>
        <p:txBody>
          <a:bodyPr/>
          <a:lstStyle/>
          <a:p>
            <a:endParaRPr lang="en-US"/>
          </a:p>
        </p:txBody>
      </p:sp>
      <p:sp>
        <p:nvSpPr>
          <p:cNvPr id="13" name="Text 11"/>
          <p:cNvSpPr/>
          <p:nvPr/>
        </p:nvSpPr>
        <p:spPr>
          <a:xfrm>
            <a:off x="640080" y="2423160"/>
            <a:ext cx="1371600" cy="457200"/>
          </a:xfrm>
          <a:prstGeom prst="rect">
            <a:avLst/>
          </a:prstGeom>
          <a:noFill/>
          <a:ln/>
        </p:spPr>
        <p:txBody>
          <a:bodyPr wrap="square" lIns="0" tIns="0" rIns="0" bIns="0" rtlCol="0" anchor="ctr"/>
          <a:lstStyle/>
          <a:p>
            <a:pPr marL="0" indent="0">
              <a:buNone/>
            </a:pPr>
            <a:r>
              <a:rPr lang="en-US" sz="1300" b="1" dirty="0">
                <a:solidFill>
                  <a:srgbClr val="01696F"/>
                </a:solidFill>
                <a:latin typeface="Calibri" pitchFamily="34" charset="0"/>
                <a:ea typeface="Calibri" pitchFamily="34" charset="-122"/>
                <a:cs typeface="Calibri" pitchFamily="34" charset="-120"/>
              </a:rPr>
              <a:t>11 to 20 min</a:t>
            </a:r>
            <a:endParaRPr lang="en-US" sz="1300" dirty="0"/>
          </a:p>
        </p:txBody>
      </p:sp>
      <p:sp>
        <p:nvSpPr>
          <p:cNvPr id="14" name="Text 12"/>
          <p:cNvSpPr/>
          <p:nvPr/>
        </p:nvSpPr>
        <p:spPr>
          <a:xfrm>
            <a:off x="2057400" y="2423160"/>
            <a:ext cx="1920240" cy="45720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Build highlights</a:t>
            </a:r>
            <a:endParaRPr lang="en-US" sz="1400" dirty="0"/>
          </a:p>
        </p:txBody>
      </p:sp>
      <p:sp>
        <p:nvSpPr>
          <p:cNvPr id="15" name="Text 13"/>
          <p:cNvSpPr/>
          <p:nvPr/>
        </p:nvSpPr>
        <p:spPr>
          <a:xfrm>
            <a:off x="4023360" y="2423160"/>
            <a:ext cx="4572000" cy="457200"/>
          </a:xfrm>
          <a:prstGeom prst="rect">
            <a:avLst/>
          </a:prstGeom>
          <a:noFill/>
          <a:ln/>
        </p:spPr>
        <p:txBody>
          <a:bodyPr wrap="square" lIns="0" tIns="0" rIns="0" bIns="0" rtlCol="0" anchor="ctr"/>
          <a:lstStyle/>
          <a:p>
            <a:pPr marL="0" indent="0">
              <a:buNone/>
            </a:pPr>
            <a:r>
              <a:rPr lang="en-US" sz="1300" dirty="0">
                <a:solidFill>
                  <a:srgbClr val="5F5E59"/>
                </a:solidFill>
                <a:latin typeface="Calibri" pitchFamily="34" charset="0"/>
                <a:ea typeface="Calibri" pitchFamily="34" charset="-122"/>
                <a:cs typeface="Calibri" pitchFamily="34" charset="-120"/>
              </a:rPr>
              <a:t>Mechanism, vision, data pipeline, and safety findings</a:t>
            </a:r>
            <a:endParaRPr lang="en-US" sz="1300" dirty="0"/>
          </a:p>
        </p:txBody>
      </p:sp>
      <p:sp>
        <p:nvSpPr>
          <p:cNvPr id="16" name="Shape 14"/>
          <p:cNvSpPr/>
          <p:nvPr/>
        </p:nvSpPr>
        <p:spPr>
          <a:xfrm>
            <a:off x="457200" y="2971800"/>
            <a:ext cx="8229600" cy="457200"/>
          </a:xfrm>
          <a:prstGeom prst="roundRect">
            <a:avLst>
              <a:gd name="adj" fmla="val 16000"/>
            </a:avLst>
          </a:prstGeom>
          <a:solidFill>
            <a:srgbClr val="E3EEEE"/>
          </a:solidFill>
          <a:ln w="9525">
            <a:solidFill>
              <a:srgbClr val="D4D1CA"/>
            </a:solidFill>
            <a:prstDash val="solid"/>
          </a:ln>
        </p:spPr>
        <p:txBody>
          <a:bodyPr/>
          <a:lstStyle/>
          <a:p>
            <a:endParaRPr lang="en-US"/>
          </a:p>
        </p:txBody>
      </p:sp>
      <p:sp>
        <p:nvSpPr>
          <p:cNvPr id="17" name="Text 15"/>
          <p:cNvSpPr/>
          <p:nvPr/>
        </p:nvSpPr>
        <p:spPr>
          <a:xfrm>
            <a:off x="640080" y="2971800"/>
            <a:ext cx="1371600" cy="457200"/>
          </a:xfrm>
          <a:prstGeom prst="rect">
            <a:avLst/>
          </a:prstGeom>
          <a:noFill/>
          <a:ln/>
        </p:spPr>
        <p:txBody>
          <a:bodyPr wrap="square" lIns="0" tIns="0" rIns="0" bIns="0" rtlCol="0" anchor="ctr"/>
          <a:lstStyle/>
          <a:p>
            <a:pPr marL="0" indent="0">
              <a:buNone/>
            </a:pPr>
            <a:r>
              <a:rPr lang="en-US" sz="1300" b="1" dirty="0">
                <a:solidFill>
                  <a:srgbClr val="01696F"/>
                </a:solidFill>
                <a:latin typeface="Calibri" pitchFamily="34" charset="0"/>
                <a:ea typeface="Calibri" pitchFamily="34" charset="-122"/>
                <a:cs typeface="Calibri" pitchFamily="34" charset="-120"/>
              </a:rPr>
              <a:t>20 to 35 min</a:t>
            </a:r>
            <a:endParaRPr lang="en-US" sz="1300" dirty="0"/>
          </a:p>
        </p:txBody>
      </p:sp>
      <p:sp>
        <p:nvSpPr>
          <p:cNvPr id="18" name="Text 16"/>
          <p:cNvSpPr/>
          <p:nvPr/>
        </p:nvSpPr>
        <p:spPr>
          <a:xfrm>
            <a:off x="2057400" y="2971800"/>
            <a:ext cx="1920240" cy="45720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Live demo</a:t>
            </a:r>
            <a:endParaRPr lang="en-US" sz="1400" dirty="0"/>
          </a:p>
        </p:txBody>
      </p:sp>
      <p:sp>
        <p:nvSpPr>
          <p:cNvPr id="19" name="Text 17"/>
          <p:cNvSpPr/>
          <p:nvPr/>
        </p:nvSpPr>
        <p:spPr>
          <a:xfrm>
            <a:off x="4023360" y="2971800"/>
            <a:ext cx="4572000" cy="457200"/>
          </a:xfrm>
          <a:prstGeom prst="rect">
            <a:avLst/>
          </a:prstGeom>
          <a:noFill/>
          <a:ln/>
        </p:spPr>
        <p:txBody>
          <a:bodyPr wrap="square" lIns="0" tIns="0" rIns="0" bIns="0" rtlCol="0" anchor="ctr"/>
          <a:lstStyle/>
          <a:p>
            <a:pPr marL="0" indent="0">
              <a:buNone/>
            </a:pPr>
            <a:r>
              <a:rPr lang="en-US" sz="1300" dirty="0">
                <a:solidFill>
                  <a:srgbClr val="5F5E59"/>
                </a:solidFill>
                <a:latin typeface="Calibri" pitchFamily="34" charset="0"/>
                <a:ea typeface="Calibri" pitchFamily="34" charset="-122"/>
                <a:cs typeface="Calibri" pitchFamily="34" charset="-120"/>
              </a:rPr>
              <a:t>Device mock run, Bronze to Gold tables, dashboard walkthrough</a:t>
            </a:r>
            <a:endParaRPr lang="en-US" sz="1300" dirty="0"/>
          </a:p>
        </p:txBody>
      </p:sp>
      <p:sp>
        <p:nvSpPr>
          <p:cNvPr id="20" name="Shape 18"/>
          <p:cNvSpPr/>
          <p:nvPr/>
        </p:nvSpPr>
        <p:spPr>
          <a:xfrm>
            <a:off x="457200" y="3520440"/>
            <a:ext cx="8229600" cy="457200"/>
          </a:xfrm>
          <a:prstGeom prst="roundRect">
            <a:avLst>
              <a:gd name="adj" fmla="val 16000"/>
            </a:avLst>
          </a:prstGeom>
          <a:solidFill>
            <a:srgbClr val="FFFFFF"/>
          </a:solidFill>
          <a:ln w="9525">
            <a:solidFill>
              <a:srgbClr val="D4D1CA"/>
            </a:solidFill>
            <a:prstDash val="solid"/>
          </a:ln>
        </p:spPr>
        <p:txBody>
          <a:bodyPr/>
          <a:lstStyle/>
          <a:p>
            <a:endParaRPr lang="en-US"/>
          </a:p>
        </p:txBody>
      </p:sp>
      <p:sp>
        <p:nvSpPr>
          <p:cNvPr id="21" name="Text 19"/>
          <p:cNvSpPr/>
          <p:nvPr/>
        </p:nvSpPr>
        <p:spPr>
          <a:xfrm>
            <a:off x="640080" y="3520440"/>
            <a:ext cx="1371600" cy="457200"/>
          </a:xfrm>
          <a:prstGeom prst="rect">
            <a:avLst/>
          </a:prstGeom>
          <a:noFill/>
          <a:ln/>
        </p:spPr>
        <p:txBody>
          <a:bodyPr wrap="square" lIns="0" tIns="0" rIns="0" bIns="0" rtlCol="0" anchor="ctr"/>
          <a:lstStyle/>
          <a:p>
            <a:pPr marL="0" indent="0">
              <a:buNone/>
            </a:pPr>
            <a:r>
              <a:rPr lang="en-US" sz="1300" b="1" dirty="0">
                <a:solidFill>
                  <a:srgbClr val="01696F"/>
                </a:solidFill>
                <a:latin typeface="Calibri" pitchFamily="34" charset="0"/>
                <a:ea typeface="Calibri" pitchFamily="34" charset="-122"/>
                <a:cs typeface="Calibri" pitchFamily="34" charset="-120"/>
              </a:rPr>
              <a:t>35 to 43 min</a:t>
            </a:r>
            <a:endParaRPr lang="en-US" sz="1300" dirty="0"/>
          </a:p>
        </p:txBody>
      </p:sp>
      <p:sp>
        <p:nvSpPr>
          <p:cNvPr id="22" name="Text 20"/>
          <p:cNvSpPr/>
          <p:nvPr/>
        </p:nvSpPr>
        <p:spPr>
          <a:xfrm>
            <a:off x="2057400" y="3520440"/>
            <a:ext cx="1920240" cy="45720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Financial impact</a:t>
            </a:r>
            <a:endParaRPr lang="en-US" sz="1400" dirty="0"/>
          </a:p>
        </p:txBody>
      </p:sp>
      <p:sp>
        <p:nvSpPr>
          <p:cNvPr id="23" name="Text 21"/>
          <p:cNvSpPr/>
          <p:nvPr/>
        </p:nvSpPr>
        <p:spPr>
          <a:xfrm>
            <a:off x="4023360" y="3520440"/>
            <a:ext cx="4572000" cy="457200"/>
          </a:xfrm>
          <a:prstGeom prst="rect">
            <a:avLst/>
          </a:prstGeom>
          <a:noFill/>
          <a:ln/>
        </p:spPr>
        <p:txBody>
          <a:bodyPr wrap="square" lIns="0" tIns="0" rIns="0" bIns="0" rtlCol="0" anchor="ctr"/>
          <a:lstStyle/>
          <a:p>
            <a:pPr marL="0" indent="0">
              <a:buNone/>
            </a:pPr>
            <a:r>
              <a:rPr lang="en-US" sz="1300" dirty="0">
                <a:solidFill>
                  <a:srgbClr val="5F5E59"/>
                </a:solidFill>
                <a:latin typeface="Calibri" pitchFamily="34" charset="0"/>
                <a:ea typeface="Calibri" pitchFamily="34" charset="-122"/>
                <a:cs typeface="Calibri" pitchFamily="34" charset="-120"/>
              </a:rPr>
              <a:t>Non-adherence cost, readmission penalties, savings, dementia care</a:t>
            </a:r>
            <a:endParaRPr lang="en-US" sz="1300" dirty="0"/>
          </a:p>
        </p:txBody>
      </p:sp>
      <p:sp>
        <p:nvSpPr>
          <p:cNvPr id="24" name="Shape 22"/>
          <p:cNvSpPr/>
          <p:nvPr/>
        </p:nvSpPr>
        <p:spPr>
          <a:xfrm>
            <a:off x="457200" y="4069080"/>
            <a:ext cx="8229600" cy="457200"/>
          </a:xfrm>
          <a:prstGeom prst="roundRect">
            <a:avLst>
              <a:gd name="adj" fmla="val 16000"/>
            </a:avLst>
          </a:prstGeom>
          <a:solidFill>
            <a:srgbClr val="FFFFFF"/>
          </a:solidFill>
          <a:ln w="9525">
            <a:solidFill>
              <a:srgbClr val="D4D1CA"/>
            </a:solidFill>
            <a:prstDash val="solid"/>
          </a:ln>
        </p:spPr>
        <p:txBody>
          <a:bodyPr/>
          <a:lstStyle/>
          <a:p>
            <a:endParaRPr lang="en-US"/>
          </a:p>
        </p:txBody>
      </p:sp>
      <p:sp>
        <p:nvSpPr>
          <p:cNvPr id="25" name="Text 23"/>
          <p:cNvSpPr/>
          <p:nvPr/>
        </p:nvSpPr>
        <p:spPr>
          <a:xfrm>
            <a:off x="640080" y="4069080"/>
            <a:ext cx="1371600" cy="457200"/>
          </a:xfrm>
          <a:prstGeom prst="rect">
            <a:avLst/>
          </a:prstGeom>
          <a:noFill/>
          <a:ln/>
        </p:spPr>
        <p:txBody>
          <a:bodyPr wrap="square" lIns="0" tIns="0" rIns="0" bIns="0" rtlCol="0" anchor="ctr"/>
          <a:lstStyle/>
          <a:p>
            <a:pPr marL="0" indent="0">
              <a:buNone/>
            </a:pPr>
            <a:r>
              <a:rPr lang="en-US" sz="1300" b="1" dirty="0">
                <a:solidFill>
                  <a:srgbClr val="01696F"/>
                </a:solidFill>
                <a:latin typeface="Calibri" pitchFamily="34" charset="0"/>
                <a:ea typeface="Calibri" pitchFamily="34" charset="-122"/>
                <a:cs typeface="Calibri" pitchFamily="34" charset="-120"/>
              </a:rPr>
              <a:t>43 to 45 min</a:t>
            </a:r>
            <a:endParaRPr lang="en-US" sz="1300" dirty="0"/>
          </a:p>
        </p:txBody>
      </p:sp>
      <p:sp>
        <p:nvSpPr>
          <p:cNvPr id="26" name="Text 24"/>
          <p:cNvSpPr/>
          <p:nvPr/>
        </p:nvSpPr>
        <p:spPr>
          <a:xfrm>
            <a:off x="2057400" y="4069080"/>
            <a:ext cx="1920240" cy="45720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Roadmap and Q&amp;A</a:t>
            </a:r>
            <a:endParaRPr lang="en-US" sz="1400" dirty="0"/>
          </a:p>
        </p:txBody>
      </p:sp>
      <p:sp>
        <p:nvSpPr>
          <p:cNvPr id="27" name="Text 25"/>
          <p:cNvSpPr/>
          <p:nvPr/>
        </p:nvSpPr>
        <p:spPr>
          <a:xfrm>
            <a:off x="4023360" y="4069080"/>
            <a:ext cx="4572000" cy="457200"/>
          </a:xfrm>
          <a:prstGeom prst="rect">
            <a:avLst/>
          </a:prstGeom>
          <a:noFill/>
          <a:ln/>
        </p:spPr>
        <p:txBody>
          <a:bodyPr wrap="square" lIns="0" tIns="0" rIns="0" bIns="0" rtlCol="0" anchor="ctr"/>
          <a:lstStyle/>
          <a:p>
            <a:pPr marL="0" indent="0">
              <a:buNone/>
            </a:pPr>
            <a:r>
              <a:rPr lang="en-US" sz="1300" dirty="0">
                <a:solidFill>
                  <a:srgbClr val="5F5E59"/>
                </a:solidFill>
                <a:latin typeface="Calibri" pitchFamily="34" charset="0"/>
                <a:ea typeface="Calibri" pitchFamily="34" charset="-122"/>
                <a:cs typeface="Calibri" pitchFamily="34" charset="-120"/>
              </a:rPr>
              <a:t>What ships next and what still needs validation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Half of filled prescriptions are taken incorrectly, and the cost lands on hospitals</a:t>
            </a:r>
            <a:endParaRPr lang="en-US" sz="2400" dirty="0"/>
          </a:p>
        </p:txBody>
      </p:sp>
      <p:sp>
        <p:nvSpPr>
          <p:cNvPr id="4" name="Shape 2"/>
          <p:cNvSpPr/>
          <p:nvPr/>
        </p:nvSpPr>
        <p:spPr>
          <a:xfrm>
            <a:off x="457200" y="1463040"/>
            <a:ext cx="1920240" cy="2011680"/>
          </a:xfrm>
          <a:prstGeom prst="roundRect">
            <a:avLst>
              <a:gd name="adj" fmla="val 3810"/>
            </a:avLst>
          </a:prstGeom>
          <a:solidFill>
            <a:srgbClr val="FFFFFF"/>
          </a:solidFill>
          <a:ln w="9525">
            <a:solidFill>
              <a:srgbClr val="D4D1CA"/>
            </a:solidFill>
            <a:prstDash val="solid"/>
          </a:ln>
        </p:spPr>
        <p:txBody>
          <a:bodyPr/>
          <a:lstStyle/>
          <a:p>
            <a:endParaRPr lang="en-US"/>
          </a:p>
        </p:txBody>
      </p:sp>
      <p:sp>
        <p:nvSpPr>
          <p:cNvPr id="5" name="Text 3"/>
          <p:cNvSpPr/>
          <p:nvPr/>
        </p:nvSpPr>
        <p:spPr>
          <a:xfrm>
            <a:off x="621792" y="1645920"/>
            <a:ext cx="1645920" cy="640080"/>
          </a:xfrm>
          <a:prstGeom prst="rect">
            <a:avLst/>
          </a:prstGeom>
          <a:noFill/>
          <a:ln/>
        </p:spPr>
        <p:txBody>
          <a:bodyPr wrap="square" lIns="0" tIns="0" rIns="0" bIns="0" rtlCol="0" anchor="ctr">
            <a:normAutofit/>
          </a:bodyPr>
          <a:lstStyle/>
          <a:p>
            <a:pPr marL="0" indent="0">
              <a:buNone/>
            </a:pPr>
            <a:r>
              <a:rPr lang="en-US" sz="2400" b="1" dirty="0">
                <a:solidFill>
                  <a:srgbClr val="A84B2F"/>
                </a:solidFill>
                <a:latin typeface="Trebuchet MS" pitchFamily="34" charset="0"/>
                <a:ea typeface="Trebuchet MS" pitchFamily="34" charset="-122"/>
                <a:cs typeface="Trebuchet MS" pitchFamily="34" charset="-120"/>
              </a:rPr>
              <a:t>$100-300B</a:t>
            </a:r>
            <a:endParaRPr lang="en-US" sz="2400" dirty="0"/>
          </a:p>
        </p:txBody>
      </p:sp>
      <p:sp>
        <p:nvSpPr>
          <p:cNvPr id="6" name="Text 4"/>
          <p:cNvSpPr/>
          <p:nvPr/>
        </p:nvSpPr>
        <p:spPr>
          <a:xfrm>
            <a:off x="621792" y="2304288"/>
            <a:ext cx="1645920" cy="685800"/>
          </a:xfrm>
          <a:prstGeom prst="rect">
            <a:avLst/>
          </a:prstGeom>
          <a:noFill/>
          <a:ln/>
        </p:spPr>
        <p:txBody>
          <a:bodyPr wrap="square" lIns="0" tIns="0" rIns="0" bIns="0" rtlCol="0" anchor="t"/>
          <a:lstStyle/>
          <a:p>
            <a:pPr marL="0" indent="0">
              <a:buNone/>
            </a:pPr>
            <a:r>
              <a:rPr lang="en-US" sz="1300" dirty="0">
                <a:solidFill>
                  <a:srgbClr val="28251D"/>
                </a:solidFill>
                <a:latin typeface="Calibri" pitchFamily="34" charset="0"/>
                <a:ea typeface="Calibri" pitchFamily="34" charset="-122"/>
                <a:cs typeface="Calibri" pitchFamily="34" charset="-120"/>
              </a:rPr>
              <a:t>Direct US health care cost tied to non-adherence every year</a:t>
            </a:r>
            <a:endParaRPr lang="en-US" sz="1300" dirty="0"/>
          </a:p>
        </p:txBody>
      </p:sp>
      <p:sp>
        <p:nvSpPr>
          <p:cNvPr id="7" name="Shape 5"/>
          <p:cNvSpPr/>
          <p:nvPr/>
        </p:nvSpPr>
        <p:spPr>
          <a:xfrm>
            <a:off x="2560320" y="1463040"/>
            <a:ext cx="1920240" cy="2011680"/>
          </a:xfrm>
          <a:prstGeom prst="roundRect">
            <a:avLst>
              <a:gd name="adj" fmla="val 3810"/>
            </a:avLst>
          </a:prstGeom>
          <a:solidFill>
            <a:srgbClr val="FFFFFF"/>
          </a:solidFill>
          <a:ln w="9525">
            <a:solidFill>
              <a:srgbClr val="D4D1CA"/>
            </a:solidFill>
            <a:prstDash val="solid"/>
          </a:ln>
        </p:spPr>
        <p:txBody>
          <a:bodyPr/>
          <a:lstStyle/>
          <a:p>
            <a:endParaRPr lang="en-US"/>
          </a:p>
        </p:txBody>
      </p:sp>
      <p:sp>
        <p:nvSpPr>
          <p:cNvPr id="8" name="Text 6"/>
          <p:cNvSpPr/>
          <p:nvPr/>
        </p:nvSpPr>
        <p:spPr>
          <a:xfrm>
            <a:off x="2724912" y="1645920"/>
            <a:ext cx="1645920" cy="640080"/>
          </a:xfrm>
          <a:prstGeom prst="rect">
            <a:avLst/>
          </a:prstGeom>
          <a:noFill/>
          <a:ln/>
        </p:spPr>
        <p:txBody>
          <a:bodyPr wrap="square" lIns="0" tIns="0" rIns="0" bIns="0" rtlCol="0" anchor="ctr">
            <a:normAutofit/>
          </a:bodyPr>
          <a:lstStyle/>
          <a:p>
            <a:pPr marL="0" indent="0">
              <a:buNone/>
            </a:pPr>
            <a:r>
              <a:rPr lang="en-US" sz="3400" b="1" dirty="0">
                <a:solidFill>
                  <a:srgbClr val="01696F"/>
                </a:solidFill>
                <a:latin typeface="Trebuchet MS" pitchFamily="34" charset="0"/>
                <a:ea typeface="Trebuchet MS" pitchFamily="34" charset="-122"/>
                <a:cs typeface="Trebuchet MS" pitchFamily="34" charset="-120"/>
              </a:rPr>
              <a:t>~50%</a:t>
            </a:r>
            <a:endParaRPr lang="en-US" sz="3400" dirty="0"/>
          </a:p>
        </p:txBody>
      </p:sp>
      <p:sp>
        <p:nvSpPr>
          <p:cNvPr id="9" name="Text 7"/>
          <p:cNvSpPr/>
          <p:nvPr/>
        </p:nvSpPr>
        <p:spPr>
          <a:xfrm>
            <a:off x="2724912" y="2304288"/>
            <a:ext cx="1645920" cy="685800"/>
          </a:xfrm>
          <a:prstGeom prst="rect">
            <a:avLst/>
          </a:prstGeom>
          <a:noFill/>
          <a:ln/>
        </p:spPr>
        <p:txBody>
          <a:bodyPr wrap="square" lIns="0" tIns="0" rIns="0" bIns="0" rtlCol="0" anchor="t"/>
          <a:lstStyle/>
          <a:p>
            <a:pPr marL="0" indent="0">
              <a:buNone/>
            </a:pPr>
            <a:r>
              <a:rPr lang="en-US" sz="1300" dirty="0">
                <a:solidFill>
                  <a:srgbClr val="28251D"/>
                </a:solidFill>
                <a:latin typeface="Calibri" pitchFamily="34" charset="0"/>
                <a:ea typeface="Calibri" pitchFamily="34" charset="-122"/>
                <a:cs typeface="Calibri" pitchFamily="34" charset="-120"/>
              </a:rPr>
              <a:t>Of filled prescriptions taken incorrectly: timing, dose, frequency, or duration</a:t>
            </a:r>
            <a:endParaRPr lang="en-US" sz="1300" dirty="0"/>
          </a:p>
        </p:txBody>
      </p:sp>
      <p:sp>
        <p:nvSpPr>
          <p:cNvPr id="10" name="Shape 8"/>
          <p:cNvSpPr/>
          <p:nvPr/>
        </p:nvSpPr>
        <p:spPr>
          <a:xfrm>
            <a:off x="4663440" y="1463040"/>
            <a:ext cx="1920240" cy="2011680"/>
          </a:xfrm>
          <a:prstGeom prst="roundRect">
            <a:avLst>
              <a:gd name="adj" fmla="val 3810"/>
            </a:avLst>
          </a:prstGeom>
          <a:solidFill>
            <a:srgbClr val="FFFFFF"/>
          </a:solidFill>
          <a:ln w="9525">
            <a:solidFill>
              <a:srgbClr val="D4D1CA"/>
            </a:solidFill>
            <a:prstDash val="solid"/>
          </a:ln>
        </p:spPr>
        <p:txBody>
          <a:bodyPr/>
          <a:lstStyle/>
          <a:p>
            <a:endParaRPr lang="en-US"/>
          </a:p>
        </p:txBody>
      </p:sp>
      <p:sp>
        <p:nvSpPr>
          <p:cNvPr id="11" name="Text 9"/>
          <p:cNvSpPr/>
          <p:nvPr/>
        </p:nvSpPr>
        <p:spPr>
          <a:xfrm>
            <a:off x="4828032" y="1645920"/>
            <a:ext cx="1645920" cy="640080"/>
          </a:xfrm>
          <a:prstGeom prst="rect">
            <a:avLst/>
          </a:prstGeom>
          <a:noFill/>
          <a:ln/>
        </p:spPr>
        <p:txBody>
          <a:bodyPr wrap="square" lIns="0" tIns="0" rIns="0" bIns="0" rtlCol="0" anchor="ctr">
            <a:normAutofit fontScale="92500"/>
          </a:bodyPr>
          <a:lstStyle/>
          <a:p>
            <a:pPr marL="0" indent="0">
              <a:buNone/>
            </a:pPr>
            <a:r>
              <a:rPr lang="en-US" sz="3400" b="1" dirty="0">
                <a:solidFill>
                  <a:srgbClr val="01696F"/>
                </a:solidFill>
                <a:latin typeface="Trebuchet MS" pitchFamily="34" charset="0"/>
                <a:ea typeface="Trebuchet MS" pitchFamily="34" charset="-122"/>
                <a:cs typeface="Trebuchet MS" pitchFamily="34" charset="-120"/>
              </a:rPr>
              <a:t>125,000</a:t>
            </a:r>
            <a:endParaRPr lang="en-US" sz="3400" dirty="0"/>
          </a:p>
        </p:txBody>
      </p:sp>
      <p:sp>
        <p:nvSpPr>
          <p:cNvPr id="12" name="Text 10"/>
          <p:cNvSpPr/>
          <p:nvPr/>
        </p:nvSpPr>
        <p:spPr>
          <a:xfrm>
            <a:off x="4828032" y="2304288"/>
            <a:ext cx="1645920" cy="685800"/>
          </a:xfrm>
          <a:prstGeom prst="rect">
            <a:avLst/>
          </a:prstGeom>
          <a:noFill/>
          <a:ln/>
        </p:spPr>
        <p:txBody>
          <a:bodyPr wrap="square" lIns="0" tIns="0" rIns="0" bIns="0" rtlCol="0" anchor="t"/>
          <a:lstStyle/>
          <a:p>
            <a:pPr marL="0" indent="0">
              <a:buNone/>
            </a:pPr>
            <a:r>
              <a:rPr lang="en-US" sz="1300" dirty="0">
                <a:solidFill>
                  <a:srgbClr val="28251D"/>
                </a:solidFill>
                <a:latin typeface="Calibri" pitchFamily="34" charset="0"/>
                <a:ea typeface="Calibri" pitchFamily="34" charset="-122"/>
                <a:cs typeface="Calibri" pitchFamily="34" charset="-120"/>
              </a:rPr>
              <a:t>US deaths per year attributed to poor medication adherence</a:t>
            </a:r>
            <a:endParaRPr lang="en-US" sz="1300" dirty="0"/>
          </a:p>
        </p:txBody>
      </p:sp>
      <p:sp>
        <p:nvSpPr>
          <p:cNvPr id="13" name="Shape 11"/>
          <p:cNvSpPr/>
          <p:nvPr/>
        </p:nvSpPr>
        <p:spPr>
          <a:xfrm>
            <a:off x="6766560" y="1463040"/>
            <a:ext cx="1920240" cy="2011680"/>
          </a:xfrm>
          <a:prstGeom prst="roundRect">
            <a:avLst>
              <a:gd name="adj" fmla="val 3810"/>
            </a:avLst>
          </a:prstGeom>
          <a:solidFill>
            <a:srgbClr val="FFFFFF"/>
          </a:solidFill>
          <a:ln w="9525">
            <a:solidFill>
              <a:srgbClr val="D4D1CA"/>
            </a:solidFill>
            <a:prstDash val="solid"/>
          </a:ln>
        </p:spPr>
        <p:txBody>
          <a:bodyPr/>
          <a:lstStyle/>
          <a:p>
            <a:endParaRPr lang="en-US"/>
          </a:p>
        </p:txBody>
      </p:sp>
      <p:sp>
        <p:nvSpPr>
          <p:cNvPr id="14" name="Text 12"/>
          <p:cNvSpPr/>
          <p:nvPr/>
        </p:nvSpPr>
        <p:spPr>
          <a:xfrm>
            <a:off x="6931152" y="1645920"/>
            <a:ext cx="1645920" cy="640080"/>
          </a:xfrm>
          <a:prstGeom prst="rect">
            <a:avLst/>
          </a:prstGeom>
          <a:noFill/>
          <a:ln/>
        </p:spPr>
        <p:txBody>
          <a:bodyPr wrap="square" lIns="0" tIns="0" rIns="0" bIns="0" rtlCol="0" anchor="ctr">
            <a:normAutofit/>
          </a:bodyPr>
          <a:lstStyle/>
          <a:p>
            <a:pPr marL="0" indent="0">
              <a:buNone/>
            </a:pPr>
            <a:r>
              <a:rPr lang="en-US" sz="3400" b="1" dirty="0">
                <a:solidFill>
                  <a:srgbClr val="01696F"/>
                </a:solidFill>
                <a:latin typeface="Trebuchet MS" pitchFamily="34" charset="0"/>
                <a:ea typeface="Trebuchet MS" pitchFamily="34" charset="-122"/>
                <a:cs typeface="Trebuchet MS" pitchFamily="34" charset="-120"/>
              </a:rPr>
              <a:t>10%</a:t>
            </a:r>
            <a:endParaRPr lang="en-US" sz="3400" dirty="0"/>
          </a:p>
        </p:txBody>
      </p:sp>
      <p:sp>
        <p:nvSpPr>
          <p:cNvPr id="15" name="Text 13"/>
          <p:cNvSpPr/>
          <p:nvPr/>
        </p:nvSpPr>
        <p:spPr>
          <a:xfrm>
            <a:off x="6931152" y="2304288"/>
            <a:ext cx="1645920" cy="685800"/>
          </a:xfrm>
          <a:prstGeom prst="rect">
            <a:avLst/>
          </a:prstGeom>
          <a:noFill/>
          <a:ln/>
        </p:spPr>
        <p:txBody>
          <a:bodyPr wrap="square" lIns="0" tIns="0" rIns="0" bIns="0" rtlCol="0" anchor="t"/>
          <a:lstStyle/>
          <a:p>
            <a:pPr marL="0" indent="0">
              <a:buNone/>
            </a:pPr>
            <a:r>
              <a:rPr lang="en-US" sz="1300" dirty="0">
                <a:solidFill>
                  <a:srgbClr val="28251D"/>
                </a:solidFill>
                <a:latin typeface="Calibri" pitchFamily="34" charset="0"/>
                <a:ea typeface="Calibri" pitchFamily="34" charset="-122"/>
                <a:cs typeface="Calibri" pitchFamily="34" charset="-120"/>
              </a:rPr>
              <a:t>Of US hospitalizations linked to non-adherence</a:t>
            </a:r>
            <a:endParaRPr lang="en-US" sz="1300" dirty="0"/>
          </a:p>
        </p:txBody>
      </p:sp>
      <p:sp>
        <p:nvSpPr>
          <p:cNvPr id="16" name="Text 14"/>
          <p:cNvSpPr/>
          <p:nvPr/>
        </p:nvSpPr>
        <p:spPr>
          <a:xfrm>
            <a:off x="457200" y="3749040"/>
            <a:ext cx="8229600" cy="548640"/>
          </a:xfrm>
          <a:prstGeom prst="rect">
            <a:avLst/>
          </a:prstGeom>
          <a:noFill/>
          <a:ln/>
        </p:spPr>
        <p:txBody>
          <a:bodyPr wrap="square" lIns="0" tIns="0" rIns="0" bIns="0" rtlCol="0" anchor="ctr"/>
          <a:lstStyle/>
          <a:p>
            <a:pPr marL="0" indent="0">
              <a:buNone/>
            </a:pPr>
            <a:r>
              <a:rPr lang="en-US" sz="1500" dirty="0">
                <a:solidFill>
                  <a:srgbClr val="28251D"/>
                </a:solidFill>
                <a:latin typeface="Calibri" pitchFamily="34" charset="0"/>
                <a:ea typeface="Calibri" pitchFamily="34" charset="-122"/>
                <a:cs typeface="Calibri" pitchFamily="34" charset="-120"/>
              </a:rPr>
              <a:t>Timing is the most common failure mode, and it is exactly what a connected dispenser can observe and timestamp.</a:t>
            </a:r>
            <a:endParaRPr lang="en-US" sz="1500" dirty="0"/>
          </a:p>
        </p:txBody>
      </p:sp>
      <p:sp>
        <p:nvSpPr>
          <p:cNvPr id="17" name="Text 15"/>
          <p:cNvSpPr/>
          <p:nvPr/>
        </p:nvSpPr>
        <p:spPr>
          <a:xfrm>
            <a:off x="457200" y="4773168"/>
            <a:ext cx="8229600" cy="228600"/>
          </a:xfrm>
          <a:prstGeom prst="rect">
            <a:avLst/>
          </a:prstGeom>
          <a:noFill/>
          <a:ln/>
        </p:spPr>
        <p:txBody>
          <a:bodyPr wrap="square" lIns="0" tIns="0" rIns="0" bIns="0" rtlCol="0" anchor="ctr"/>
          <a:lstStyle/>
          <a:p>
            <a:pPr marL="0" indent="0">
              <a:buNone/>
            </a:pPr>
            <a:r>
              <a:rPr lang="en-US" sz="900" dirty="0">
                <a:solidFill>
                  <a:srgbClr val="5F5E59"/>
                </a:solidFill>
                <a:latin typeface="Calibri" pitchFamily="34" charset="0"/>
                <a:ea typeface="Calibri" pitchFamily="34" charset="-122"/>
                <a:cs typeface="Calibri" pitchFamily="34" charset="-120"/>
              </a:rPr>
              <a:t>Source: </a:t>
            </a:r>
            <a:r>
              <a:rPr lang="en-US" sz="900" u="sng" dirty="0">
                <a:solidFill>
                  <a:srgbClr val="01696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CDC MMWR 2017</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NIH PMC review 2023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THE GAP</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Reminders tell patients when; nothing confirms that it happened</a:t>
            </a:r>
            <a:endParaRPr lang="en-US" sz="2400" dirty="0"/>
          </a:p>
        </p:txBody>
      </p:sp>
      <p:sp>
        <p:nvSpPr>
          <p:cNvPr id="4" name="Shape 2"/>
          <p:cNvSpPr/>
          <p:nvPr/>
        </p:nvSpPr>
        <p:spPr>
          <a:xfrm>
            <a:off x="457200" y="1371600"/>
            <a:ext cx="3931920" cy="3108960"/>
          </a:xfrm>
          <a:prstGeom prst="roundRect">
            <a:avLst>
              <a:gd name="adj" fmla="val 2353"/>
            </a:avLst>
          </a:prstGeom>
          <a:solidFill>
            <a:srgbClr val="FFFFFF"/>
          </a:solidFill>
          <a:ln w="9525">
            <a:solidFill>
              <a:srgbClr val="D4D1CA"/>
            </a:solidFill>
            <a:prstDash val="solid"/>
          </a:ln>
        </p:spPr>
        <p:txBody>
          <a:bodyPr/>
          <a:lstStyle/>
          <a:p>
            <a:endParaRPr lang="en-US"/>
          </a:p>
        </p:txBody>
      </p:sp>
      <p:sp>
        <p:nvSpPr>
          <p:cNvPr id="5" name="Text 3"/>
          <p:cNvSpPr/>
          <p:nvPr/>
        </p:nvSpPr>
        <p:spPr>
          <a:xfrm>
            <a:off x="685800" y="1508760"/>
            <a:ext cx="3566160" cy="365760"/>
          </a:xfrm>
          <a:prstGeom prst="rect">
            <a:avLst/>
          </a:prstGeom>
          <a:noFill/>
          <a:ln/>
        </p:spPr>
        <p:txBody>
          <a:bodyPr wrap="square" lIns="0" tIns="0" rIns="0" bIns="0" rtlCol="0" anchor="ctr"/>
          <a:lstStyle/>
          <a:p>
            <a:pPr marL="0" indent="0">
              <a:buNone/>
            </a:pPr>
            <a:r>
              <a:rPr lang="en-US" sz="1600" b="1" dirty="0">
                <a:solidFill>
                  <a:srgbClr val="5F5E59"/>
                </a:solidFill>
                <a:latin typeface="Trebuchet MS" pitchFamily="34" charset="0"/>
                <a:ea typeface="Trebuchet MS" pitchFamily="34" charset="-122"/>
                <a:cs typeface="Trebuchet MS" pitchFamily="34" charset="-120"/>
              </a:rPr>
              <a:t>Typical pillbox or reminder app</a:t>
            </a:r>
            <a:endParaRPr lang="en-US" sz="1600" dirty="0"/>
          </a:p>
        </p:txBody>
      </p:sp>
      <p:sp>
        <p:nvSpPr>
          <p:cNvPr id="6" name="Text 4"/>
          <p:cNvSpPr/>
          <p:nvPr/>
        </p:nvSpPr>
        <p:spPr>
          <a:xfrm>
            <a:off x="685800" y="1965960"/>
            <a:ext cx="35661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Alarm fires at dose time</a:t>
            </a:r>
            <a:endParaRPr lang="en-US" sz="1400" dirty="0"/>
          </a:p>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No proof the right person was there</a:t>
            </a:r>
            <a:endParaRPr lang="en-US" sz="1400" dirty="0"/>
          </a:p>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No proof a single pill came out</a:t>
            </a:r>
            <a:endParaRPr lang="en-US" sz="1400" dirty="0"/>
          </a:p>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Caregiver learns about a miss days later, if at all</a:t>
            </a:r>
            <a:endParaRPr lang="en-US" sz="1400" dirty="0"/>
          </a:p>
        </p:txBody>
      </p:sp>
      <p:sp>
        <p:nvSpPr>
          <p:cNvPr id="7" name="Shape 5"/>
          <p:cNvSpPr/>
          <p:nvPr/>
        </p:nvSpPr>
        <p:spPr>
          <a:xfrm>
            <a:off x="4754880" y="1371600"/>
            <a:ext cx="3931920" cy="3108960"/>
          </a:xfrm>
          <a:prstGeom prst="roundRect">
            <a:avLst>
              <a:gd name="adj" fmla="val 2353"/>
            </a:avLst>
          </a:prstGeom>
          <a:solidFill>
            <a:srgbClr val="E3EEEE"/>
          </a:solidFill>
          <a:ln w="9525">
            <a:solidFill>
              <a:srgbClr val="D4D1CA"/>
            </a:solidFill>
            <a:prstDash val="solid"/>
          </a:ln>
        </p:spPr>
        <p:txBody>
          <a:bodyPr/>
          <a:lstStyle/>
          <a:p>
            <a:endParaRPr lang="en-US"/>
          </a:p>
        </p:txBody>
      </p:sp>
      <p:sp>
        <p:nvSpPr>
          <p:cNvPr id="8" name="Text 6"/>
          <p:cNvSpPr/>
          <p:nvPr/>
        </p:nvSpPr>
        <p:spPr>
          <a:xfrm>
            <a:off x="4983480" y="1508760"/>
            <a:ext cx="3566160" cy="365760"/>
          </a:xfrm>
          <a:prstGeom prst="rect">
            <a:avLst/>
          </a:prstGeom>
          <a:noFill/>
          <a:ln/>
        </p:spPr>
        <p:txBody>
          <a:bodyPr wrap="square" lIns="0" tIns="0" rIns="0" bIns="0" rtlCol="0" anchor="ctr"/>
          <a:lstStyle/>
          <a:p>
            <a:pPr marL="0" indent="0">
              <a:buNone/>
            </a:pPr>
            <a:r>
              <a:rPr lang="en-US" sz="1600" b="1" dirty="0">
                <a:solidFill>
                  <a:srgbClr val="01696F"/>
                </a:solidFill>
                <a:latin typeface="Trebuchet MS" pitchFamily="34" charset="0"/>
                <a:ea typeface="Trebuchet MS" pitchFamily="34" charset="-122"/>
                <a:cs typeface="Trebuchet MS" pitchFamily="34" charset="-120"/>
              </a:rPr>
              <a:t>This prototype</a:t>
            </a:r>
            <a:endParaRPr lang="en-US" sz="1600" dirty="0"/>
          </a:p>
        </p:txBody>
      </p:sp>
      <p:sp>
        <p:nvSpPr>
          <p:cNvPr id="9" name="Text 7"/>
          <p:cNvSpPr/>
          <p:nvPr/>
        </p:nvSpPr>
        <p:spPr>
          <a:xfrm>
            <a:off x="4983480" y="1965960"/>
            <a:ext cx="35661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Face gate: dispense only when a person is present</a:t>
            </a:r>
            <a:endParaRPr lang="en-US" sz="1400" dirty="0"/>
          </a:p>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Pill check: camera counts what landed in the tray</a:t>
            </a:r>
            <a:endParaRPr lang="en-US" sz="1400" dirty="0"/>
          </a:p>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Every dose logged with drift, latency, and confidence</a:t>
            </a:r>
            <a:endParaRPr lang="en-US" sz="1400" dirty="0"/>
          </a:p>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Trend analytics flag drift before a full miss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SYSTEM DESIGN</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                    Assisted Design - Four Layers</a:t>
            </a:r>
          </a:p>
          <a:p>
            <a:pPr marL="0" indent="0">
              <a:buNone/>
            </a:pPr>
            <a:r>
              <a:rPr lang="en-US" sz="2400" b="1" dirty="0">
                <a:solidFill>
                  <a:srgbClr val="28251D"/>
                </a:solidFill>
                <a:latin typeface="Trebuchet MS" pitchFamily="34" charset="0"/>
                <a:ea typeface="Trebuchet MS" pitchFamily="34" charset="-122"/>
                <a:cs typeface="Trebuchet MS" pitchFamily="34" charset="-120"/>
              </a:rPr>
              <a:t> </a:t>
            </a:r>
            <a:r>
              <a:rPr lang="en-US" b="1" dirty="0">
                <a:solidFill>
                  <a:srgbClr val="28251D"/>
                </a:solidFill>
                <a:latin typeface="Trebuchet MS" pitchFamily="34" charset="0"/>
                <a:ea typeface="Trebuchet MS" pitchFamily="34" charset="-122"/>
                <a:cs typeface="Trebuchet MS" pitchFamily="34" charset="-120"/>
              </a:rPr>
              <a:t>software-first so every layer can be tested without hardware </a:t>
            </a:r>
            <a:endParaRPr lang="en-US" dirty="0"/>
          </a:p>
        </p:txBody>
      </p:sp>
      <p:graphicFrame>
        <p:nvGraphicFramePr>
          <p:cNvPr id="7" name="Table 0"/>
          <p:cNvGraphicFramePr>
            <a:graphicFrameLocks noGrp="1"/>
          </p:cNvGraphicFramePr>
          <p:nvPr>
            <p:extLst>
              <p:ext uri="{D42A27DB-BD31-4B8C-83A1-F6EECF244321}">
                <p14:modId xmlns:p14="http://schemas.microsoft.com/office/powerpoint/2010/main" val="2992590409"/>
              </p:ext>
            </p:extLst>
          </p:nvPr>
        </p:nvGraphicFramePr>
        <p:xfrm>
          <a:off x="457200" y="1325880"/>
          <a:ext cx="8229600" cy="2514600"/>
        </p:xfrm>
        <a:graphic>
          <a:graphicData uri="http://schemas.openxmlformats.org/drawingml/2006/table">
            <a:tbl>
              <a:tblPr/>
              <a:tblGrid>
                <a:gridCol w="1371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50292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Layer</a:t>
                      </a:r>
                      <a:endParaRPr lang="en-US" sz="13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01696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Stack</a:t>
                      </a:r>
                      <a:endParaRPr lang="en-US" sz="13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01696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Responsibility</a:t>
                      </a:r>
                      <a:endParaRPr lang="en-US" sz="13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01696F"/>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28251D"/>
                          </a:solidFill>
                          <a:latin typeface="Calibri" pitchFamily="34" charset="0"/>
                          <a:ea typeface="Calibri" pitchFamily="34" charset="-122"/>
                          <a:cs typeface="Calibri" pitchFamily="34" charset="-120"/>
                        </a:rPr>
                        <a:t>Embedded</a:t>
                      </a:r>
                      <a:endParaRPr lang="en-US" sz="13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300" dirty="0">
                          <a:solidFill>
                            <a:srgbClr val="28251D"/>
                          </a:solidFill>
                          <a:latin typeface="Calibri" pitchFamily="34" charset="0"/>
                          <a:ea typeface="Calibri" pitchFamily="34" charset="-122"/>
                          <a:cs typeface="Calibri" pitchFamily="34" charset="-120"/>
                        </a:rPr>
                        <a:t>Arduino Nano 33 BLE, positional MG90S servo, LiPo + TP4056 + boost</a:t>
                      </a:r>
                      <a:endParaRPr lang="en-US" sz="13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300" dirty="0">
                          <a:solidFill>
                            <a:srgbClr val="28251D"/>
                          </a:solidFill>
                          <a:latin typeface="Calibri" pitchFamily="34" charset="0"/>
                          <a:ea typeface="Calibri" pitchFamily="34" charset="-122"/>
                          <a:cs typeface="Calibri" pitchFamily="34" charset="-120"/>
                        </a:rPr>
                        <a:t>Carousel indexing and dispensing</a:t>
                      </a:r>
                      <a:endParaRPr lang="en-US" sz="13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28251D"/>
                          </a:solidFill>
                          <a:latin typeface="Calibri" pitchFamily="34" charset="0"/>
                          <a:ea typeface="Calibri" pitchFamily="34" charset="-122"/>
                          <a:cs typeface="Calibri" pitchFamily="34" charset="-120"/>
                        </a:rPr>
                        <a:t>Edge vision</a:t>
                      </a:r>
                      <a:endParaRPr lang="en-US" sz="13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300" dirty="0">
                          <a:solidFill>
                            <a:srgbClr val="28251D"/>
                          </a:solidFill>
                          <a:latin typeface="Calibri" pitchFamily="34" charset="0"/>
                          <a:ea typeface="Calibri" pitchFamily="34" charset="-122"/>
                          <a:cs typeface="Calibri" pitchFamily="34" charset="-120"/>
                        </a:rPr>
                        <a:t>Python, OpenCV, MediaPipe BlazeFace, PySerial</a:t>
                      </a:r>
                      <a:endParaRPr lang="en-US" sz="13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300" dirty="0">
                          <a:solidFill>
                            <a:srgbClr val="28251D"/>
                          </a:solidFill>
                          <a:latin typeface="Calibri" pitchFamily="34" charset="0"/>
                          <a:ea typeface="Calibri" pitchFamily="34" charset="-122"/>
                          <a:cs typeface="Calibri" pitchFamily="34" charset="-120"/>
                        </a:rPr>
                        <a:t>Face gate, pill count, serial DISPENSE handshake</a:t>
                      </a:r>
                      <a:endParaRPr lang="en-US" sz="13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28251D"/>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300" dirty="0">
                          <a:solidFill>
                            <a:srgbClr val="28251D"/>
                          </a:solidFill>
                          <a:latin typeface="Calibri" pitchFamily="34" charset="0"/>
                          <a:ea typeface="Calibri" pitchFamily="34" charset="-122"/>
                          <a:cs typeface="Calibri" pitchFamily="34" charset="-120"/>
                        </a:rPr>
                        <a:t>Databricks Delta tables via SQL Statement Execution API</a:t>
                      </a:r>
                      <a:endParaRPr lang="en-US" sz="13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300" dirty="0">
                          <a:solidFill>
                            <a:srgbClr val="28251D"/>
                          </a:solidFill>
                          <a:latin typeface="Calibri" pitchFamily="34" charset="0"/>
                          <a:ea typeface="Calibri" pitchFamily="34" charset="-122"/>
                          <a:cs typeface="Calibri" pitchFamily="34" charset="-120"/>
                        </a:rPr>
                        <a:t>Bronze, Silver, Gold medallion transforms </a:t>
                      </a:r>
                      <a:endParaRPr lang="en-US" sz="13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28251D"/>
                          </a:solidFill>
                          <a:latin typeface="Calibri" pitchFamily="34" charset="0"/>
                          <a:ea typeface="Calibri" pitchFamily="34" charset="-122"/>
                          <a:cs typeface="Calibri" pitchFamily="34" charset="-120"/>
                        </a:rPr>
                        <a:t>Analytics</a:t>
                      </a:r>
                      <a:endParaRPr lang="en-US" sz="13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300" dirty="0">
                          <a:solidFill>
                            <a:srgbClr val="28251D"/>
                          </a:solidFill>
                          <a:latin typeface="Calibri" pitchFamily="34" charset="0"/>
                          <a:ea typeface="Calibri" pitchFamily="34" charset="-122"/>
                          <a:cs typeface="Calibri" pitchFamily="34" charset="-120"/>
                        </a:rPr>
                        <a:t>Databricks AI/BI dashboard on a serverless SQL warehouse</a:t>
                      </a:r>
                      <a:endParaRPr lang="en-US" sz="13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300" dirty="0">
                          <a:solidFill>
                            <a:srgbClr val="28251D"/>
                          </a:solidFill>
                          <a:latin typeface="Calibri" pitchFamily="34" charset="0"/>
                          <a:ea typeface="Calibri" pitchFamily="34" charset="-122"/>
                          <a:cs typeface="Calibri" pitchFamily="34" charset="-120"/>
                        </a:rPr>
                        <a:t>Adherence, drift, status, and dashboard analysis</a:t>
                      </a:r>
                      <a:endParaRPr lang="en-US" sz="13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4069080"/>
            <a:ext cx="8229600" cy="457200"/>
          </a:xfrm>
          <a:prstGeom prst="rect">
            <a:avLst/>
          </a:prstGeom>
          <a:noFill/>
          <a:ln/>
        </p:spPr>
        <p:txBody>
          <a:bodyPr wrap="square" lIns="0" tIns="0" rIns="0" bIns="0" rtlCol="0" anchor="ctr"/>
          <a:lstStyle/>
          <a:p>
            <a:pPr marL="0" indent="0">
              <a:buNone/>
            </a:pPr>
            <a:r>
              <a:rPr lang="en-US" sz="1300" b="1" dirty="0">
                <a:solidFill>
                  <a:srgbClr val="28251D"/>
                </a:solidFill>
                <a:latin typeface="Calibri" pitchFamily="34" charset="0"/>
                <a:ea typeface="Calibri" pitchFamily="34" charset="-122"/>
                <a:cs typeface="Calibri" pitchFamily="34" charset="-120"/>
              </a:rPr>
              <a:t>Hardware budget: </a:t>
            </a:r>
            <a:r>
              <a:rPr lang="en-US" sz="1300" dirty="0">
                <a:solidFill>
                  <a:srgbClr val="28251D"/>
                </a:solidFill>
                <a:latin typeface="Calibri" pitchFamily="34" charset="0"/>
                <a:ea typeface="Calibri" pitchFamily="34" charset="-122"/>
                <a:cs typeface="Calibri" pitchFamily="34" charset="-120"/>
              </a:rPr>
              <a:t>$100 to $150 all-in with cloud trial. Mock mode runs everything on a laptop.</a:t>
            </a:r>
            <a:endParaRPr lang="en-US" sz="1300" dirty="0"/>
          </a:p>
        </p:txBody>
      </p:sp>
      <p:sp>
        <p:nvSpPr>
          <p:cNvPr id="6" name="Text 3"/>
          <p:cNvSpPr/>
          <p:nvPr/>
        </p:nvSpPr>
        <p:spPr>
          <a:xfrm>
            <a:off x="457200" y="4773168"/>
            <a:ext cx="8229600" cy="228600"/>
          </a:xfrm>
          <a:prstGeom prst="rect">
            <a:avLst/>
          </a:prstGeom>
          <a:noFill/>
          <a:ln/>
        </p:spPr>
        <p:txBody>
          <a:bodyPr wrap="square" lIns="0" tIns="0" rIns="0" bIns="0" rtlCol="0" anchor="ctr"/>
          <a:lstStyle/>
          <a:p>
            <a:pPr marL="0" indent="0">
              <a:buNone/>
            </a:pPr>
            <a:r>
              <a:rPr lang="en-US" sz="900" dirty="0">
                <a:solidFill>
                  <a:srgbClr val="5F5E59"/>
                </a:solidFill>
                <a:latin typeface="Calibri" pitchFamily="34" charset="0"/>
                <a:ea typeface="Calibri" pitchFamily="34" charset="-122"/>
                <a:cs typeface="Calibri" pitchFamily="34" charset="-120"/>
              </a:rPr>
              <a:t>Source: </a:t>
            </a:r>
            <a:r>
              <a:rPr lang="en-US" sz="900" u="sng" dirty="0">
                <a:solidFill>
                  <a:srgbClr val="01696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AutomatedPillDispenser repo</a:t>
            </a:r>
            <a:endParaRPr lang="en-US" sz="900" dirty="0"/>
          </a:p>
        </p:txBody>
      </p:sp>
      <p:pic>
        <p:nvPicPr>
          <p:cNvPr id="8" name="Picture 7" descr="CURSOR&#10;&#10;AI-generated content may be incorrect.">
            <a:extLst>
              <a:ext uri="{FF2B5EF4-FFF2-40B4-BE49-F238E27FC236}">
                <a16:creationId xmlns:a16="http://schemas.microsoft.com/office/drawing/2014/main" id="{AC524ECF-5B32-B9AF-90ED-F5ABAEF1EA0B}"/>
              </a:ext>
            </a:extLst>
          </p:cNvPr>
          <p:cNvPicPr>
            <a:picLocks noChangeAspect="1"/>
          </p:cNvPicPr>
          <p:nvPr/>
        </p:nvPicPr>
        <p:blipFill>
          <a:blip r:embed="rId4"/>
          <a:srcRect t="34560" r="23666" b="29770"/>
          <a:stretch>
            <a:fillRect/>
          </a:stretch>
        </p:blipFill>
        <p:spPr>
          <a:xfrm>
            <a:off x="505839" y="502920"/>
            <a:ext cx="1692613" cy="4941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ONE DOSE, END TO END</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Every dispense becomes a row in Databricks within seconds</a:t>
            </a:r>
            <a:endParaRPr lang="en-US" sz="2400" dirty="0"/>
          </a:p>
        </p:txBody>
      </p:sp>
      <p:sp>
        <p:nvSpPr>
          <p:cNvPr id="4" name="Shape 2"/>
          <p:cNvSpPr/>
          <p:nvPr/>
        </p:nvSpPr>
        <p:spPr>
          <a:xfrm>
            <a:off x="457200" y="1554480"/>
            <a:ext cx="1261872" cy="2103120"/>
          </a:xfrm>
          <a:prstGeom prst="roundRect">
            <a:avLst>
              <a:gd name="adj" fmla="val 5797"/>
            </a:avLst>
          </a:prstGeom>
          <a:solidFill>
            <a:srgbClr val="FFFFFF"/>
          </a:solidFill>
          <a:ln w="9525">
            <a:solidFill>
              <a:srgbClr val="D4D1CA"/>
            </a:solidFill>
            <a:prstDash val="solid"/>
          </a:ln>
        </p:spPr>
        <p:txBody>
          <a:bodyPr/>
          <a:lstStyle/>
          <a:p>
            <a:endParaRPr lang="en-US"/>
          </a:p>
        </p:txBody>
      </p:sp>
      <p:sp>
        <p:nvSpPr>
          <p:cNvPr id="5" name="Text 3"/>
          <p:cNvSpPr/>
          <p:nvPr/>
        </p:nvSpPr>
        <p:spPr>
          <a:xfrm>
            <a:off x="594360" y="1691640"/>
            <a:ext cx="457200" cy="457200"/>
          </a:xfrm>
          <a:prstGeom prst="rect">
            <a:avLst/>
          </a:prstGeom>
          <a:noFill/>
          <a:ln/>
        </p:spPr>
        <p:txBody>
          <a:bodyPr wrap="square" lIns="0" tIns="0" rIns="0" bIns="0" rtlCol="0" anchor="ctr"/>
          <a:lstStyle/>
          <a:p>
            <a:pPr marL="0" indent="0">
              <a:buNone/>
            </a:pPr>
            <a:r>
              <a:rPr lang="en-US" sz="2400" b="1" dirty="0">
                <a:solidFill>
                  <a:srgbClr val="01696F"/>
                </a:solidFill>
                <a:latin typeface="Trebuchet MS" pitchFamily="34" charset="0"/>
                <a:ea typeface="Trebuchet MS" pitchFamily="34" charset="-122"/>
                <a:cs typeface="Trebuchet MS" pitchFamily="34" charset="-120"/>
              </a:rPr>
              <a:t>1</a:t>
            </a:r>
            <a:endParaRPr lang="en-US" sz="2400" dirty="0"/>
          </a:p>
        </p:txBody>
      </p:sp>
      <p:sp>
        <p:nvSpPr>
          <p:cNvPr id="6" name="Text 4"/>
          <p:cNvSpPr/>
          <p:nvPr/>
        </p:nvSpPr>
        <p:spPr>
          <a:xfrm>
            <a:off x="594360" y="2194560"/>
            <a:ext cx="987552" cy="36576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Face gate</a:t>
            </a:r>
            <a:endParaRPr lang="en-US" sz="1400" dirty="0"/>
          </a:p>
        </p:txBody>
      </p:sp>
      <p:sp>
        <p:nvSpPr>
          <p:cNvPr id="7" name="Text 5"/>
          <p:cNvSpPr/>
          <p:nvPr/>
        </p:nvSpPr>
        <p:spPr>
          <a:xfrm>
            <a:off x="594360" y="2606040"/>
            <a:ext cx="987552" cy="914400"/>
          </a:xfrm>
          <a:prstGeom prst="rect">
            <a:avLst/>
          </a:prstGeom>
          <a:noFill/>
          <a:ln/>
        </p:spPr>
        <p:txBody>
          <a:bodyPr wrap="square" lIns="0" tIns="0" rIns="0" bIns="0" rtlCol="0" anchor="t"/>
          <a:lstStyle/>
          <a:p>
            <a:pPr marL="0" indent="0">
              <a:buNone/>
            </a:pPr>
            <a:r>
              <a:rPr lang="en-US" sz="1200" dirty="0">
                <a:solidFill>
                  <a:srgbClr val="5F5E59"/>
                </a:solidFill>
                <a:latin typeface="Calibri" pitchFamily="34" charset="0"/>
                <a:ea typeface="Calibri" pitchFamily="34" charset="-122"/>
                <a:cs typeface="Calibri" pitchFamily="34" charset="-120"/>
              </a:rPr>
              <a:t>8 stable frames at ≥0.65 confidence</a:t>
            </a:r>
            <a:endParaRPr lang="en-US" sz="1200" dirty="0"/>
          </a:p>
        </p:txBody>
      </p:sp>
      <p:sp>
        <p:nvSpPr>
          <p:cNvPr id="8" name="Shape 6"/>
          <p:cNvSpPr/>
          <p:nvPr/>
        </p:nvSpPr>
        <p:spPr>
          <a:xfrm>
            <a:off x="1850746" y="1554480"/>
            <a:ext cx="1261872" cy="2103120"/>
          </a:xfrm>
          <a:prstGeom prst="roundRect">
            <a:avLst>
              <a:gd name="adj" fmla="val 5797"/>
            </a:avLst>
          </a:prstGeom>
          <a:solidFill>
            <a:srgbClr val="FFFFFF"/>
          </a:solidFill>
          <a:ln w="9525">
            <a:solidFill>
              <a:srgbClr val="D4D1CA"/>
            </a:solidFill>
            <a:prstDash val="solid"/>
          </a:ln>
        </p:spPr>
        <p:txBody>
          <a:bodyPr/>
          <a:lstStyle/>
          <a:p>
            <a:endParaRPr lang="en-US"/>
          </a:p>
        </p:txBody>
      </p:sp>
      <p:sp>
        <p:nvSpPr>
          <p:cNvPr id="9" name="Text 7"/>
          <p:cNvSpPr/>
          <p:nvPr/>
        </p:nvSpPr>
        <p:spPr>
          <a:xfrm>
            <a:off x="1987906" y="1691640"/>
            <a:ext cx="457200" cy="457200"/>
          </a:xfrm>
          <a:prstGeom prst="rect">
            <a:avLst/>
          </a:prstGeom>
          <a:noFill/>
          <a:ln/>
        </p:spPr>
        <p:txBody>
          <a:bodyPr wrap="square" lIns="0" tIns="0" rIns="0" bIns="0" rtlCol="0" anchor="ctr"/>
          <a:lstStyle/>
          <a:p>
            <a:pPr marL="0" indent="0">
              <a:buNone/>
            </a:pPr>
            <a:r>
              <a:rPr lang="en-US" sz="2400" b="1" dirty="0">
                <a:solidFill>
                  <a:srgbClr val="01696F"/>
                </a:solidFill>
                <a:latin typeface="Trebuchet MS" pitchFamily="34" charset="0"/>
                <a:ea typeface="Trebuchet MS" pitchFamily="34" charset="-122"/>
                <a:cs typeface="Trebuchet MS" pitchFamily="34" charset="-120"/>
              </a:rPr>
              <a:t>2</a:t>
            </a:r>
            <a:endParaRPr lang="en-US" sz="2400" dirty="0"/>
          </a:p>
        </p:txBody>
      </p:sp>
      <p:sp>
        <p:nvSpPr>
          <p:cNvPr id="10" name="Text 8"/>
          <p:cNvSpPr/>
          <p:nvPr/>
        </p:nvSpPr>
        <p:spPr>
          <a:xfrm>
            <a:off x="1987906" y="2194560"/>
            <a:ext cx="987552" cy="36576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DISPENSE</a:t>
            </a:r>
            <a:endParaRPr lang="en-US" sz="1400" dirty="0"/>
          </a:p>
        </p:txBody>
      </p:sp>
      <p:sp>
        <p:nvSpPr>
          <p:cNvPr id="11" name="Text 9"/>
          <p:cNvSpPr/>
          <p:nvPr/>
        </p:nvSpPr>
        <p:spPr>
          <a:xfrm>
            <a:off x="1987906" y="2606040"/>
            <a:ext cx="987552" cy="914400"/>
          </a:xfrm>
          <a:prstGeom prst="rect">
            <a:avLst/>
          </a:prstGeom>
          <a:noFill/>
          <a:ln/>
        </p:spPr>
        <p:txBody>
          <a:bodyPr wrap="square" lIns="0" tIns="0" rIns="0" bIns="0" rtlCol="0" anchor="t"/>
          <a:lstStyle/>
          <a:p>
            <a:pPr marL="0" indent="0">
              <a:buNone/>
            </a:pPr>
            <a:r>
              <a:rPr lang="en-US" sz="1200" dirty="0">
                <a:solidFill>
                  <a:srgbClr val="5F5E59"/>
                </a:solidFill>
                <a:latin typeface="Calibri" pitchFamily="34" charset="0"/>
                <a:ea typeface="Calibri" pitchFamily="34" charset="-122"/>
                <a:cs typeface="Calibri" pitchFamily="34" charset="-120"/>
              </a:rPr>
              <a:t>release command, ACK, retry limit 2</a:t>
            </a:r>
            <a:endParaRPr lang="en-US" sz="1200" dirty="0"/>
          </a:p>
        </p:txBody>
      </p:sp>
      <p:sp>
        <p:nvSpPr>
          <p:cNvPr id="12" name="Shape 10"/>
          <p:cNvSpPr/>
          <p:nvPr/>
        </p:nvSpPr>
        <p:spPr>
          <a:xfrm>
            <a:off x="3244291" y="1554480"/>
            <a:ext cx="1261872" cy="2103120"/>
          </a:xfrm>
          <a:prstGeom prst="roundRect">
            <a:avLst>
              <a:gd name="adj" fmla="val 5797"/>
            </a:avLst>
          </a:prstGeom>
          <a:solidFill>
            <a:srgbClr val="FFFFFF"/>
          </a:solidFill>
          <a:ln w="9525">
            <a:solidFill>
              <a:srgbClr val="D4D1CA"/>
            </a:solidFill>
            <a:prstDash val="solid"/>
          </a:ln>
        </p:spPr>
        <p:txBody>
          <a:bodyPr/>
          <a:lstStyle/>
          <a:p>
            <a:endParaRPr lang="en-US"/>
          </a:p>
        </p:txBody>
      </p:sp>
      <p:sp>
        <p:nvSpPr>
          <p:cNvPr id="13" name="Text 11"/>
          <p:cNvSpPr/>
          <p:nvPr/>
        </p:nvSpPr>
        <p:spPr>
          <a:xfrm>
            <a:off x="3381451" y="1691640"/>
            <a:ext cx="457200" cy="457200"/>
          </a:xfrm>
          <a:prstGeom prst="rect">
            <a:avLst/>
          </a:prstGeom>
          <a:noFill/>
          <a:ln/>
        </p:spPr>
        <p:txBody>
          <a:bodyPr wrap="square" lIns="0" tIns="0" rIns="0" bIns="0" rtlCol="0" anchor="ctr"/>
          <a:lstStyle/>
          <a:p>
            <a:pPr marL="0" indent="0">
              <a:buNone/>
            </a:pPr>
            <a:r>
              <a:rPr lang="en-US" sz="2400" b="1" dirty="0">
                <a:solidFill>
                  <a:srgbClr val="01696F"/>
                </a:solidFill>
                <a:latin typeface="Trebuchet MS" pitchFamily="34" charset="0"/>
                <a:ea typeface="Trebuchet MS" pitchFamily="34" charset="-122"/>
                <a:cs typeface="Trebuchet MS" pitchFamily="34" charset="-120"/>
              </a:rPr>
              <a:t>3</a:t>
            </a:r>
            <a:endParaRPr lang="en-US" sz="2400" dirty="0"/>
          </a:p>
        </p:txBody>
      </p:sp>
      <p:sp>
        <p:nvSpPr>
          <p:cNvPr id="14" name="Text 12"/>
          <p:cNvSpPr/>
          <p:nvPr/>
        </p:nvSpPr>
        <p:spPr>
          <a:xfrm>
            <a:off x="3381451" y="2194560"/>
            <a:ext cx="987552" cy="36576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Carousel</a:t>
            </a:r>
            <a:endParaRPr lang="en-US" sz="1400" dirty="0"/>
          </a:p>
        </p:txBody>
      </p:sp>
      <p:sp>
        <p:nvSpPr>
          <p:cNvPr id="15" name="Text 13"/>
          <p:cNvSpPr/>
          <p:nvPr/>
        </p:nvSpPr>
        <p:spPr>
          <a:xfrm>
            <a:off x="3381451" y="2606040"/>
            <a:ext cx="987552" cy="914400"/>
          </a:xfrm>
          <a:prstGeom prst="rect">
            <a:avLst/>
          </a:prstGeom>
          <a:noFill/>
          <a:ln/>
        </p:spPr>
        <p:txBody>
          <a:bodyPr wrap="square" lIns="0" tIns="0" rIns="0" bIns="0" rtlCol="0" anchor="t"/>
          <a:lstStyle/>
          <a:p>
            <a:pPr marL="0" indent="0">
              <a:buNone/>
            </a:pPr>
            <a:r>
              <a:rPr lang="en-US" sz="1200" dirty="0">
                <a:solidFill>
                  <a:srgbClr val="5F5E59"/>
                </a:solidFill>
                <a:latin typeface="Calibri" pitchFamily="34" charset="0"/>
                <a:ea typeface="Calibri" pitchFamily="34" charset="-122"/>
                <a:cs typeface="Calibri" pitchFamily="34" charset="-120"/>
              </a:rPr>
              <a:t>Servo advances one 45° bin</a:t>
            </a:r>
            <a:endParaRPr lang="en-US" sz="1200" dirty="0"/>
          </a:p>
        </p:txBody>
      </p:sp>
      <p:sp>
        <p:nvSpPr>
          <p:cNvPr id="16" name="Shape 14"/>
          <p:cNvSpPr/>
          <p:nvPr/>
        </p:nvSpPr>
        <p:spPr>
          <a:xfrm>
            <a:off x="4637837" y="1554480"/>
            <a:ext cx="1261872" cy="2103120"/>
          </a:xfrm>
          <a:prstGeom prst="roundRect">
            <a:avLst>
              <a:gd name="adj" fmla="val 5797"/>
            </a:avLst>
          </a:prstGeom>
          <a:solidFill>
            <a:srgbClr val="FFFFFF"/>
          </a:solidFill>
          <a:ln w="9525">
            <a:solidFill>
              <a:srgbClr val="D4D1CA"/>
            </a:solidFill>
            <a:prstDash val="solid"/>
          </a:ln>
        </p:spPr>
        <p:txBody>
          <a:bodyPr/>
          <a:lstStyle/>
          <a:p>
            <a:endParaRPr lang="en-US"/>
          </a:p>
        </p:txBody>
      </p:sp>
      <p:sp>
        <p:nvSpPr>
          <p:cNvPr id="17" name="Text 15"/>
          <p:cNvSpPr/>
          <p:nvPr/>
        </p:nvSpPr>
        <p:spPr>
          <a:xfrm>
            <a:off x="4774997" y="1691640"/>
            <a:ext cx="457200" cy="457200"/>
          </a:xfrm>
          <a:prstGeom prst="rect">
            <a:avLst/>
          </a:prstGeom>
          <a:noFill/>
          <a:ln/>
        </p:spPr>
        <p:txBody>
          <a:bodyPr wrap="square" lIns="0" tIns="0" rIns="0" bIns="0" rtlCol="0" anchor="ctr"/>
          <a:lstStyle/>
          <a:p>
            <a:pPr marL="0" indent="0">
              <a:buNone/>
            </a:pPr>
            <a:r>
              <a:rPr lang="en-US" sz="2400" b="1" dirty="0">
                <a:solidFill>
                  <a:srgbClr val="01696F"/>
                </a:solidFill>
                <a:latin typeface="Trebuchet MS" pitchFamily="34" charset="0"/>
                <a:ea typeface="Trebuchet MS" pitchFamily="34" charset="-122"/>
                <a:cs typeface="Trebuchet MS" pitchFamily="34" charset="-120"/>
              </a:rPr>
              <a:t>4</a:t>
            </a:r>
            <a:endParaRPr lang="en-US" sz="2400" dirty="0"/>
          </a:p>
        </p:txBody>
      </p:sp>
      <p:sp>
        <p:nvSpPr>
          <p:cNvPr id="18" name="Text 16"/>
          <p:cNvSpPr/>
          <p:nvPr/>
        </p:nvSpPr>
        <p:spPr>
          <a:xfrm>
            <a:off x="4774997" y="2194560"/>
            <a:ext cx="987552" cy="36576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Pill check</a:t>
            </a:r>
            <a:endParaRPr lang="en-US" sz="1400" dirty="0"/>
          </a:p>
        </p:txBody>
      </p:sp>
      <p:sp>
        <p:nvSpPr>
          <p:cNvPr id="19" name="Text 17"/>
          <p:cNvSpPr/>
          <p:nvPr/>
        </p:nvSpPr>
        <p:spPr>
          <a:xfrm>
            <a:off x="4774997" y="2606040"/>
            <a:ext cx="987552" cy="914400"/>
          </a:xfrm>
          <a:prstGeom prst="rect">
            <a:avLst/>
          </a:prstGeom>
          <a:noFill/>
          <a:ln/>
        </p:spPr>
        <p:txBody>
          <a:bodyPr wrap="square" lIns="0" tIns="0" rIns="0" bIns="0" rtlCol="0" anchor="t"/>
          <a:lstStyle/>
          <a:p>
            <a:pPr marL="0" indent="0">
              <a:buNone/>
            </a:pPr>
            <a:r>
              <a:rPr lang="en-US" sz="1200" dirty="0">
                <a:solidFill>
                  <a:srgbClr val="5F5E59"/>
                </a:solidFill>
                <a:latin typeface="Calibri" pitchFamily="34" charset="0"/>
                <a:ea typeface="Calibri" pitchFamily="34" charset="-122"/>
                <a:cs typeface="Calibri" pitchFamily="34" charset="-120"/>
              </a:rPr>
              <a:t>Count delta in tray, 3 s timeout</a:t>
            </a:r>
            <a:endParaRPr lang="en-US" sz="1200" dirty="0"/>
          </a:p>
        </p:txBody>
      </p:sp>
      <p:sp>
        <p:nvSpPr>
          <p:cNvPr id="20" name="Shape 18"/>
          <p:cNvSpPr/>
          <p:nvPr/>
        </p:nvSpPr>
        <p:spPr>
          <a:xfrm>
            <a:off x="6031382" y="1554480"/>
            <a:ext cx="1261872" cy="2103120"/>
          </a:xfrm>
          <a:prstGeom prst="roundRect">
            <a:avLst>
              <a:gd name="adj" fmla="val 5797"/>
            </a:avLst>
          </a:prstGeom>
          <a:solidFill>
            <a:srgbClr val="E3EEEE"/>
          </a:solidFill>
          <a:ln w="9525">
            <a:solidFill>
              <a:srgbClr val="D4D1CA"/>
            </a:solidFill>
            <a:prstDash val="solid"/>
          </a:ln>
        </p:spPr>
        <p:txBody>
          <a:bodyPr/>
          <a:lstStyle/>
          <a:p>
            <a:endParaRPr lang="en-US"/>
          </a:p>
        </p:txBody>
      </p:sp>
      <p:sp>
        <p:nvSpPr>
          <p:cNvPr id="21" name="Text 19"/>
          <p:cNvSpPr/>
          <p:nvPr/>
        </p:nvSpPr>
        <p:spPr>
          <a:xfrm>
            <a:off x="6168542" y="1691640"/>
            <a:ext cx="457200" cy="457200"/>
          </a:xfrm>
          <a:prstGeom prst="rect">
            <a:avLst/>
          </a:prstGeom>
          <a:noFill/>
          <a:ln/>
        </p:spPr>
        <p:txBody>
          <a:bodyPr wrap="square" lIns="0" tIns="0" rIns="0" bIns="0" rtlCol="0" anchor="ctr"/>
          <a:lstStyle/>
          <a:p>
            <a:pPr marL="0" indent="0">
              <a:buNone/>
            </a:pPr>
            <a:r>
              <a:rPr lang="en-US" sz="2400" b="1" dirty="0">
                <a:solidFill>
                  <a:srgbClr val="01696F"/>
                </a:solidFill>
                <a:latin typeface="Trebuchet MS" pitchFamily="34" charset="0"/>
                <a:ea typeface="Trebuchet MS" pitchFamily="34" charset="-122"/>
                <a:cs typeface="Trebuchet MS" pitchFamily="34" charset="-120"/>
              </a:rPr>
              <a:t>5</a:t>
            </a:r>
            <a:endParaRPr lang="en-US" sz="2400" dirty="0"/>
          </a:p>
        </p:txBody>
      </p:sp>
      <p:sp>
        <p:nvSpPr>
          <p:cNvPr id="22" name="Text 20"/>
          <p:cNvSpPr/>
          <p:nvPr/>
        </p:nvSpPr>
        <p:spPr>
          <a:xfrm>
            <a:off x="6168542" y="2194560"/>
            <a:ext cx="987552" cy="36576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Log</a:t>
            </a:r>
            <a:endParaRPr lang="en-US" sz="1400" dirty="0"/>
          </a:p>
        </p:txBody>
      </p:sp>
      <p:sp>
        <p:nvSpPr>
          <p:cNvPr id="23" name="Text 21"/>
          <p:cNvSpPr/>
          <p:nvPr/>
        </p:nvSpPr>
        <p:spPr>
          <a:xfrm>
            <a:off x="6168542" y="2606040"/>
            <a:ext cx="987552" cy="914400"/>
          </a:xfrm>
          <a:prstGeom prst="rect">
            <a:avLst/>
          </a:prstGeom>
          <a:noFill/>
          <a:ln/>
        </p:spPr>
        <p:txBody>
          <a:bodyPr wrap="square" lIns="0" tIns="0" rIns="0" bIns="0" rtlCol="0" anchor="t"/>
          <a:lstStyle/>
          <a:p>
            <a:pPr marL="0" indent="0">
              <a:buNone/>
            </a:pPr>
            <a:r>
              <a:rPr lang="en-US" sz="1200" dirty="0">
                <a:solidFill>
                  <a:srgbClr val="5F5E59"/>
                </a:solidFill>
                <a:latin typeface="Calibri" pitchFamily="34" charset="0"/>
                <a:ea typeface="Calibri" pitchFamily="34" charset="-122"/>
                <a:cs typeface="Calibri" pitchFamily="34" charset="-120"/>
              </a:rPr>
              <a:t>Local JSONL + Bronze insert</a:t>
            </a:r>
            <a:endParaRPr lang="en-US" sz="1200" dirty="0"/>
          </a:p>
        </p:txBody>
      </p:sp>
      <p:sp>
        <p:nvSpPr>
          <p:cNvPr id="24" name="Shape 22"/>
          <p:cNvSpPr/>
          <p:nvPr/>
        </p:nvSpPr>
        <p:spPr>
          <a:xfrm>
            <a:off x="7424928" y="1554480"/>
            <a:ext cx="1261872" cy="2103120"/>
          </a:xfrm>
          <a:prstGeom prst="roundRect">
            <a:avLst>
              <a:gd name="adj" fmla="val 5797"/>
            </a:avLst>
          </a:prstGeom>
          <a:solidFill>
            <a:srgbClr val="E3EEEE"/>
          </a:solidFill>
          <a:ln w="9525">
            <a:solidFill>
              <a:srgbClr val="D4D1CA"/>
            </a:solidFill>
            <a:prstDash val="solid"/>
          </a:ln>
        </p:spPr>
        <p:txBody>
          <a:bodyPr/>
          <a:lstStyle/>
          <a:p>
            <a:endParaRPr lang="en-US"/>
          </a:p>
        </p:txBody>
      </p:sp>
      <p:sp>
        <p:nvSpPr>
          <p:cNvPr id="25" name="Text 23"/>
          <p:cNvSpPr/>
          <p:nvPr/>
        </p:nvSpPr>
        <p:spPr>
          <a:xfrm>
            <a:off x="7562088" y="1691640"/>
            <a:ext cx="457200" cy="457200"/>
          </a:xfrm>
          <a:prstGeom prst="rect">
            <a:avLst/>
          </a:prstGeom>
          <a:noFill/>
          <a:ln/>
        </p:spPr>
        <p:txBody>
          <a:bodyPr wrap="square" lIns="0" tIns="0" rIns="0" bIns="0" rtlCol="0" anchor="ctr"/>
          <a:lstStyle/>
          <a:p>
            <a:pPr marL="0" indent="0">
              <a:buNone/>
            </a:pPr>
            <a:r>
              <a:rPr lang="en-US" sz="2400" b="1" dirty="0">
                <a:solidFill>
                  <a:srgbClr val="01696F"/>
                </a:solidFill>
                <a:latin typeface="Trebuchet MS" pitchFamily="34" charset="0"/>
                <a:ea typeface="Trebuchet MS" pitchFamily="34" charset="-122"/>
                <a:cs typeface="Trebuchet MS" pitchFamily="34" charset="-120"/>
              </a:rPr>
              <a:t>6</a:t>
            </a:r>
            <a:endParaRPr lang="en-US" sz="2400" dirty="0"/>
          </a:p>
        </p:txBody>
      </p:sp>
      <p:sp>
        <p:nvSpPr>
          <p:cNvPr id="26" name="Text 24"/>
          <p:cNvSpPr/>
          <p:nvPr/>
        </p:nvSpPr>
        <p:spPr>
          <a:xfrm>
            <a:off x="7562088" y="2194560"/>
            <a:ext cx="987552" cy="36576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Analyze</a:t>
            </a:r>
            <a:endParaRPr lang="en-US" sz="1400" dirty="0"/>
          </a:p>
        </p:txBody>
      </p:sp>
      <p:sp>
        <p:nvSpPr>
          <p:cNvPr id="27" name="Text 25"/>
          <p:cNvSpPr/>
          <p:nvPr/>
        </p:nvSpPr>
        <p:spPr>
          <a:xfrm>
            <a:off x="7562088" y="2606040"/>
            <a:ext cx="987552" cy="914400"/>
          </a:xfrm>
          <a:prstGeom prst="rect">
            <a:avLst/>
          </a:prstGeom>
          <a:noFill/>
          <a:ln/>
        </p:spPr>
        <p:txBody>
          <a:bodyPr wrap="square" lIns="0" tIns="0" rIns="0" bIns="0" rtlCol="0" anchor="t"/>
          <a:lstStyle/>
          <a:p>
            <a:pPr marL="0" indent="0">
              <a:buNone/>
            </a:pPr>
            <a:r>
              <a:rPr lang="en-US" sz="1200" dirty="0">
                <a:solidFill>
                  <a:srgbClr val="5F5E59"/>
                </a:solidFill>
                <a:latin typeface="Calibri" pitchFamily="34" charset="0"/>
                <a:ea typeface="Calibri" pitchFamily="34" charset="-122"/>
                <a:cs typeface="Calibri" pitchFamily="34" charset="-120"/>
              </a:rPr>
              <a:t>Silver, Gold, dashboard</a:t>
            </a:r>
            <a:endParaRPr lang="en-US" sz="1200" dirty="0"/>
          </a:p>
        </p:txBody>
      </p:sp>
      <p:sp>
        <p:nvSpPr>
          <p:cNvPr id="28" name="Text 26"/>
          <p:cNvSpPr/>
          <p:nvPr/>
        </p:nvSpPr>
        <p:spPr>
          <a:xfrm>
            <a:off x="457200" y="3840480"/>
            <a:ext cx="8229600" cy="548640"/>
          </a:xfrm>
          <a:prstGeom prst="rect">
            <a:avLst/>
          </a:prstGeom>
          <a:noFill/>
          <a:ln/>
        </p:spPr>
        <p:txBody>
          <a:bodyPr wrap="square" lIns="0" tIns="0" rIns="0" bIns="0" rtlCol="0" anchor="ctr"/>
          <a:lstStyle/>
          <a:p>
            <a:pPr marL="0" indent="0">
              <a:buNone/>
            </a:pPr>
            <a:r>
              <a:rPr lang="en-US" sz="1200" dirty="0">
                <a:solidFill>
                  <a:srgbClr val="28251D"/>
                </a:solidFill>
                <a:latin typeface="Calibri" pitchFamily="34" charset="0"/>
                <a:ea typeface="Calibri" pitchFamily="34" charset="-122"/>
                <a:cs typeface="Calibri" pitchFamily="34" charset="-120"/>
              </a:rPr>
              <a:t>Bronze row:  event_ts, patient_id, face_match_confidence, pills_detected,</a:t>
            </a:r>
            <a:endParaRPr lang="en-US" sz="1200" dirty="0"/>
          </a:p>
          <a:p>
            <a:pPr marL="0" indent="0">
              <a:buNone/>
            </a:pPr>
            <a:r>
              <a:rPr lang="en-US" sz="1200" dirty="0">
                <a:solidFill>
                  <a:srgbClr val="28251D"/>
                </a:solidFill>
                <a:latin typeface="Calibri" pitchFamily="34" charset="0"/>
                <a:ea typeface="Calibri" pitchFamily="34" charset="-122"/>
                <a:cs typeface="Calibri" pitchFamily="34" charset="-120"/>
              </a:rPr>
              <a:t>dispense_latency_ms, event_status, hardware_source, retry_count</a:t>
            </a:r>
            <a:endParaRPr lang="en-US" sz="1200" dirty="0"/>
          </a:p>
        </p:txBody>
      </p:sp>
      <p:sp>
        <p:nvSpPr>
          <p:cNvPr id="29" name="Text 27"/>
          <p:cNvSpPr/>
          <p:nvPr/>
        </p:nvSpPr>
        <p:spPr>
          <a:xfrm>
            <a:off x="457200" y="4773168"/>
            <a:ext cx="8229600" cy="228600"/>
          </a:xfrm>
          <a:prstGeom prst="rect">
            <a:avLst/>
          </a:prstGeom>
          <a:noFill/>
          <a:ln/>
        </p:spPr>
        <p:txBody>
          <a:bodyPr wrap="square" lIns="0" tIns="0" rIns="0" bIns="0" rtlCol="0" anchor="ctr"/>
          <a:lstStyle/>
          <a:p>
            <a:pPr marL="0" indent="0">
              <a:buNone/>
            </a:pPr>
            <a:r>
              <a:rPr lang="en-US" sz="900" dirty="0">
                <a:solidFill>
                  <a:srgbClr val="5F5E59"/>
                </a:solidFill>
                <a:latin typeface="Calibri" pitchFamily="34" charset="0"/>
                <a:ea typeface="Calibri" pitchFamily="34" charset="-122"/>
                <a:cs typeface="Calibri" pitchFamily="34" charset="-120"/>
              </a:rPr>
              <a:t>Source: </a:t>
            </a:r>
            <a:r>
              <a:rPr lang="en-US" sz="900" u="sng" dirty="0">
                <a:solidFill>
                  <a:srgbClr val="01696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AutomatedPillDispenser repo</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HIGHLIGHT 1: MECHANISM</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The v3 design is built around one number: ±6.2° of parking margin</a:t>
            </a:r>
            <a:endParaRPr lang="en-US" sz="2400" dirty="0"/>
          </a:p>
        </p:txBody>
      </p:sp>
      <p:sp>
        <p:nvSpPr>
          <p:cNvPr id="4" name="Shape 2"/>
          <p:cNvSpPr/>
          <p:nvPr/>
        </p:nvSpPr>
        <p:spPr>
          <a:xfrm>
            <a:off x="457200" y="1280160"/>
            <a:ext cx="5120640" cy="2743200"/>
          </a:xfrm>
          <a:prstGeom prst="roundRect">
            <a:avLst>
              <a:gd name="adj" fmla="val 2667"/>
            </a:avLst>
          </a:prstGeom>
          <a:solidFill>
            <a:srgbClr val="FFFFFF"/>
          </a:solidFill>
          <a:ln w="9525">
            <a:solidFill>
              <a:srgbClr val="D4D1CA"/>
            </a:solidFill>
            <a:prstDash val="solid"/>
          </a:ln>
        </p:spPr>
        <p:txBody>
          <a:bodyPr/>
          <a:lstStyle/>
          <a:p>
            <a:endParaRPr lang="en-US"/>
          </a:p>
        </p:txBody>
      </p:sp>
      <p:pic>
        <p:nvPicPr>
          <p:cNvPr id="5" name="Image 0" descr="cut.png"/>
          <p:cNvPicPr>
            <a:picLocks noChangeAspect="1"/>
          </p:cNvPicPr>
          <p:nvPr/>
        </p:nvPicPr>
        <p:blipFill>
          <a:blip r:embed="rId3"/>
          <a:stretch>
            <a:fillRect/>
          </a:stretch>
        </p:blipFill>
        <p:spPr>
          <a:xfrm>
            <a:off x="1883664" y="1325880"/>
            <a:ext cx="2267712" cy="2651760"/>
          </a:xfrm>
          <a:prstGeom prst="rect">
            <a:avLst/>
          </a:prstGeom>
        </p:spPr>
      </p:pic>
      <p:sp>
        <p:nvSpPr>
          <p:cNvPr id="6" name="Text 3"/>
          <p:cNvSpPr/>
          <p:nvPr/>
        </p:nvSpPr>
        <p:spPr>
          <a:xfrm>
            <a:off x="5806440" y="1280160"/>
            <a:ext cx="2926080" cy="274320"/>
          </a:xfrm>
          <a:prstGeom prst="rect">
            <a:avLst/>
          </a:prstGeom>
          <a:noFill/>
          <a:ln/>
        </p:spPr>
        <p:txBody>
          <a:bodyPr wrap="square" lIns="0" tIns="0" rIns="0" bIns="0" rtlCol="0" anchor="ctr"/>
          <a:lstStyle/>
          <a:p>
            <a:pPr marL="0" indent="0">
              <a:buNone/>
            </a:pPr>
            <a:r>
              <a:rPr lang="en-US" sz="1400" b="1" dirty="0">
                <a:solidFill>
                  <a:srgbClr val="01696F"/>
                </a:solidFill>
                <a:latin typeface="Trebuchet MS" pitchFamily="34" charset="0"/>
                <a:ea typeface="Trebuchet MS" pitchFamily="34" charset="-122"/>
                <a:cs typeface="Trebuchet MS" pitchFamily="34" charset="-120"/>
              </a:rPr>
              <a:t>8 bins, 45° steps</a:t>
            </a:r>
            <a:endParaRPr lang="en-US" sz="1400" dirty="0"/>
          </a:p>
        </p:txBody>
      </p:sp>
      <p:sp>
        <p:nvSpPr>
          <p:cNvPr id="7" name="Text 4"/>
          <p:cNvSpPr/>
          <p:nvPr/>
        </p:nvSpPr>
        <p:spPr>
          <a:xfrm>
            <a:off x="5806440" y="1554480"/>
            <a:ext cx="2926080" cy="384048"/>
          </a:xfrm>
          <a:prstGeom prst="rect">
            <a:avLst/>
          </a:prstGeom>
          <a:noFill/>
          <a:ln/>
        </p:spPr>
        <p:txBody>
          <a:bodyPr wrap="square" lIns="0" tIns="0" rIns="0" bIns="0" rtlCol="0" anchor="t"/>
          <a:lstStyle/>
          <a:p>
            <a:pPr marL="0" indent="0">
              <a:buNone/>
            </a:pPr>
            <a:r>
              <a:rPr lang="en-US" sz="1150" dirty="0">
                <a:solidFill>
                  <a:srgbClr val="28251D"/>
                </a:solidFill>
                <a:latin typeface="Calibri" pitchFamily="34" charset="0"/>
                <a:ea typeface="Calibri" pitchFamily="34" charset="-122"/>
                <a:cs typeface="Calibri" pitchFamily="34" charset="-120"/>
              </a:rPr>
              <a:t>Integral deck, open compartments, one positional servo</a:t>
            </a:r>
            <a:endParaRPr lang="en-US" sz="1150" dirty="0"/>
          </a:p>
        </p:txBody>
      </p:sp>
      <p:sp>
        <p:nvSpPr>
          <p:cNvPr id="8" name="Text 5"/>
          <p:cNvSpPr/>
          <p:nvPr/>
        </p:nvSpPr>
        <p:spPr>
          <a:xfrm>
            <a:off x="5806440" y="1956816"/>
            <a:ext cx="2926080" cy="274320"/>
          </a:xfrm>
          <a:prstGeom prst="rect">
            <a:avLst/>
          </a:prstGeom>
          <a:noFill/>
          <a:ln/>
        </p:spPr>
        <p:txBody>
          <a:bodyPr wrap="square" lIns="0" tIns="0" rIns="0" bIns="0" rtlCol="0" anchor="ctr"/>
          <a:lstStyle/>
          <a:p>
            <a:pPr marL="0" indent="0">
              <a:buNone/>
            </a:pPr>
            <a:r>
              <a:rPr lang="en-US" sz="1400" b="1" dirty="0">
                <a:solidFill>
                  <a:srgbClr val="01696F"/>
                </a:solidFill>
                <a:latin typeface="Trebuchet MS" pitchFamily="34" charset="0"/>
                <a:ea typeface="Trebuchet MS" pitchFamily="34" charset="-122"/>
                <a:cs typeface="Trebuchet MS" pitchFamily="34" charset="-120"/>
              </a:rPr>
              <a:t>24° wedge</a:t>
            </a:r>
            <a:endParaRPr lang="en-US" sz="1400" dirty="0"/>
          </a:p>
        </p:txBody>
      </p:sp>
      <p:sp>
        <p:nvSpPr>
          <p:cNvPr id="9" name="Text 6"/>
          <p:cNvSpPr/>
          <p:nvPr/>
        </p:nvSpPr>
        <p:spPr>
          <a:xfrm>
            <a:off x="5806440" y="2231136"/>
            <a:ext cx="2926080" cy="384048"/>
          </a:xfrm>
          <a:prstGeom prst="rect">
            <a:avLst/>
          </a:prstGeom>
          <a:noFill/>
          <a:ln/>
        </p:spPr>
        <p:txBody>
          <a:bodyPr wrap="square" lIns="0" tIns="0" rIns="0" bIns="0" rtlCol="0" anchor="t"/>
          <a:lstStyle/>
          <a:p>
            <a:pPr marL="0" indent="0">
              <a:buNone/>
            </a:pPr>
            <a:r>
              <a:rPr lang="en-US" sz="1150" dirty="0">
                <a:solidFill>
                  <a:srgbClr val="28251D"/>
                </a:solidFill>
                <a:latin typeface="Calibri" pitchFamily="34" charset="0"/>
                <a:ea typeface="Calibri" pitchFamily="34" charset="-122"/>
                <a:cs typeface="Calibri" pitchFamily="34" charset="-120"/>
              </a:rPr>
              <a:t>Single opening over the chute; the emptied bin parks on it</a:t>
            </a:r>
            <a:endParaRPr lang="en-US" sz="1150" dirty="0"/>
          </a:p>
        </p:txBody>
      </p:sp>
      <p:sp>
        <p:nvSpPr>
          <p:cNvPr id="10" name="Text 7"/>
          <p:cNvSpPr/>
          <p:nvPr/>
        </p:nvSpPr>
        <p:spPr>
          <a:xfrm>
            <a:off x="5806440" y="2633472"/>
            <a:ext cx="2926080" cy="274320"/>
          </a:xfrm>
          <a:prstGeom prst="rect">
            <a:avLst/>
          </a:prstGeom>
          <a:noFill/>
          <a:ln/>
        </p:spPr>
        <p:txBody>
          <a:bodyPr wrap="square" lIns="0" tIns="0" rIns="0" bIns="0" rtlCol="0" anchor="ctr"/>
          <a:lstStyle/>
          <a:p>
            <a:pPr marL="0" indent="0">
              <a:buNone/>
            </a:pPr>
            <a:r>
              <a:rPr lang="en-US" sz="1400" b="1" dirty="0">
                <a:solidFill>
                  <a:srgbClr val="01696F"/>
                </a:solidFill>
                <a:latin typeface="Trebuchet MS" pitchFamily="34" charset="0"/>
                <a:ea typeface="Trebuchet MS" pitchFamily="34" charset="-122"/>
                <a:cs typeface="Trebuchet MS" pitchFamily="34" charset="-120"/>
              </a:rPr>
              <a:t>±2.58° play</a:t>
            </a:r>
            <a:endParaRPr lang="en-US" sz="1400" dirty="0"/>
          </a:p>
        </p:txBody>
      </p:sp>
      <p:sp>
        <p:nvSpPr>
          <p:cNvPr id="11" name="Text 8"/>
          <p:cNvSpPr/>
          <p:nvPr/>
        </p:nvSpPr>
        <p:spPr>
          <a:xfrm>
            <a:off x="5806440" y="2907792"/>
            <a:ext cx="2926080" cy="384048"/>
          </a:xfrm>
          <a:prstGeom prst="rect">
            <a:avLst/>
          </a:prstGeom>
          <a:noFill/>
          <a:ln/>
        </p:spPr>
        <p:txBody>
          <a:bodyPr wrap="square" lIns="0" tIns="0" rIns="0" bIns="0" rtlCol="0" anchor="t"/>
          <a:lstStyle/>
          <a:p>
            <a:pPr marL="0" indent="0">
              <a:buNone/>
            </a:pPr>
            <a:r>
              <a:rPr lang="en-US" sz="1150" dirty="0">
                <a:solidFill>
                  <a:srgbClr val="28251D"/>
                </a:solidFill>
                <a:latin typeface="Calibri" pitchFamily="34" charset="0"/>
                <a:ea typeface="Calibri" pitchFamily="34" charset="-122"/>
                <a:cs typeface="Calibri" pitchFamily="34" charset="-120"/>
              </a:rPr>
              <a:t>12 mm hex coupling instead of 7 mm (which would be ±6.28°)</a:t>
            </a:r>
            <a:endParaRPr lang="en-US" sz="1150" dirty="0"/>
          </a:p>
        </p:txBody>
      </p:sp>
      <p:sp>
        <p:nvSpPr>
          <p:cNvPr id="12" name="Text 9"/>
          <p:cNvSpPr/>
          <p:nvPr/>
        </p:nvSpPr>
        <p:spPr>
          <a:xfrm>
            <a:off x="5806440" y="3310128"/>
            <a:ext cx="2926080" cy="274320"/>
          </a:xfrm>
          <a:prstGeom prst="rect">
            <a:avLst/>
          </a:prstGeom>
          <a:noFill/>
          <a:ln/>
        </p:spPr>
        <p:txBody>
          <a:bodyPr wrap="square" lIns="0" tIns="0" rIns="0" bIns="0" rtlCol="0" anchor="ctr"/>
          <a:lstStyle/>
          <a:p>
            <a:pPr marL="0" indent="0">
              <a:buNone/>
            </a:pPr>
            <a:r>
              <a:rPr lang="en-US" sz="1400" b="1" dirty="0">
                <a:solidFill>
                  <a:srgbClr val="01696F"/>
                </a:solidFill>
                <a:latin typeface="Trebuchet MS" pitchFamily="34" charset="0"/>
                <a:ea typeface="Trebuchet MS" pitchFamily="34" charset="-122"/>
                <a:cs typeface="Trebuchet MS" pitchFamily="34" charset="-120"/>
              </a:rPr>
              <a:t>~6x torque</a:t>
            </a:r>
            <a:endParaRPr lang="en-US" sz="1400" dirty="0"/>
          </a:p>
        </p:txBody>
      </p:sp>
      <p:sp>
        <p:nvSpPr>
          <p:cNvPr id="13" name="Text 10"/>
          <p:cNvSpPr/>
          <p:nvPr/>
        </p:nvSpPr>
        <p:spPr>
          <a:xfrm>
            <a:off x="5806440" y="3584448"/>
            <a:ext cx="2926080" cy="384048"/>
          </a:xfrm>
          <a:prstGeom prst="rect">
            <a:avLst/>
          </a:prstGeom>
          <a:noFill/>
          <a:ln/>
        </p:spPr>
        <p:txBody>
          <a:bodyPr wrap="square" lIns="0" tIns="0" rIns="0" bIns="0" rtlCol="0" anchor="t"/>
          <a:lstStyle/>
          <a:p>
            <a:pPr marL="0" indent="0">
              <a:buNone/>
            </a:pPr>
            <a:r>
              <a:rPr lang="en-US" sz="1150" dirty="0">
                <a:solidFill>
                  <a:srgbClr val="28251D"/>
                </a:solidFill>
                <a:latin typeface="Calibri" pitchFamily="34" charset="0"/>
                <a:ea typeface="Calibri" pitchFamily="34" charset="-122"/>
                <a:cs typeface="Calibri" pitchFamily="34" charset="-120"/>
              </a:rPr>
              <a:t>MG90S headroom, so the error budget drives the design</a:t>
            </a:r>
            <a:endParaRPr lang="en-US" sz="1150" dirty="0"/>
          </a:p>
        </p:txBody>
      </p:sp>
      <p:sp>
        <p:nvSpPr>
          <p:cNvPr id="14" name="Text 11"/>
          <p:cNvSpPr/>
          <p:nvPr/>
        </p:nvSpPr>
        <p:spPr>
          <a:xfrm>
            <a:off x="457200" y="4114800"/>
            <a:ext cx="8229600" cy="457200"/>
          </a:xfrm>
          <a:prstGeom prst="rect">
            <a:avLst/>
          </a:prstGeom>
          <a:noFill/>
          <a:ln/>
        </p:spPr>
        <p:txBody>
          <a:bodyPr wrap="square" lIns="0" tIns="0" rIns="0" bIns="0" rtlCol="0" anchor="ctr"/>
          <a:lstStyle/>
          <a:p>
            <a:pPr marL="0" indent="0">
              <a:buNone/>
            </a:pPr>
            <a:r>
              <a:rPr lang="en-US" sz="1300" dirty="0">
                <a:solidFill>
                  <a:srgbClr val="28251D"/>
                </a:solidFill>
                <a:latin typeface="Calibri" pitchFamily="34" charset="0"/>
                <a:ea typeface="Calibri" pitchFamily="34" charset="-122"/>
                <a:cs typeface="Calibri" pitchFamily="34" charset="-120"/>
              </a:rPr>
              <a:t>Seven printable parts plus three test coupons; firmware geometry is generated from the CAD so the two cannot drift.</a:t>
            </a:r>
            <a:endParaRPr lang="en-US" sz="1300" dirty="0"/>
          </a:p>
        </p:txBody>
      </p:sp>
      <p:sp>
        <p:nvSpPr>
          <p:cNvPr id="15" name="Text 12"/>
          <p:cNvSpPr/>
          <p:nvPr/>
        </p:nvSpPr>
        <p:spPr>
          <a:xfrm>
            <a:off x="457200" y="4773168"/>
            <a:ext cx="8229600" cy="228600"/>
          </a:xfrm>
          <a:prstGeom prst="rect">
            <a:avLst/>
          </a:prstGeom>
          <a:noFill/>
          <a:ln/>
        </p:spPr>
        <p:txBody>
          <a:bodyPr wrap="square" lIns="0" tIns="0" rIns="0" bIns="0" rtlCol="0" anchor="ctr"/>
          <a:lstStyle/>
          <a:p>
            <a:pPr marL="0" indent="0">
              <a:buNone/>
            </a:pPr>
            <a:r>
              <a:rPr lang="en-US" sz="900" dirty="0">
                <a:solidFill>
                  <a:srgbClr val="5F5E59"/>
                </a:solidFill>
                <a:latin typeface="Calibri" pitchFamily="34" charset="0"/>
                <a:ea typeface="Calibri" pitchFamily="34" charset="-122"/>
                <a:cs typeface="Calibri" pitchFamily="34" charset="-120"/>
              </a:rPr>
              <a:t>Source: </a:t>
            </a:r>
            <a:r>
              <a:rPr lang="en-US" sz="900" u="sng" dirty="0">
                <a:solidFill>
                  <a:srgbClr val="01696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cad/v3 README</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firmware README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HIGHLIGHT 2: EDGE VISION AND FIRMWARE</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Vision decides when to dispense and whether it worked</a:t>
            </a:r>
            <a:endParaRPr lang="en-US" sz="2400" dirty="0"/>
          </a:p>
        </p:txBody>
      </p:sp>
      <p:sp>
        <p:nvSpPr>
          <p:cNvPr id="4" name="Shape 2"/>
          <p:cNvSpPr/>
          <p:nvPr/>
        </p:nvSpPr>
        <p:spPr>
          <a:xfrm>
            <a:off x="457200" y="1325880"/>
            <a:ext cx="2606040" cy="3200400"/>
          </a:xfrm>
          <a:prstGeom prst="roundRect">
            <a:avLst>
              <a:gd name="adj" fmla="val 2807"/>
            </a:avLst>
          </a:prstGeom>
          <a:solidFill>
            <a:srgbClr val="FFFFFF"/>
          </a:solidFill>
          <a:ln w="9525">
            <a:solidFill>
              <a:srgbClr val="D4D1CA"/>
            </a:solidFill>
            <a:prstDash val="solid"/>
          </a:ln>
        </p:spPr>
        <p:txBody>
          <a:bodyPr/>
          <a:lstStyle/>
          <a:p>
            <a:endParaRPr lang="en-US"/>
          </a:p>
        </p:txBody>
      </p:sp>
      <p:sp>
        <p:nvSpPr>
          <p:cNvPr id="5" name="Text 3"/>
          <p:cNvSpPr/>
          <p:nvPr/>
        </p:nvSpPr>
        <p:spPr>
          <a:xfrm>
            <a:off x="640080" y="1463040"/>
            <a:ext cx="2286000" cy="365760"/>
          </a:xfrm>
          <a:prstGeom prst="rect">
            <a:avLst/>
          </a:prstGeom>
          <a:noFill/>
          <a:ln/>
        </p:spPr>
        <p:txBody>
          <a:bodyPr wrap="square" lIns="0" tIns="0" rIns="0" bIns="0" rtlCol="0" anchor="ctr"/>
          <a:lstStyle/>
          <a:p>
            <a:pPr marL="0" indent="0">
              <a:buNone/>
            </a:pPr>
            <a:r>
              <a:rPr lang="en-US" sz="1600" b="1" dirty="0">
                <a:solidFill>
                  <a:srgbClr val="01696F"/>
                </a:solidFill>
                <a:latin typeface="Trebuchet MS" pitchFamily="34" charset="0"/>
                <a:ea typeface="Trebuchet MS" pitchFamily="34" charset="-122"/>
                <a:cs typeface="Trebuchet MS" pitchFamily="34" charset="-120"/>
              </a:rPr>
              <a:t>Face gate</a:t>
            </a:r>
            <a:endParaRPr lang="en-US" sz="1600" dirty="0"/>
          </a:p>
        </p:txBody>
      </p:sp>
      <p:sp>
        <p:nvSpPr>
          <p:cNvPr id="6" name="Text 4"/>
          <p:cNvSpPr/>
          <p:nvPr/>
        </p:nvSpPr>
        <p:spPr>
          <a:xfrm>
            <a:off x="640080" y="1920240"/>
            <a:ext cx="2286000" cy="24688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8251D"/>
                </a:solidFill>
                <a:latin typeface="Calibri" pitchFamily="34" charset="0"/>
                <a:ea typeface="Calibri" pitchFamily="34" charset="-122"/>
                <a:cs typeface="Calibri" pitchFamily="34" charset="-120"/>
              </a:rPr>
              <a:t>MediaPipe Tasks FaceDetector with a vendored BlazeFace short-range model</a:t>
            </a:r>
            <a:endParaRPr lang="en-US" sz="1250" dirty="0"/>
          </a:p>
          <a:p>
            <a:pPr marL="342900" indent="-342900">
              <a:spcAft>
                <a:spcPts val="800"/>
              </a:spcAft>
              <a:buSzPct val="100000"/>
              <a:buChar char="•"/>
            </a:pPr>
            <a:r>
              <a:rPr lang="en-US" sz="1250" dirty="0">
                <a:solidFill>
                  <a:srgbClr val="28251D"/>
                </a:solidFill>
                <a:latin typeface="Calibri" pitchFamily="34" charset="0"/>
                <a:ea typeface="Calibri" pitchFamily="34" charset="-122"/>
                <a:cs typeface="Calibri" pitchFamily="34" charset="-120"/>
              </a:rPr>
              <a:t>Reduced-resolution input and a settling phase for fast startup</a:t>
            </a:r>
            <a:endParaRPr lang="en-US" sz="1250" dirty="0"/>
          </a:p>
          <a:p>
            <a:pPr marL="342900" indent="-342900">
              <a:spcAft>
                <a:spcPts val="800"/>
              </a:spcAft>
              <a:buSzPct val="100000"/>
              <a:buChar char="•"/>
            </a:pPr>
            <a:r>
              <a:rPr lang="en-US" sz="1250" dirty="0">
                <a:solidFill>
                  <a:srgbClr val="28251D"/>
                </a:solidFill>
                <a:latin typeface="Calibri" pitchFamily="34" charset="0"/>
                <a:ea typeface="Calibri" pitchFamily="34" charset="-122"/>
                <a:cs typeface="Calibri" pitchFamily="34" charset="-120"/>
              </a:rPr>
              <a:t>DirectShow fallback for laptops whose camera will not open</a:t>
            </a:r>
            <a:endParaRPr lang="en-US" sz="1250" dirty="0"/>
          </a:p>
        </p:txBody>
      </p:sp>
      <p:sp>
        <p:nvSpPr>
          <p:cNvPr id="7" name="Shape 5"/>
          <p:cNvSpPr/>
          <p:nvPr/>
        </p:nvSpPr>
        <p:spPr>
          <a:xfrm>
            <a:off x="3246120" y="1325880"/>
            <a:ext cx="2606040" cy="3200400"/>
          </a:xfrm>
          <a:prstGeom prst="roundRect">
            <a:avLst>
              <a:gd name="adj" fmla="val 2807"/>
            </a:avLst>
          </a:prstGeom>
          <a:solidFill>
            <a:srgbClr val="FFFFFF"/>
          </a:solidFill>
          <a:ln w="9525">
            <a:solidFill>
              <a:srgbClr val="D4D1CA"/>
            </a:solidFill>
            <a:prstDash val="solid"/>
          </a:ln>
        </p:spPr>
        <p:txBody>
          <a:bodyPr/>
          <a:lstStyle/>
          <a:p>
            <a:endParaRPr lang="en-US"/>
          </a:p>
        </p:txBody>
      </p:sp>
      <p:sp>
        <p:nvSpPr>
          <p:cNvPr id="8" name="Text 6"/>
          <p:cNvSpPr/>
          <p:nvPr/>
        </p:nvSpPr>
        <p:spPr>
          <a:xfrm>
            <a:off x="3429000" y="1463040"/>
            <a:ext cx="2286000" cy="365760"/>
          </a:xfrm>
          <a:prstGeom prst="rect">
            <a:avLst/>
          </a:prstGeom>
          <a:noFill/>
          <a:ln/>
        </p:spPr>
        <p:txBody>
          <a:bodyPr wrap="square" lIns="0" tIns="0" rIns="0" bIns="0" rtlCol="0" anchor="ctr"/>
          <a:lstStyle/>
          <a:p>
            <a:pPr marL="0" indent="0">
              <a:buNone/>
            </a:pPr>
            <a:r>
              <a:rPr lang="en-US" sz="1600" b="1" dirty="0">
                <a:solidFill>
                  <a:srgbClr val="01696F"/>
                </a:solidFill>
                <a:latin typeface="Trebuchet MS" pitchFamily="34" charset="0"/>
                <a:ea typeface="Trebuchet MS" pitchFamily="34" charset="-122"/>
                <a:cs typeface="Trebuchet MS" pitchFamily="34" charset="-120"/>
              </a:rPr>
              <a:t>Pill verification</a:t>
            </a:r>
            <a:endParaRPr lang="en-US" sz="1600" dirty="0"/>
          </a:p>
        </p:txBody>
      </p:sp>
      <p:sp>
        <p:nvSpPr>
          <p:cNvPr id="9" name="Text 7"/>
          <p:cNvSpPr/>
          <p:nvPr/>
        </p:nvSpPr>
        <p:spPr>
          <a:xfrm>
            <a:off x="3429000" y="1920240"/>
            <a:ext cx="2286000" cy="24688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8251D"/>
                </a:solidFill>
                <a:latin typeface="Calibri" pitchFamily="34" charset="0"/>
                <a:ea typeface="Calibri" pitchFamily="34" charset="-122"/>
                <a:cs typeface="Calibri" pitchFamily="34" charset="-120"/>
              </a:rPr>
              <a:t>OpenCV HSV threshold plus contour area filter (80 to 8,000 px)</a:t>
            </a:r>
            <a:endParaRPr lang="en-US" sz="1250" dirty="0"/>
          </a:p>
          <a:p>
            <a:pPr marL="342900" indent="-342900">
              <a:spcAft>
                <a:spcPts val="800"/>
              </a:spcAft>
              <a:buSzPct val="100000"/>
              <a:buChar char="•"/>
            </a:pPr>
            <a:r>
              <a:rPr lang="en-US" sz="1250" dirty="0">
                <a:solidFill>
                  <a:srgbClr val="28251D"/>
                </a:solidFill>
                <a:latin typeface="Calibri" pitchFamily="34" charset="0"/>
                <a:ea typeface="Calibri" pitchFamily="34" charset="-122"/>
                <a:cs typeface="Calibri" pitchFamily="34" charset="-120"/>
              </a:rPr>
              <a:t>Counts new pills against a baseline, so stacked doses are caught</a:t>
            </a:r>
            <a:endParaRPr lang="en-US" sz="1250" dirty="0"/>
          </a:p>
          <a:p>
            <a:pPr marL="342900" indent="-342900">
              <a:spcAft>
                <a:spcPts val="800"/>
              </a:spcAft>
              <a:buSzPct val="100000"/>
              <a:buChar char="•"/>
            </a:pPr>
            <a:r>
              <a:rPr lang="en-US" sz="1250" dirty="0">
                <a:solidFill>
                  <a:srgbClr val="28251D"/>
                </a:solidFill>
                <a:latin typeface="Calibri" pitchFamily="34" charset="0"/>
                <a:ea typeface="Calibri" pitchFamily="34" charset="-122"/>
                <a:cs typeface="Calibri" pitchFamily="34" charset="-120"/>
              </a:rPr>
              <a:t>Status recorded as success, retry, or failure</a:t>
            </a:r>
            <a:endParaRPr lang="en-US" sz="1250" dirty="0"/>
          </a:p>
        </p:txBody>
      </p:sp>
      <p:sp>
        <p:nvSpPr>
          <p:cNvPr id="10" name="Shape 8"/>
          <p:cNvSpPr/>
          <p:nvPr/>
        </p:nvSpPr>
        <p:spPr>
          <a:xfrm>
            <a:off x="6035040" y="1325880"/>
            <a:ext cx="2606040" cy="3200400"/>
          </a:xfrm>
          <a:prstGeom prst="roundRect">
            <a:avLst>
              <a:gd name="adj" fmla="val 2807"/>
            </a:avLst>
          </a:prstGeom>
          <a:solidFill>
            <a:srgbClr val="FFFFFF"/>
          </a:solidFill>
          <a:ln w="9525">
            <a:solidFill>
              <a:srgbClr val="D4D1CA"/>
            </a:solidFill>
            <a:prstDash val="solid"/>
          </a:ln>
        </p:spPr>
        <p:txBody>
          <a:bodyPr/>
          <a:lstStyle/>
          <a:p>
            <a:endParaRPr lang="en-US"/>
          </a:p>
        </p:txBody>
      </p:sp>
      <p:sp>
        <p:nvSpPr>
          <p:cNvPr id="11" name="Text 9"/>
          <p:cNvSpPr/>
          <p:nvPr/>
        </p:nvSpPr>
        <p:spPr>
          <a:xfrm>
            <a:off x="6217920" y="1463040"/>
            <a:ext cx="2286000" cy="365760"/>
          </a:xfrm>
          <a:prstGeom prst="rect">
            <a:avLst/>
          </a:prstGeom>
          <a:noFill/>
          <a:ln/>
        </p:spPr>
        <p:txBody>
          <a:bodyPr wrap="square" lIns="0" tIns="0" rIns="0" bIns="0" rtlCol="0" anchor="ctr"/>
          <a:lstStyle/>
          <a:p>
            <a:pPr marL="0" indent="0">
              <a:buNone/>
            </a:pPr>
            <a:r>
              <a:rPr lang="en-US" sz="1600" b="1" dirty="0">
                <a:solidFill>
                  <a:srgbClr val="01696F"/>
                </a:solidFill>
                <a:latin typeface="Trebuchet MS" pitchFamily="34" charset="0"/>
                <a:ea typeface="Trebuchet MS" pitchFamily="34" charset="-122"/>
                <a:cs typeface="Trebuchet MS" pitchFamily="34" charset="-120"/>
              </a:rPr>
              <a:t>Firmware</a:t>
            </a:r>
            <a:endParaRPr lang="en-US" sz="1600" dirty="0"/>
          </a:p>
        </p:txBody>
      </p:sp>
      <p:sp>
        <p:nvSpPr>
          <p:cNvPr id="12" name="Text 10"/>
          <p:cNvSpPr/>
          <p:nvPr/>
        </p:nvSpPr>
        <p:spPr>
          <a:xfrm>
            <a:off x="6217920" y="1920240"/>
            <a:ext cx="2286000" cy="24688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8251D"/>
                </a:solidFill>
                <a:latin typeface="Calibri" pitchFamily="34" charset="0"/>
                <a:ea typeface="Calibri" pitchFamily="34" charset="-122"/>
                <a:cs typeface="Calibri" pitchFamily="34" charset="-120"/>
              </a:rPr>
              <a:t>Non-blocking state machine on one MG90S (pin D9)</a:t>
            </a:r>
            <a:endParaRPr lang="en-US" sz="1250" dirty="0"/>
          </a:p>
          <a:p>
            <a:pPr marL="342900" indent="-342900">
              <a:spcAft>
                <a:spcPts val="800"/>
              </a:spcAft>
              <a:buSzPct val="100000"/>
              <a:buChar char="•"/>
            </a:pPr>
            <a:r>
              <a:rPr lang="en-US" sz="1250" dirty="0">
                <a:solidFill>
                  <a:srgbClr val="28251D"/>
                </a:solidFill>
                <a:latin typeface="Calibri" pitchFamily="34" charset="0"/>
                <a:ea typeface="Calibri" pitchFamily="34" charset="-122"/>
                <a:cs typeface="Calibri" pitchFamily="34" charset="-120"/>
              </a:rPr>
              <a:t>REZERO when the magazine is spent, before the turn check</a:t>
            </a:r>
            <a:endParaRPr lang="en-US" sz="1250" dirty="0"/>
          </a:p>
          <a:p>
            <a:pPr marL="342900" indent="-342900">
              <a:spcAft>
                <a:spcPts val="800"/>
              </a:spcAft>
              <a:buSzPct val="100000"/>
              <a:buChar char="•"/>
            </a:pPr>
            <a:r>
              <a:rPr lang="en-US" sz="1250" dirty="0">
                <a:solidFill>
                  <a:srgbClr val="28251D"/>
                </a:solidFill>
                <a:latin typeface="Calibri" pitchFamily="34" charset="0"/>
                <a:ea typeface="Calibri" pitchFamily="34" charset="-122"/>
                <a:cs typeface="Calibri" pitchFamily="34" charset="-120"/>
              </a:rPr>
              <a:t>Host test harness runs the sketch logic without hardware</a:t>
            </a:r>
            <a:endParaRPr lang="en-US" sz="1250" dirty="0"/>
          </a:p>
        </p:txBody>
      </p:sp>
      <p:sp>
        <p:nvSpPr>
          <p:cNvPr id="13" name="Text 11"/>
          <p:cNvSpPr/>
          <p:nvPr/>
        </p:nvSpPr>
        <p:spPr>
          <a:xfrm>
            <a:off x="457200" y="4773168"/>
            <a:ext cx="8229600" cy="228600"/>
          </a:xfrm>
          <a:prstGeom prst="rect">
            <a:avLst/>
          </a:prstGeom>
          <a:noFill/>
          <a:ln/>
        </p:spPr>
        <p:txBody>
          <a:bodyPr wrap="square" lIns="0" tIns="0" rIns="0" bIns="0" rtlCol="0" anchor="ctr"/>
          <a:lstStyle/>
          <a:p>
            <a:pPr marL="0" indent="0">
              <a:buNone/>
            </a:pPr>
            <a:r>
              <a:rPr lang="en-US" sz="900" dirty="0">
                <a:solidFill>
                  <a:srgbClr val="5F5E59"/>
                </a:solidFill>
                <a:latin typeface="Calibri" pitchFamily="34" charset="0"/>
                <a:ea typeface="Calibri" pitchFamily="34" charset="-122"/>
                <a:cs typeface="Calibri" pitchFamily="34" charset="-120"/>
              </a:rPr>
              <a:t>Source: </a:t>
            </a:r>
            <a:r>
              <a:rPr lang="en-US" sz="900" u="sng" dirty="0">
                <a:solidFill>
                  <a:srgbClr val="01696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PR #5</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PR #9</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PR #14</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PR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HIGHLIGHT 3: DATA PIPELINE</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A medallion pipeline turns raw dispense events into an adherence signal</a:t>
            </a:r>
            <a:endParaRPr lang="en-US" sz="2400" dirty="0"/>
          </a:p>
        </p:txBody>
      </p:sp>
      <p:sp>
        <p:nvSpPr>
          <p:cNvPr id="4" name="Shape 2"/>
          <p:cNvSpPr/>
          <p:nvPr/>
        </p:nvSpPr>
        <p:spPr>
          <a:xfrm>
            <a:off x="457200" y="1325880"/>
            <a:ext cx="8229600" cy="658368"/>
          </a:xfrm>
          <a:prstGeom prst="roundRect">
            <a:avLst>
              <a:gd name="adj" fmla="val 11111"/>
            </a:avLst>
          </a:prstGeom>
          <a:solidFill>
            <a:srgbClr val="FFFFFF"/>
          </a:solidFill>
          <a:ln w="9525">
            <a:solidFill>
              <a:srgbClr val="D4D1CA"/>
            </a:solidFill>
            <a:prstDash val="solid"/>
          </a:ln>
        </p:spPr>
        <p:txBody>
          <a:bodyPr/>
          <a:lstStyle/>
          <a:p>
            <a:endParaRPr lang="en-US"/>
          </a:p>
        </p:txBody>
      </p:sp>
      <p:sp>
        <p:nvSpPr>
          <p:cNvPr id="5" name="Text 3"/>
          <p:cNvSpPr/>
          <p:nvPr/>
        </p:nvSpPr>
        <p:spPr>
          <a:xfrm>
            <a:off x="640080" y="1325880"/>
            <a:ext cx="1097280" cy="658368"/>
          </a:xfrm>
          <a:prstGeom prst="rect">
            <a:avLst/>
          </a:prstGeom>
          <a:noFill/>
          <a:ln/>
        </p:spPr>
        <p:txBody>
          <a:bodyPr wrap="square" lIns="0" tIns="0" rIns="0" bIns="0" rtlCol="0" anchor="ctr"/>
          <a:lstStyle/>
          <a:p>
            <a:pPr marL="0" indent="0">
              <a:buNone/>
            </a:pPr>
            <a:r>
              <a:rPr lang="en-US" sz="1600" b="1" dirty="0">
                <a:solidFill>
                  <a:srgbClr val="01696F"/>
                </a:solidFill>
                <a:latin typeface="Trebuchet MS" pitchFamily="34" charset="0"/>
                <a:ea typeface="Trebuchet MS" pitchFamily="34" charset="-122"/>
                <a:cs typeface="Trebuchet MS" pitchFamily="34" charset="-120"/>
              </a:rPr>
              <a:t>Bronze</a:t>
            </a:r>
            <a:endParaRPr lang="en-US" sz="1600" dirty="0"/>
          </a:p>
        </p:txBody>
      </p:sp>
      <p:sp>
        <p:nvSpPr>
          <p:cNvPr id="6" name="Text 4"/>
          <p:cNvSpPr/>
          <p:nvPr/>
        </p:nvSpPr>
        <p:spPr>
          <a:xfrm>
            <a:off x="1737360" y="1325880"/>
            <a:ext cx="2651760" cy="658368"/>
          </a:xfrm>
          <a:prstGeom prst="rect">
            <a:avLst/>
          </a:prstGeom>
          <a:noFill/>
          <a:ln/>
        </p:spPr>
        <p:txBody>
          <a:bodyPr wrap="square" lIns="0" tIns="0" rIns="0" bIns="0" rtlCol="0" anchor="ctr"/>
          <a:lstStyle/>
          <a:p>
            <a:pPr marL="0" indent="0">
              <a:buNone/>
            </a:pPr>
            <a:r>
              <a:rPr lang="en-US" sz="1250" dirty="0">
                <a:solidFill>
                  <a:srgbClr val="28251D"/>
                </a:solidFill>
                <a:latin typeface="Calibri" pitchFamily="34" charset="0"/>
                <a:ea typeface="Calibri" pitchFamily="34" charset="-122"/>
                <a:cs typeface="Calibri" pitchFamily="34" charset="-120"/>
              </a:rPr>
              <a:t>bronze_dispense_events</a:t>
            </a:r>
            <a:endParaRPr lang="en-US" sz="1250" dirty="0"/>
          </a:p>
        </p:txBody>
      </p:sp>
      <p:sp>
        <p:nvSpPr>
          <p:cNvPr id="7" name="Text 5"/>
          <p:cNvSpPr/>
          <p:nvPr/>
        </p:nvSpPr>
        <p:spPr>
          <a:xfrm>
            <a:off x="4434840" y="1325880"/>
            <a:ext cx="4114800" cy="658368"/>
          </a:xfrm>
          <a:prstGeom prst="rect">
            <a:avLst/>
          </a:prstGeom>
          <a:noFill/>
          <a:ln/>
        </p:spPr>
        <p:txBody>
          <a:bodyPr wrap="square" lIns="0" tIns="0" rIns="0" bIns="0" rtlCol="0" anchor="ctr"/>
          <a:lstStyle/>
          <a:p>
            <a:pPr marL="0" indent="0">
              <a:buNone/>
            </a:pPr>
            <a:r>
              <a:rPr lang="en-US" sz="1250" dirty="0">
                <a:solidFill>
                  <a:srgbClr val="28251D"/>
                </a:solidFill>
                <a:latin typeface="Calibri" pitchFamily="34" charset="0"/>
                <a:ea typeface="Calibri" pitchFamily="34" charset="-122"/>
                <a:cs typeface="Calibri" pitchFamily="34" charset="-120"/>
              </a:rPr>
              <a:t>Raw rows inserted per dose by the edge sink</a:t>
            </a:r>
            <a:endParaRPr lang="en-US" sz="1250" dirty="0"/>
          </a:p>
        </p:txBody>
      </p:sp>
      <p:sp>
        <p:nvSpPr>
          <p:cNvPr id="8" name="Shape 6"/>
          <p:cNvSpPr/>
          <p:nvPr/>
        </p:nvSpPr>
        <p:spPr>
          <a:xfrm>
            <a:off x="457200" y="2103120"/>
            <a:ext cx="8229600" cy="658368"/>
          </a:xfrm>
          <a:prstGeom prst="roundRect">
            <a:avLst>
              <a:gd name="adj" fmla="val 11111"/>
            </a:avLst>
          </a:prstGeom>
          <a:solidFill>
            <a:srgbClr val="FFFFFF"/>
          </a:solidFill>
          <a:ln w="9525">
            <a:solidFill>
              <a:srgbClr val="D4D1CA"/>
            </a:solidFill>
            <a:prstDash val="solid"/>
          </a:ln>
        </p:spPr>
        <p:txBody>
          <a:bodyPr/>
          <a:lstStyle/>
          <a:p>
            <a:endParaRPr lang="en-US"/>
          </a:p>
        </p:txBody>
      </p:sp>
      <p:sp>
        <p:nvSpPr>
          <p:cNvPr id="9" name="Text 7"/>
          <p:cNvSpPr/>
          <p:nvPr/>
        </p:nvSpPr>
        <p:spPr>
          <a:xfrm>
            <a:off x="640080" y="2103120"/>
            <a:ext cx="1097280" cy="658368"/>
          </a:xfrm>
          <a:prstGeom prst="rect">
            <a:avLst/>
          </a:prstGeom>
          <a:noFill/>
          <a:ln/>
        </p:spPr>
        <p:txBody>
          <a:bodyPr wrap="square" lIns="0" tIns="0" rIns="0" bIns="0" rtlCol="0" anchor="ctr"/>
          <a:lstStyle/>
          <a:p>
            <a:pPr marL="0" indent="0">
              <a:buNone/>
            </a:pPr>
            <a:r>
              <a:rPr lang="en-US" sz="1600" b="1" dirty="0">
                <a:solidFill>
                  <a:srgbClr val="01696F"/>
                </a:solidFill>
                <a:latin typeface="Trebuchet MS" pitchFamily="34" charset="0"/>
                <a:ea typeface="Trebuchet MS" pitchFamily="34" charset="-122"/>
                <a:cs typeface="Trebuchet MS" pitchFamily="34" charset="-120"/>
              </a:rPr>
              <a:t>Silver</a:t>
            </a:r>
            <a:endParaRPr lang="en-US" sz="1600" dirty="0"/>
          </a:p>
        </p:txBody>
      </p:sp>
      <p:sp>
        <p:nvSpPr>
          <p:cNvPr id="10" name="Text 8"/>
          <p:cNvSpPr/>
          <p:nvPr/>
        </p:nvSpPr>
        <p:spPr>
          <a:xfrm>
            <a:off x="1737360" y="2103120"/>
            <a:ext cx="2651760" cy="658368"/>
          </a:xfrm>
          <a:prstGeom prst="rect">
            <a:avLst/>
          </a:prstGeom>
          <a:noFill/>
          <a:ln/>
        </p:spPr>
        <p:txBody>
          <a:bodyPr wrap="square" lIns="0" tIns="0" rIns="0" bIns="0" rtlCol="0" anchor="ctr"/>
          <a:lstStyle/>
          <a:p>
            <a:pPr marL="0" indent="0">
              <a:buNone/>
            </a:pPr>
            <a:r>
              <a:rPr lang="en-US" sz="1250" dirty="0">
                <a:solidFill>
                  <a:srgbClr val="28251D"/>
                </a:solidFill>
                <a:latin typeface="Calibri" pitchFamily="34" charset="0"/>
                <a:ea typeface="Calibri" pitchFamily="34" charset="-122"/>
                <a:cs typeface="Calibri" pitchFamily="34" charset="-120"/>
              </a:rPr>
              <a:t>silver_dispense_events</a:t>
            </a:r>
            <a:endParaRPr lang="en-US" sz="1250" dirty="0"/>
          </a:p>
        </p:txBody>
      </p:sp>
      <p:sp>
        <p:nvSpPr>
          <p:cNvPr id="11" name="Text 9"/>
          <p:cNvSpPr/>
          <p:nvPr/>
        </p:nvSpPr>
        <p:spPr>
          <a:xfrm>
            <a:off x="4434840" y="2103120"/>
            <a:ext cx="4114800" cy="658368"/>
          </a:xfrm>
          <a:prstGeom prst="rect">
            <a:avLst/>
          </a:prstGeom>
          <a:noFill/>
          <a:ln/>
        </p:spPr>
        <p:txBody>
          <a:bodyPr wrap="square" lIns="0" tIns="0" rIns="0" bIns="0" rtlCol="0" anchor="ctr"/>
          <a:lstStyle/>
          <a:p>
            <a:pPr marL="0" indent="0">
              <a:buNone/>
            </a:pPr>
            <a:r>
              <a:rPr lang="en-US" sz="1250" dirty="0">
                <a:solidFill>
                  <a:srgbClr val="28251D"/>
                </a:solidFill>
                <a:latin typeface="Calibri" pitchFamily="34" charset="0"/>
                <a:ea typeface="Calibri" pitchFamily="34" charset="-122"/>
                <a:cs typeface="Calibri" pitchFamily="34" charset="-120"/>
              </a:rPr>
              <a:t>Adds is_success, scheduled_window, and time_drift_minutes from the 08:00 or 20:00 anchor</a:t>
            </a:r>
            <a:endParaRPr lang="en-US" sz="1250" dirty="0"/>
          </a:p>
        </p:txBody>
      </p:sp>
      <p:sp>
        <p:nvSpPr>
          <p:cNvPr id="12" name="Shape 10"/>
          <p:cNvSpPr/>
          <p:nvPr/>
        </p:nvSpPr>
        <p:spPr>
          <a:xfrm>
            <a:off x="457200" y="2880360"/>
            <a:ext cx="8229600" cy="658368"/>
          </a:xfrm>
          <a:prstGeom prst="roundRect">
            <a:avLst>
              <a:gd name="adj" fmla="val 11111"/>
            </a:avLst>
          </a:prstGeom>
          <a:solidFill>
            <a:srgbClr val="E3EEEE"/>
          </a:solidFill>
          <a:ln w="9525">
            <a:solidFill>
              <a:srgbClr val="D4D1CA"/>
            </a:solidFill>
            <a:prstDash val="solid"/>
          </a:ln>
        </p:spPr>
        <p:txBody>
          <a:bodyPr/>
          <a:lstStyle/>
          <a:p>
            <a:endParaRPr lang="en-US"/>
          </a:p>
        </p:txBody>
      </p:sp>
      <p:sp>
        <p:nvSpPr>
          <p:cNvPr id="13" name="Text 11"/>
          <p:cNvSpPr/>
          <p:nvPr/>
        </p:nvSpPr>
        <p:spPr>
          <a:xfrm>
            <a:off x="640080" y="2880360"/>
            <a:ext cx="1097280" cy="658368"/>
          </a:xfrm>
          <a:prstGeom prst="rect">
            <a:avLst/>
          </a:prstGeom>
          <a:noFill/>
          <a:ln/>
        </p:spPr>
        <p:txBody>
          <a:bodyPr wrap="square" lIns="0" tIns="0" rIns="0" bIns="0" rtlCol="0" anchor="ctr"/>
          <a:lstStyle/>
          <a:p>
            <a:pPr marL="0" indent="0">
              <a:buNone/>
            </a:pPr>
            <a:r>
              <a:rPr lang="en-US" sz="1600" b="1" dirty="0">
                <a:solidFill>
                  <a:srgbClr val="01696F"/>
                </a:solidFill>
                <a:latin typeface="Trebuchet MS" pitchFamily="34" charset="0"/>
                <a:ea typeface="Trebuchet MS" pitchFamily="34" charset="-122"/>
                <a:cs typeface="Trebuchet MS" pitchFamily="34" charset="-120"/>
              </a:rPr>
              <a:t>Gold</a:t>
            </a:r>
            <a:endParaRPr lang="en-US" sz="1600" dirty="0"/>
          </a:p>
        </p:txBody>
      </p:sp>
      <p:sp>
        <p:nvSpPr>
          <p:cNvPr id="14" name="Text 12"/>
          <p:cNvSpPr/>
          <p:nvPr/>
        </p:nvSpPr>
        <p:spPr>
          <a:xfrm>
            <a:off x="1737360" y="2880360"/>
            <a:ext cx="2651760" cy="658368"/>
          </a:xfrm>
          <a:prstGeom prst="rect">
            <a:avLst/>
          </a:prstGeom>
          <a:noFill/>
          <a:ln/>
        </p:spPr>
        <p:txBody>
          <a:bodyPr wrap="square" lIns="0" tIns="0" rIns="0" bIns="0" rtlCol="0" anchor="ctr"/>
          <a:lstStyle/>
          <a:p>
            <a:pPr marL="0" indent="0">
              <a:buNone/>
            </a:pPr>
            <a:r>
              <a:rPr lang="en-US" sz="1250" dirty="0">
                <a:solidFill>
                  <a:srgbClr val="28251D"/>
                </a:solidFill>
                <a:latin typeface="Calibri" pitchFamily="34" charset="0"/>
                <a:ea typeface="Calibri" pitchFamily="34" charset="-122"/>
                <a:cs typeface="Calibri" pitchFamily="34" charset="-120"/>
              </a:rPr>
              <a:t>gold_adherence_7d</a:t>
            </a:r>
            <a:endParaRPr lang="en-US" sz="1250" dirty="0"/>
          </a:p>
        </p:txBody>
      </p:sp>
      <p:sp>
        <p:nvSpPr>
          <p:cNvPr id="15" name="Text 13"/>
          <p:cNvSpPr/>
          <p:nvPr/>
        </p:nvSpPr>
        <p:spPr>
          <a:xfrm>
            <a:off x="4434840" y="2880360"/>
            <a:ext cx="4114800" cy="658368"/>
          </a:xfrm>
          <a:prstGeom prst="rect">
            <a:avLst/>
          </a:prstGeom>
          <a:noFill/>
          <a:ln/>
        </p:spPr>
        <p:txBody>
          <a:bodyPr wrap="square" lIns="0" tIns="0" rIns="0" bIns="0" rtlCol="0" anchor="ctr"/>
          <a:lstStyle/>
          <a:p>
            <a:pPr marL="0" indent="0">
              <a:buNone/>
            </a:pPr>
            <a:r>
              <a:rPr lang="en-US" sz="1250" dirty="0">
                <a:solidFill>
                  <a:srgbClr val="28251D"/>
                </a:solidFill>
                <a:latin typeface="Calibri" pitchFamily="34" charset="0"/>
                <a:ea typeface="Calibri" pitchFamily="34" charset="-122"/>
                <a:cs typeface="Calibri" pitchFamily="34" charset="-120"/>
              </a:rPr>
              <a:t>Adherence rate and risk flag: drift ≥ 15 min or adherence &lt; 85%</a:t>
            </a:r>
            <a:endParaRPr lang="en-US" sz="1250" dirty="0"/>
          </a:p>
        </p:txBody>
      </p:sp>
      <p:sp>
        <p:nvSpPr>
          <p:cNvPr id="16" name="Shape 14"/>
          <p:cNvSpPr/>
          <p:nvPr/>
        </p:nvSpPr>
        <p:spPr>
          <a:xfrm>
            <a:off x="457200" y="3657600"/>
            <a:ext cx="8229600" cy="658368"/>
          </a:xfrm>
          <a:prstGeom prst="roundRect">
            <a:avLst>
              <a:gd name="adj" fmla="val 11111"/>
            </a:avLst>
          </a:prstGeom>
          <a:solidFill>
            <a:srgbClr val="FFFFFF"/>
          </a:solidFill>
          <a:ln w="9525">
            <a:solidFill>
              <a:srgbClr val="D4D1CA"/>
            </a:solidFill>
            <a:prstDash val="solid"/>
          </a:ln>
        </p:spPr>
        <p:txBody>
          <a:bodyPr/>
          <a:lstStyle/>
          <a:p>
            <a:endParaRPr lang="en-US"/>
          </a:p>
        </p:txBody>
      </p:sp>
      <p:sp>
        <p:nvSpPr>
          <p:cNvPr id="17" name="Text 15"/>
          <p:cNvSpPr/>
          <p:nvPr/>
        </p:nvSpPr>
        <p:spPr>
          <a:xfrm>
            <a:off x="640080" y="3657600"/>
            <a:ext cx="1097280" cy="658368"/>
          </a:xfrm>
          <a:prstGeom prst="rect">
            <a:avLst/>
          </a:prstGeom>
          <a:noFill/>
          <a:ln/>
        </p:spPr>
        <p:txBody>
          <a:bodyPr wrap="square" lIns="0" tIns="0" rIns="0" bIns="0" rtlCol="0" anchor="ctr"/>
          <a:lstStyle/>
          <a:p>
            <a:pPr marL="0" indent="0">
              <a:buNone/>
            </a:pPr>
            <a:r>
              <a:rPr lang="en-US" sz="1600" b="1" dirty="0">
                <a:solidFill>
                  <a:srgbClr val="01696F"/>
                </a:solidFill>
                <a:latin typeface="Trebuchet MS" pitchFamily="34" charset="0"/>
                <a:ea typeface="Trebuchet MS" pitchFamily="34" charset="-122"/>
                <a:cs typeface="Trebuchet MS" pitchFamily="34" charset="-120"/>
              </a:rPr>
              <a:t>Serving</a:t>
            </a:r>
            <a:endParaRPr lang="en-US" sz="1600" dirty="0"/>
          </a:p>
        </p:txBody>
      </p:sp>
      <p:sp>
        <p:nvSpPr>
          <p:cNvPr id="18" name="Text 16"/>
          <p:cNvSpPr/>
          <p:nvPr/>
        </p:nvSpPr>
        <p:spPr>
          <a:xfrm>
            <a:off x="1737360" y="3657600"/>
            <a:ext cx="2651760" cy="658368"/>
          </a:xfrm>
          <a:prstGeom prst="rect">
            <a:avLst/>
          </a:prstGeom>
          <a:noFill/>
          <a:ln/>
        </p:spPr>
        <p:txBody>
          <a:bodyPr wrap="square" lIns="0" tIns="0" rIns="0" bIns="0" rtlCol="0" anchor="ctr"/>
          <a:lstStyle/>
          <a:p>
            <a:pPr marL="0" indent="0">
              <a:buNone/>
            </a:pPr>
            <a:r>
              <a:rPr lang="en-US" sz="1250" dirty="0">
                <a:solidFill>
                  <a:srgbClr val="28251D"/>
                </a:solidFill>
                <a:latin typeface="Calibri" pitchFamily="34" charset="0"/>
                <a:ea typeface="Calibri" pitchFamily="34" charset="-122"/>
                <a:cs typeface="Calibri" pitchFamily="34" charset="-120"/>
              </a:rPr>
              <a:t>dashboard_daily / weekly / monthly</a:t>
            </a:r>
            <a:endParaRPr lang="en-US" sz="1250" dirty="0"/>
          </a:p>
        </p:txBody>
      </p:sp>
      <p:sp>
        <p:nvSpPr>
          <p:cNvPr id="19" name="Text 17"/>
          <p:cNvSpPr/>
          <p:nvPr/>
        </p:nvSpPr>
        <p:spPr>
          <a:xfrm>
            <a:off x="4434840" y="3657600"/>
            <a:ext cx="4114800" cy="658368"/>
          </a:xfrm>
          <a:prstGeom prst="rect">
            <a:avLst/>
          </a:prstGeom>
          <a:noFill/>
          <a:ln/>
        </p:spPr>
        <p:txBody>
          <a:bodyPr wrap="square" lIns="0" tIns="0" rIns="0" bIns="0" rtlCol="0" anchor="ctr"/>
          <a:lstStyle/>
          <a:p>
            <a:pPr marL="0" indent="0">
              <a:buNone/>
            </a:pPr>
            <a:r>
              <a:rPr lang="en-US" sz="1250" dirty="0">
                <a:solidFill>
                  <a:srgbClr val="28251D"/>
                </a:solidFill>
                <a:latin typeface="Calibri" pitchFamily="34" charset="0"/>
                <a:ea typeface="Calibri" pitchFamily="34" charset="-122"/>
                <a:cs typeface="Calibri" pitchFamily="34" charset="-120"/>
              </a:rPr>
              <a:t>Calendar spine keeps missed days visible as zero-event rows</a:t>
            </a:r>
            <a:endParaRPr lang="en-US" sz="1250" dirty="0"/>
          </a:p>
        </p:txBody>
      </p:sp>
      <p:sp>
        <p:nvSpPr>
          <p:cNvPr id="20" name="Text 18"/>
          <p:cNvSpPr/>
          <p:nvPr/>
        </p:nvSpPr>
        <p:spPr>
          <a:xfrm>
            <a:off x="457200" y="4773168"/>
            <a:ext cx="8229600" cy="228600"/>
          </a:xfrm>
          <a:prstGeom prst="rect">
            <a:avLst/>
          </a:prstGeom>
          <a:noFill/>
          <a:ln/>
        </p:spPr>
        <p:txBody>
          <a:bodyPr wrap="square" lIns="0" tIns="0" rIns="0" bIns="0" rtlCol="0" anchor="ctr"/>
          <a:lstStyle/>
          <a:p>
            <a:pPr marL="0" indent="0">
              <a:buNone/>
            </a:pPr>
            <a:r>
              <a:rPr lang="en-US" sz="900" dirty="0">
                <a:solidFill>
                  <a:srgbClr val="5F5E59"/>
                </a:solidFill>
                <a:latin typeface="Calibri" pitchFamily="34" charset="0"/>
                <a:ea typeface="Calibri" pitchFamily="34" charset="-122"/>
                <a:cs typeface="Calibri" pitchFamily="34" charset="-120"/>
              </a:rPr>
              <a:t>Source: </a:t>
            </a:r>
            <a:r>
              <a:rPr lang="en-US" sz="900" u="sng" dirty="0">
                <a:solidFill>
                  <a:srgbClr val="01696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PR #20</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bronze_dispense_month.sql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HIGHLIGHT 4: SAFETY FINDINGS</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Live bench data caught a multi-pill dispense the moment it happened</a:t>
            </a:r>
            <a:endParaRPr lang="en-US" sz="2400" dirty="0"/>
          </a:p>
        </p:txBody>
      </p:sp>
      <p:sp>
        <p:nvSpPr>
          <p:cNvPr id="4" name="Shape 2"/>
          <p:cNvSpPr/>
          <p:nvPr/>
        </p:nvSpPr>
        <p:spPr>
          <a:xfrm>
            <a:off x="457200" y="1325880"/>
            <a:ext cx="3931920" cy="3200400"/>
          </a:xfrm>
          <a:prstGeom prst="roundRect">
            <a:avLst>
              <a:gd name="adj" fmla="val 2286"/>
            </a:avLst>
          </a:prstGeom>
          <a:solidFill>
            <a:srgbClr val="FFFFFF"/>
          </a:solidFill>
          <a:ln w="9525">
            <a:solidFill>
              <a:srgbClr val="D4D1CA"/>
            </a:solidFill>
            <a:prstDash val="solid"/>
          </a:ln>
        </p:spPr>
        <p:txBody>
          <a:bodyPr/>
          <a:lstStyle/>
          <a:p>
            <a:endParaRPr lang="en-US"/>
          </a:p>
        </p:txBody>
      </p:sp>
      <p:sp>
        <p:nvSpPr>
          <p:cNvPr id="5" name="Text 3"/>
          <p:cNvSpPr/>
          <p:nvPr/>
        </p:nvSpPr>
        <p:spPr>
          <a:xfrm>
            <a:off x="640080" y="1463040"/>
            <a:ext cx="3566160" cy="365760"/>
          </a:xfrm>
          <a:prstGeom prst="rect">
            <a:avLst/>
          </a:prstGeom>
          <a:noFill/>
          <a:ln/>
        </p:spPr>
        <p:txBody>
          <a:bodyPr wrap="square" lIns="0" tIns="0" rIns="0" bIns="0" rtlCol="0" anchor="ctr"/>
          <a:lstStyle/>
          <a:p>
            <a:pPr marL="0" indent="0">
              <a:buNone/>
            </a:pPr>
            <a:r>
              <a:rPr lang="en-US" sz="1600" b="1" dirty="0">
                <a:solidFill>
                  <a:srgbClr val="A84B2F"/>
                </a:solidFill>
                <a:latin typeface="Trebuchet MS" pitchFamily="34" charset="0"/>
                <a:ea typeface="Trebuchet MS" pitchFamily="34" charset="-122"/>
                <a:cs typeface="Trebuchet MS" pitchFamily="34" charset="-120"/>
              </a:rPr>
              <a:t>What the telemetry showed</a:t>
            </a:r>
            <a:endParaRPr lang="en-US" sz="1600" dirty="0"/>
          </a:p>
        </p:txBody>
      </p:sp>
      <p:sp>
        <p:nvSpPr>
          <p:cNvPr id="6" name="Text 4"/>
          <p:cNvSpPr/>
          <p:nvPr/>
        </p:nvSpPr>
        <p:spPr>
          <a:xfrm>
            <a:off x="640080" y="192024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5 live bench dispenses on 29 Sep (7:43 to 8:16 PM ET)</a:t>
            </a:r>
            <a:endParaRPr lang="en-US" sz="1300" dirty="0"/>
          </a:p>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One event detected 3 pills; one detected 0 and logged as failure</a:t>
            </a:r>
            <a:endParaRPr lang="en-US" sz="1300" dirty="0"/>
          </a:p>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Four cycles ran within 23 seconds</a:t>
            </a:r>
            <a:endParaRPr lang="en-US" sz="1300" dirty="0"/>
          </a:p>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Result: 178 pills detected across 177 events</a:t>
            </a:r>
            <a:endParaRPr lang="en-US" sz="1300" dirty="0"/>
          </a:p>
        </p:txBody>
      </p:sp>
      <p:sp>
        <p:nvSpPr>
          <p:cNvPr id="7" name="Shape 5"/>
          <p:cNvSpPr/>
          <p:nvPr/>
        </p:nvSpPr>
        <p:spPr>
          <a:xfrm>
            <a:off x="4754880" y="1325880"/>
            <a:ext cx="3931920" cy="3200400"/>
          </a:xfrm>
          <a:prstGeom prst="roundRect">
            <a:avLst>
              <a:gd name="adj" fmla="val 2286"/>
            </a:avLst>
          </a:prstGeom>
          <a:solidFill>
            <a:srgbClr val="E3EEEE"/>
          </a:solidFill>
          <a:ln w="9525">
            <a:solidFill>
              <a:srgbClr val="D4D1CA"/>
            </a:solidFill>
            <a:prstDash val="solid"/>
          </a:ln>
        </p:spPr>
        <p:txBody>
          <a:bodyPr/>
          <a:lstStyle/>
          <a:p>
            <a:endParaRPr lang="en-US"/>
          </a:p>
        </p:txBody>
      </p:sp>
      <p:sp>
        <p:nvSpPr>
          <p:cNvPr id="8" name="Text 6"/>
          <p:cNvSpPr/>
          <p:nvPr/>
        </p:nvSpPr>
        <p:spPr>
          <a:xfrm>
            <a:off x="4937760" y="1463040"/>
            <a:ext cx="3566160" cy="365760"/>
          </a:xfrm>
          <a:prstGeom prst="rect">
            <a:avLst/>
          </a:prstGeom>
          <a:noFill/>
          <a:ln/>
        </p:spPr>
        <p:txBody>
          <a:bodyPr wrap="square" lIns="0" tIns="0" rIns="0" bIns="0" rtlCol="0" anchor="ctr"/>
          <a:lstStyle/>
          <a:p>
            <a:pPr marL="0" indent="0">
              <a:buNone/>
            </a:pPr>
            <a:r>
              <a:rPr lang="en-US" sz="1600" b="1" dirty="0">
                <a:solidFill>
                  <a:srgbClr val="01696F"/>
                </a:solidFill>
                <a:latin typeface="Trebuchet MS" pitchFamily="34" charset="0"/>
                <a:ea typeface="Trebuchet MS" pitchFamily="34" charset="-122"/>
                <a:cs typeface="Trebuchet MS" pitchFamily="34" charset="-120"/>
              </a:rPr>
              <a:t>Safeguards added in response</a:t>
            </a:r>
            <a:endParaRPr lang="en-US" sz="1600" dirty="0"/>
          </a:p>
        </p:txBody>
      </p:sp>
      <p:sp>
        <p:nvSpPr>
          <p:cNvPr id="9" name="Text 7"/>
          <p:cNvSpPr/>
          <p:nvPr/>
        </p:nvSpPr>
        <p:spPr>
          <a:xfrm>
            <a:off x="4937760" y="192024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Exactly one actuation per dispense cycle</a:t>
            </a:r>
            <a:endParaRPr lang="en-US" sz="1300" dirty="0"/>
          </a:p>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Count-delta verification for the second dose</a:t>
            </a:r>
            <a:endParaRPr lang="en-US" sz="1300" dirty="0"/>
          </a:p>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Wait for the face to leave before the next cycle</a:t>
            </a:r>
            <a:endParaRPr lang="en-US" sz="1300" dirty="0"/>
          </a:p>
          <a:p>
            <a:pPr marL="342900" indent="-342900">
              <a:spcAft>
                <a:spcPts val="800"/>
              </a:spcAft>
              <a:buSzPct val="100000"/>
              <a:buChar char="•"/>
            </a:pPr>
            <a:r>
              <a:rPr lang="en-US" sz="1400" dirty="0">
                <a:solidFill>
                  <a:srgbClr val="28251D"/>
                </a:solidFill>
                <a:latin typeface="Calibri" pitchFamily="34" charset="0"/>
                <a:ea typeface="Calibri" pitchFamily="34" charset="-122"/>
                <a:cs typeface="Calibri" pitchFamily="34" charset="-120"/>
              </a:rPr>
              <a:t>REZERO handling to stop magazine burn</a:t>
            </a:r>
            <a:endParaRPr lang="en-US" sz="1300" dirty="0"/>
          </a:p>
        </p:txBody>
      </p:sp>
      <p:sp>
        <p:nvSpPr>
          <p:cNvPr id="10" name="Text 8"/>
          <p:cNvSpPr/>
          <p:nvPr/>
        </p:nvSpPr>
        <p:spPr>
          <a:xfrm>
            <a:off x="457200" y="4773168"/>
            <a:ext cx="8229600" cy="228600"/>
          </a:xfrm>
          <a:prstGeom prst="rect">
            <a:avLst/>
          </a:prstGeom>
          <a:noFill/>
          <a:ln/>
        </p:spPr>
        <p:txBody>
          <a:bodyPr wrap="square" lIns="0" tIns="0" rIns="0" bIns="0" rtlCol="0" anchor="ctr"/>
          <a:lstStyle/>
          <a:p>
            <a:pPr marL="0" indent="0">
              <a:buNone/>
            </a:pPr>
            <a:r>
              <a:rPr lang="en-US" sz="900" dirty="0">
                <a:solidFill>
                  <a:srgbClr val="5F5E59"/>
                </a:solidFill>
                <a:latin typeface="Calibri" pitchFamily="34" charset="0"/>
                <a:ea typeface="Calibri" pitchFamily="34" charset="-122"/>
                <a:cs typeface="Calibri" pitchFamily="34" charset="-120"/>
              </a:rPr>
              <a:t>Source: </a:t>
            </a:r>
            <a:r>
              <a:rPr lang="en-US" sz="900" u="sng" dirty="0">
                <a:solidFill>
                  <a:srgbClr val="01696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Databricks dashboard</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AutomatedPillDispenser repo</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LIVE DEMO  |  15 MINUTES</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Demo run of show: from a mock dispense to the adherence dashboard</a:t>
            </a:r>
            <a:endParaRPr lang="en-US" sz="2400" dirty="0"/>
          </a:p>
        </p:txBody>
      </p:sp>
      <p:sp>
        <p:nvSpPr>
          <p:cNvPr id="4" name="Shape 2"/>
          <p:cNvSpPr/>
          <p:nvPr/>
        </p:nvSpPr>
        <p:spPr>
          <a:xfrm>
            <a:off x="457200" y="1325880"/>
            <a:ext cx="8229600" cy="457200"/>
          </a:xfrm>
          <a:prstGeom prst="roundRect">
            <a:avLst>
              <a:gd name="adj" fmla="val 16000"/>
            </a:avLst>
          </a:prstGeom>
          <a:solidFill>
            <a:srgbClr val="FBFBF9"/>
          </a:solidFill>
          <a:ln w="9525">
            <a:solidFill>
              <a:srgbClr val="D4D1CA"/>
            </a:solidFill>
            <a:prstDash val="solid"/>
          </a:ln>
        </p:spPr>
        <p:txBody>
          <a:bodyPr/>
          <a:lstStyle/>
          <a:p>
            <a:endParaRPr lang="en-US"/>
          </a:p>
        </p:txBody>
      </p:sp>
      <p:sp>
        <p:nvSpPr>
          <p:cNvPr id="5" name="Text 3"/>
          <p:cNvSpPr/>
          <p:nvPr/>
        </p:nvSpPr>
        <p:spPr>
          <a:xfrm>
            <a:off x="594360" y="1325880"/>
            <a:ext cx="731520" cy="457200"/>
          </a:xfrm>
          <a:prstGeom prst="rect">
            <a:avLst/>
          </a:prstGeom>
          <a:noFill/>
          <a:ln/>
        </p:spPr>
        <p:txBody>
          <a:bodyPr wrap="square" lIns="0" tIns="0" rIns="0" bIns="0" rtlCol="0" anchor="ctr"/>
          <a:lstStyle/>
          <a:p>
            <a:pPr marL="0" indent="0">
              <a:buNone/>
            </a:pPr>
            <a:r>
              <a:rPr lang="en-US" sz="1300" b="1" dirty="0">
                <a:solidFill>
                  <a:srgbClr val="01696F"/>
                </a:solidFill>
                <a:latin typeface="Calibri" pitchFamily="34" charset="0"/>
                <a:ea typeface="Calibri" pitchFamily="34" charset="-122"/>
                <a:cs typeface="Calibri" pitchFamily="34" charset="-120"/>
              </a:rPr>
              <a:t>20:00</a:t>
            </a:r>
            <a:endParaRPr lang="en-US" sz="1300" dirty="0"/>
          </a:p>
        </p:txBody>
      </p:sp>
      <p:sp>
        <p:nvSpPr>
          <p:cNvPr id="6" name="Text 4"/>
          <p:cNvSpPr/>
          <p:nvPr/>
        </p:nvSpPr>
        <p:spPr>
          <a:xfrm>
            <a:off x="1325880" y="1325880"/>
            <a:ext cx="685800" cy="457200"/>
          </a:xfrm>
          <a:prstGeom prst="rect">
            <a:avLst/>
          </a:prstGeom>
          <a:noFill/>
          <a:ln/>
        </p:spPr>
        <p:txBody>
          <a:bodyPr wrap="square" lIns="0" tIns="0" rIns="0" bIns="0" rtlCol="0" anchor="ctr"/>
          <a:lstStyle/>
          <a:p>
            <a:pPr marL="0" indent="0">
              <a:buNone/>
            </a:pPr>
            <a:r>
              <a:rPr lang="en-US" sz="1200" dirty="0">
                <a:solidFill>
                  <a:srgbClr val="5F5E59"/>
                </a:solidFill>
                <a:latin typeface="Calibri" pitchFamily="34" charset="0"/>
                <a:ea typeface="Calibri" pitchFamily="34" charset="-122"/>
                <a:cs typeface="Calibri" pitchFamily="34" charset="-120"/>
              </a:rPr>
              <a:t>2 min</a:t>
            </a:r>
            <a:endParaRPr lang="en-US" sz="1200" dirty="0"/>
          </a:p>
        </p:txBody>
      </p:sp>
      <p:sp>
        <p:nvSpPr>
          <p:cNvPr id="7" name="Text 5"/>
          <p:cNvSpPr/>
          <p:nvPr/>
        </p:nvSpPr>
        <p:spPr>
          <a:xfrm>
            <a:off x="2057400" y="1325880"/>
            <a:ext cx="1645920" cy="45720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Mock dispense</a:t>
            </a:r>
            <a:endParaRPr lang="en-US" sz="1400" dirty="0"/>
          </a:p>
        </p:txBody>
      </p:sp>
      <p:sp>
        <p:nvSpPr>
          <p:cNvPr id="8" name="Text 6"/>
          <p:cNvSpPr/>
          <p:nvPr/>
        </p:nvSpPr>
        <p:spPr>
          <a:xfrm>
            <a:off x="3749040" y="1325880"/>
            <a:ext cx="4846320" cy="457200"/>
          </a:xfrm>
          <a:prstGeom prst="rect">
            <a:avLst/>
          </a:prstGeom>
          <a:noFill/>
          <a:ln/>
        </p:spPr>
        <p:txBody>
          <a:bodyPr wrap="square" lIns="0" tIns="0" rIns="0" bIns="0" rtlCol="0" anchor="ctr"/>
          <a:lstStyle/>
          <a:p>
            <a:pPr marL="0" indent="0">
              <a:buNone/>
            </a:pPr>
            <a:r>
              <a:rPr lang="en-US" sz="1250" dirty="0">
                <a:solidFill>
                  <a:srgbClr val="28251D"/>
                </a:solidFill>
                <a:latin typeface="Calibri" pitchFamily="34" charset="0"/>
                <a:ea typeface="Calibri" pitchFamily="34" charset="-122"/>
                <a:cs typeface="Calibri" pitchFamily="34" charset="-120"/>
              </a:rPr>
              <a:t>python pipeline.py --mode mock: face gate, DISPENSE, pill count</a:t>
            </a:r>
            <a:endParaRPr lang="en-US" sz="1250" dirty="0"/>
          </a:p>
        </p:txBody>
      </p:sp>
      <p:sp>
        <p:nvSpPr>
          <p:cNvPr id="9" name="Shape 7"/>
          <p:cNvSpPr/>
          <p:nvPr/>
        </p:nvSpPr>
        <p:spPr>
          <a:xfrm>
            <a:off x="457200" y="1874520"/>
            <a:ext cx="8229600" cy="457200"/>
          </a:xfrm>
          <a:prstGeom prst="roundRect">
            <a:avLst>
              <a:gd name="adj" fmla="val 16000"/>
            </a:avLst>
          </a:prstGeom>
          <a:solidFill>
            <a:srgbClr val="FFFFFF"/>
          </a:solidFill>
          <a:ln w="9525">
            <a:solidFill>
              <a:srgbClr val="D4D1CA"/>
            </a:solidFill>
            <a:prstDash val="solid"/>
          </a:ln>
        </p:spPr>
        <p:txBody>
          <a:bodyPr/>
          <a:lstStyle/>
          <a:p>
            <a:endParaRPr lang="en-US"/>
          </a:p>
        </p:txBody>
      </p:sp>
      <p:sp>
        <p:nvSpPr>
          <p:cNvPr id="10" name="Text 8"/>
          <p:cNvSpPr/>
          <p:nvPr/>
        </p:nvSpPr>
        <p:spPr>
          <a:xfrm>
            <a:off x="594360" y="1874520"/>
            <a:ext cx="731520" cy="457200"/>
          </a:xfrm>
          <a:prstGeom prst="rect">
            <a:avLst/>
          </a:prstGeom>
          <a:noFill/>
          <a:ln/>
        </p:spPr>
        <p:txBody>
          <a:bodyPr wrap="square" lIns="0" tIns="0" rIns="0" bIns="0" rtlCol="0" anchor="ctr"/>
          <a:lstStyle/>
          <a:p>
            <a:pPr marL="0" indent="0">
              <a:buNone/>
            </a:pPr>
            <a:r>
              <a:rPr lang="en-US" sz="1300" b="1" dirty="0">
                <a:solidFill>
                  <a:srgbClr val="01696F"/>
                </a:solidFill>
                <a:latin typeface="Calibri" pitchFamily="34" charset="0"/>
                <a:ea typeface="Calibri" pitchFamily="34" charset="-122"/>
                <a:cs typeface="Calibri" pitchFamily="34" charset="-120"/>
              </a:rPr>
              <a:t>22:00</a:t>
            </a:r>
            <a:endParaRPr lang="en-US" sz="1300" dirty="0"/>
          </a:p>
        </p:txBody>
      </p:sp>
      <p:sp>
        <p:nvSpPr>
          <p:cNvPr id="11" name="Text 9"/>
          <p:cNvSpPr/>
          <p:nvPr/>
        </p:nvSpPr>
        <p:spPr>
          <a:xfrm>
            <a:off x="1325880" y="1874520"/>
            <a:ext cx="685800" cy="457200"/>
          </a:xfrm>
          <a:prstGeom prst="rect">
            <a:avLst/>
          </a:prstGeom>
          <a:noFill/>
          <a:ln/>
        </p:spPr>
        <p:txBody>
          <a:bodyPr wrap="square" lIns="0" tIns="0" rIns="0" bIns="0" rtlCol="0" anchor="ctr"/>
          <a:lstStyle/>
          <a:p>
            <a:pPr marL="0" indent="0">
              <a:buNone/>
            </a:pPr>
            <a:r>
              <a:rPr lang="en-US" sz="1200" dirty="0">
                <a:solidFill>
                  <a:srgbClr val="5F5E59"/>
                </a:solidFill>
                <a:latin typeface="Calibri" pitchFamily="34" charset="0"/>
                <a:ea typeface="Calibri" pitchFamily="34" charset="-122"/>
                <a:cs typeface="Calibri" pitchFamily="34" charset="-120"/>
              </a:rPr>
              <a:t>3 min</a:t>
            </a:r>
            <a:endParaRPr lang="en-US" sz="1200" dirty="0"/>
          </a:p>
        </p:txBody>
      </p:sp>
      <p:sp>
        <p:nvSpPr>
          <p:cNvPr id="12" name="Text 10"/>
          <p:cNvSpPr/>
          <p:nvPr/>
        </p:nvSpPr>
        <p:spPr>
          <a:xfrm>
            <a:off x="2057400" y="1874520"/>
            <a:ext cx="1645920" cy="45720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Bronze</a:t>
            </a:r>
            <a:endParaRPr lang="en-US" sz="1400" dirty="0"/>
          </a:p>
        </p:txBody>
      </p:sp>
      <p:sp>
        <p:nvSpPr>
          <p:cNvPr id="13" name="Text 11"/>
          <p:cNvSpPr/>
          <p:nvPr/>
        </p:nvSpPr>
        <p:spPr>
          <a:xfrm>
            <a:off x="3749040" y="1874520"/>
            <a:ext cx="4846320" cy="457200"/>
          </a:xfrm>
          <a:prstGeom prst="rect">
            <a:avLst/>
          </a:prstGeom>
          <a:noFill/>
          <a:ln/>
        </p:spPr>
        <p:txBody>
          <a:bodyPr wrap="square" lIns="0" tIns="0" rIns="0" bIns="0" rtlCol="0" anchor="ctr"/>
          <a:lstStyle/>
          <a:p>
            <a:pPr marL="0" indent="0">
              <a:buNone/>
            </a:pPr>
            <a:r>
              <a:rPr lang="en-US" sz="1250" dirty="0">
                <a:solidFill>
                  <a:srgbClr val="28251D"/>
                </a:solidFill>
                <a:latin typeface="Calibri" pitchFamily="34" charset="0"/>
                <a:ea typeface="Calibri" pitchFamily="34" charset="-122"/>
                <a:cs typeface="Calibri" pitchFamily="34" charset="-120"/>
              </a:rPr>
              <a:t>New row lands in bronze_dispense_events via the SQL API</a:t>
            </a:r>
            <a:endParaRPr lang="en-US" sz="1250" dirty="0"/>
          </a:p>
        </p:txBody>
      </p:sp>
      <p:sp>
        <p:nvSpPr>
          <p:cNvPr id="14" name="Shape 12"/>
          <p:cNvSpPr/>
          <p:nvPr/>
        </p:nvSpPr>
        <p:spPr>
          <a:xfrm>
            <a:off x="457200" y="2423160"/>
            <a:ext cx="8229600" cy="457200"/>
          </a:xfrm>
          <a:prstGeom prst="roundRect">
            <a:avLst>
              <a:gd name="adj" fmla="val 16000"/>
            </a:avLst>
          </a:prstGeom>
          <a:solidFill>
            <a:srgbClr val="FBFBF9"/>
          </a:solidFill>
          <a:ln w="9525">
            <a:solidFill>
              <a:srgbClr val="D4D1CA"/>
            </a:solidFill>
            <a:prstDash val="solid"/>
          </a:ln>
        </p:spPr>
        <p:txBody>
          <a:bodyPr/>
          <a:lstStyle/>
          <a:p>
            <a:endParaRPr lang="en-US"/>
          </a:p>
        </p:txBody>
      </p:sp>
      <p:sp>
        <p:nvSpPr>
          <p:cNvPr id="15" name="Text 13"/>
          <p:cNvSpPr/>
          <p:nvPr/>
        </p:nvSpPr>
        <p:spPr>
          <a:xfrm>
            <a:off x="594360" y="2423160"/>
            <a:ext cx="731520" cy="457200"/>
          </a:xfrm>
          <a:prstGeom prst="rect">
            <a:avLst/>
          </a:prstGeom>
          <a:noFill/>
          <a:ln/>
        </p:spPr>
        <p:txBody>
          <a:bodyPr wrap="square" lIns="0" tIns="0" rIns="0" bIns="0" rtlCol="0" anchor="ctr"/>
          <a:lstStyle/>
          <a:p>
            <a:pPr marL="0" indent="0">
              <a:buNone/>
            </a:pPr>
            <a:r>
              <a:rPr lang="en-US" sz="1300" b="1" dirty="0">
                <a:solidFill>
                  <a:srgbClr val="01696F"/>
                </a:solidFill>
                <a:latin typeface="Calibri" pitchFamily="34" charset="0"/>
                <a:ea typeface="Calibri" pitchFamily="34" charset="-122"/>
                <a:cs typeface="Calibri" pitchFamily="34" charset="-120"/>
              </a:rPr>
              <a:t>25:00</a:t>
            </a:r>
            <a:endParaRPr lang="en-US" sz="1300" dirty="0"/>
          </a:p>
        </p:txBody>
      </p:sp>
      <p:sp>
        <p:nvSpPr>
          <p:cNvPr id="16" name="Text 14"/>
          <p:cNvSpPr/>
          <p:nvPr/>
        </p:nvSpPr>
        <p:spPr>
          <a:xfrm>
            <a:off x="1325880" y="2423160"/>
            <a:ext cx="685800" cy="457200"/>
          </a:xfrm>
          <a:prstGeom prst="rect">
            <a:avLst/>
          </a:prstGeom>
          <a:noFill/>
          <a:ln/>
        </p:spPr>
        <p:txBody>
          <a:bodyPr wrap="square" lIns="0" tIns="0" rIns="0" bIns="0" rtlCol="0" anchor="ctr"/>
          <a:lstStyle/>
          <a:p>
            <a:pPr marL="0" indent="0">
              <a:buNone/>
            </a:pPr>
            <a:r>
              <a:rPr lang="en-US" sz="1200" dirty="0">
                <a:solidFill>
                  <a:srgbClr val="5F5E59"/>
                </a:solidFill>
                <a:latin typeface="Calibri" pitchFamily="34" charset="0"/>
                <a:ea typeface="Calibri" pitchFamily="34" charset="-122"/>
                <a:cs typeface="Calibri" pitchFamily="34" charset="-120"/>
              </a:rPr>
              <a:t>3 min</a:t>
            </a:r>
            <a:endParaRPr lang="en-US" sz="1200" dirty="0"/>
          </a:p>
        </p:txBody>
      </p:sp>
      <p:sp>
        <p:nvSpPr>
          <p:cNvPr id="17" name="Text 15"/>
          <p:cNvSpPr/>
          <p:nvPr/>
        </p:nvSpPr>
        <p:spPr>
          <a:xfrm>
            <a:off x="2057400" y="2423160"/>
            <a:ext cx="1645920" cy="45720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Silver and Gold</a:t>
            </a:r>
            <a:endParaRPr lang="en-US" sz="1400" dirty="0"/>
          </a:p>
        </p:txBody>
      </p:sp>
      <p:sp>
        <p:nvSpPr>
          <p:cNvPr id="18" name="Text 16"/>
          <p:cNvSpPr/>
          <p:nvPr/>
        </p:nvSpPr>
        <p:spPr>
          <a:xfrm>
            <a:off x="3749040" y="2423160"/>
            <a:ext cx="4846320" cy="457200"/>
          </a:xfrm>
          <a:prstGeom prst="rect">
            <a:avLst/>
          </a:prstGeom>
          <a:noFill/>
          <a:ln/>
        </p:spPr>
        <p:txBody>
          <a:bodyPr wrap="square" lIns="0" tIns="0" rIns="0" bIns="0" rtlCol="0" anchor="ctr"/>
          <a:lstStyle/>
          <a:p>
            <a:pPr marL="0" indent="0">
              <a:buNone/>
            </a:pPr>
            <a:r>
              <a:rPr lang="en-US" sz="1250" dirty="0">
                <a:solidFill>
                  <a:srgbClr val="28251D"/>
                </a:solidFill>
                <a:latin typeface="Calibri" pitchFamily="34" charset="0"/>
                <a:ea typeface="Calibri" pitchFamily="34" charset="-122"/>
                <a:cs typeface="Calibri" pitchFamily="34" charset="-120"/>
              </a:rPr>
              <a:t>Drift from the dose anchor; misses counted in adherence</a:t>
            </a:r>
            <a:endParaRPr lang="en-US" sz="1250" dirty="0"/>
          </a:p>
        </p:txBody>
      </p:sp>
      <p:sp>
        <p:nvSpPr>
          <p:cNvPr id="19" name="Shape 17"/>
          <p:cNvSpPr/>
          <p:nvPr/>
        </p:nvSpPr>
        <p:spPr>
          <a:xfrm>
            <a:off x="457200" y="2971800"/>
            <a:ext cx="8229600" cy="457200"/>
          </a:xfrm>
          <a:prstGeom prst="roundRect">
            <a:avLst>
              <a:gd name="adj" fmla="val 16000"/>
            </a:avLst>
          </a:prstGeom>
          <a:solidFill>
            <a:srgbClr val="FFFFFF"/>
          </a:solidFill>
          <a:ln w="9525">
            <a:solidFill>
              <a:srgbClr val="D4D1CA"/>
            </a:solidFill>
            <a:prstDash val="solid"/>
          </a:ln>
        </p:spPr>
        <p:txBody>
          <a:bodyPr/>
          <a:lstStyle/>
          <a:p>
            <a:endParaRPr lang="en-US"/>
          </a:p>
        </p:txBody>
      </p:sp>
      <p:sp>
        <p:nvSpPr>
          <p:cNvPr id="20" name="Text 18"/>
          <p:cNvSpPr/>
          <p:nvPr/>
        </p:nvSpPr>
        <p:spPr>
          <a:xfrm>
            <a:off x="594360" y="2971800"/>
            <a:ext cx="731520" cy="457200"/>
          </a:xfrm>
          <a:prstGeom prst="rect">
            <a:avLst/>
          </a:prstGeom>
          <a:noFill/>
          <a:ln/>
        </p:spPr>
        <p:txBody>
          <a:bodyPr wrap="square" lIns="0" tIns="0" rIns="0" bIns="0" rtlCol="0" anchor="ctr"/>
          <a:lstStyle/>
          <a:p>
            <a:pPr marL="0" indent="0">
              <a:buNone/>
            </a:pPr>
            <a:r>
              <a:rPr lang="en-US" sz="1300" b="1" dirty="0">
                <a:solidFill>
                  <a:srgbClr val="01696F"/>
                </a:solidFill>
                <a:latin typeface="Calibri" pitchFamily="34" charset="0"/>
                <a:ea typeface="Calibri" pitchFamily="34" charset="-122"/>
                <a:cs typeface="Calibri" pitchFamily="34" charset="-120"/>
              </a:rPr>
              <a:t>28:00</a:t>
            </a:r>
            <a:endParaRPr lang="en-US" sz="1300" dirty="0"/>
          </a:p>
        </p:txBody>
      </p:sp>
      <p:sp>
        <p:nvSpPr>
          <p:cNvPr id="21" name="Text 19"/>
          <p:cNvSpPr/>
          <p:nvPr/>
        </p:nvSpPr>
        <p:spPr>
          <a:xfrm>
            <a:off x="1325880" y="2971800"/>
            <a:ext cx="685800" cy="457200"/>
          </a:xfrm>
          <a:prstGeom prst="rect">
            <a:avLst/>
          </a:prstGeom>
          <a:noFill/>
          <a:ln/>
        </p:spPr>
        <p:txBody>
          <a:bodyPr wrap="square" lIns="0" tIns="0" rIns="0" bIns="0" rtlCol="0" anchor="ctr"/>
          <a:lstStyle/>
          <a:p>
            <a:pPr marL="0" indent="0">
              <a:buNone/>
            </a:pPr>
            <a:r>
              <a:rPr lang="en-US" sz="1200" dirty="0">
                <a:solidFill>
                  <a:srgbClr val="5F5E59"/>
                </a:solidFill>
                <a:latin typeface="Calibri" pitchFamily="34" charset="0"/>
                <a:ea typeface="Calibri" pitchFamily="34" charset="-122"/>
                <a:cs typeface="Calibri" pitchFamily="34" charset="-120"/>
              </a:rPr>
              <a:t>4 min</a:t>
            </a:r>
            <a:endParaRPr lang="en-US" sz="1200" dirty="0"/>
          </a:p>
        </p:txBody>
      </p:sp>
      <p:sp>
        <p:nvSpPr>
          <p:cNvPr id="22" name="Text 20"/>
          <p:cNvSpPr/>
          <p:nvPr/>
        </p:nvSpPr>
        <p:spPr>
          <a:xfrm>
            <a:off x="2057400" y="2971800"/>
            <a:ext cx="1645920" cy="45720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Dashboard</a:t>
            </a:r>
            <a:endParaRPr lang="en-US" sz="1400" dirty="0"/>
          </a:p>
        </p:txBody>
      </p:sp>
      <p:sp>
        <p:nvSpPr>
          <p:cNvPr id="23" name="Text 21"/>
          <p:cNvSpPr/>
          <p:nvPr/>
        </p:nvSpPr>
        <p:spPr>
          <a:xfrm>
            <a:off x="3749040" y="2971800"/>
            <a:ext cx="4846320" cy="457200"/>
          </a:xfrm>
          <a:prstGeom prst="rect">
            <a:avLst/>
          </a:prstGeom>
          <a:noFill/>
          <a:ln/>
        </p:spPr>
        <p:txBody>
          <a:bodyPr wrap="square" lIns="0" tIns="0" rIns="0" bIns="0" rtlCol="0" anchor="ctr"/>
          <a:lstStyle/>
          <a:p>
            <a:pPr marL="0" indent="0">
              <a:buNone/>
            </a:pPr>
            <a:r>
              <a:rPr lang="en-US" sz="1250" dirty="0">
                <a:solidFill>
                  <a:srgbClr val="28251D"/>
                </a:solidFill>
                <a:latin typeface="Calibri" pitchFamily="34" charset="0"/>
                <a:ea typeface="Calibri" pitchFamily="34" charset="-122"/>
                <a:cs typeface="Calibri" pitchFamily="34" charset="-120"/>
              </a:rPr>
              <a:t>90-day trend, the 10 to 14 Aug gap, events by status</a:t>
            </a:r>
            <a:endParaRPr lang="en-US" sz="1250" dirty="0"/>
          </a:p>
        </p:txBody>
      </p:sp>
      <p:sp>
        <p:nvSpPr>
          <p:cNvPr id="24" name="Shape 22"/>
          <p:cNvSpPr/>
          <p:nvPr/>
        </p:nvSpPr>
        <p:spPr>
          <a:xfrm>
            <a:off x="457200" y="3520440"/>
            <a:ext cx="8229600" cy="457200"/>
          </a:xfrm>
          <a:prstGeom prst="roundRect">
            <a:avLst>
              <a:gd name="adj" fmla="val 16000"/>
            </a:avLst>
          </a:prstGeom>
          <a:solidFill>
            <a:srgbClr val="FBFBF9"/>
          </a:solidFill>
          <a:ln w="9525">
            <a:solidFill>
              <a:srgbClr val="D4D1CA"/>
            </a:solidFill>
            <a:prstDash val="solid"/>
          </a:ln>
        </p:spPr>
        <p:txBody>
          <a:bodyPr/>
          <a:lstStyle/>
          <a:p>
            <a:endParaRPr lang="en-US"/>
          </a:p>
        </p:txBody>
      </p:sp>
      <p:sp>
        <p:nvSpPr>
          <p:cNvPr id="25" name="Text 23"/>
          <p:cNvSpPr/>
          <p:nvPr/>
        </p:nvSpPr>
        <p:spPr>
          <a:xfrm>
            <a:off x="594360" y="3520440"/>
            <a:ext cx="731520" cy="457200"/>
          </a:xfrm>
          <a:prstGeom prst="rect">
            <a:avLst/>
          </a:prstGeom>
          <a:noFill/>
          <a:ln/>
        </p:spPr>
        <p:txBody>
          <a:bodyPr wrap="square" lIns="0" tIns="0" rIns="0" bIns="0" rtlCol="0" anchor="ctr"/>
          <a:lstStyle/>
          <a:p>
            <a:pPr marL="0" indent="0">
              <a:buNone/>
            </a:pPr>
            <a:r>
              <a:rPr lang="en-US" sz="1300" b="1" dirty="0">
                <a:solidFill>
                  <a:srgbClr val="01696F"/>
                </a:solidFill>
                <a:latin typeface="Calibri" pitchFamily="34" charset="0"/>
                <a:ea typeface="Calibri" pitchFamily="34" charset="-122"/>
                <a:cs typeface="Calibri" pitchFamily="34" charset="-120"/>
              </a:rPr>
              <a:t>32:00</a:t>
            </a:r>
            <a:endParaRPr lang="en-US" sz="1300" dirty="0"/>
          </a:p>
        </p:txBody>
      </p:sp>
      <p:sp>
        <p:nvSpPr>
          <p:cNvPr id="26" name="Text 24"/>
          <p:cNvSpPr/>
          <p:nvPr/>
        </p:nvSpPr>
        <p:spPr>
          <a:xfrm>
            <a:off x="1325880" y="3520440"/>
            <a:ext cx="685800" cy="457200"/>
          </a:xfrm>
          <a:prstGeom prst="rect">
            <a:avLst/>
          </a:prstGeom>
          <a:noFill/>
          <a:ln/>
        </p:spPr>
        <p:txBody>
          <a:bodyPr wrap="square" lIns="0" tIns="0" rIns="0" bIns="0" rtlCol="0" anchor="ctr"/>
          <a:lstStyle/>
          <a:p>
            <a:pPr marL="0" indent="0">
              <a:buNone/>
            </a:pPr>
            <a:r>
              <a:rPr lang="en-US" sz="1200" dirty="0">
                <a:solidFill>
                  <a:srgbClr val="5F5E59"/>
                </a:solidFill>
                <a:latin typeface="Calibri" pitchFamily="34" charset="0"/>
                <a:ea typeface="Calibri" pitchFamily="34" charset="-122"/>
                <a:cs typeface="Calibri" pitchFamily="34" charset="-120"/>
              </a:rPr>
              <a:t>1 min</a:t>
            </a:r>
            <a:endParaRPr lang="en-US" sz="1200" dirty="0"/>
          </a:p>
        </p:txBody>
      </p:sp>
      <p:sp>
        <p:nvSpPr>
          <p:cNvPr id="27" name="Text 25"/>
          <p:cNvSpPr/>
          <p:nvPr/>
        </p:nvSpPr>
        <p:spPr>
          <a:xfrm>
            <a:off x="2057400" y="3520440"/>
            <a:ext cx="1645920" cy="45720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Two rates</a:t>
            </a:r>
            <a:endParaRPr lang="en-US" sz="1400" dirty="0"/>
          </a:p>
        </p:txBody>
      </p:sp>
      <p:sp>
        <p:nvSpPr>
          <p:cNvPr id="28" name="Text 26"/>
          <p:cNvSpPr/>
          <p:nvPr/>
        </p:nvSpPr>
        <p:spPr>
          <a:xfrm>
            <a:off x="3749040" y="3520440"/>
            <a:ext cx="4846320" cy="457200"/>
          </a:xfrm>
          <a:prstGeom prst="rect">
            <a:avLst/>
          </a:prstGeom>
          <a:noFill/>
          <a:ln/>
        </p:spPr>
        <p:txBody>
          <a:bodyPr wrap="square" lIns="0" tIns="0" rIns="0" bIns="0" rtlCol="0" anchor="ctr"/>
          <a:lstStyle/>
          <a:p>
            <a:pPr marL="0" indent="0">
              <a:buNone/>
            </a:pPr>
            <a:r>
              <a:rPr lang="en-US" sz="1250" dirty="0">
                <a:solidFill>
                  <a:srgbClr val="28251D"/>
                </a:solidFill>
                <a:latin typeface="Calibri" pitchFamily="34" charset="0"/>
                <a:ea typeface="Calibri" pitchFamily="34" charset="-122"/>
                <a:cs typeface="Calibri" pitchFamily="34" charset="-120"/>
              </a:rPr>
              <a:t>99.44% dispense success vs 94.12% scheduled adherence</a:t>
            </a:r>
            <a:endParaRPr lang="en-US" sz="1250" dirty="0"/>
          </a:p>
        </p:txBody>
      </p:sp>
      <p:sp>
        <p:nvSpPr>
          <p:cNvPr id="29" name="Shape 27"/>
          <p:cNvSpPr/>
          <p:nvPr/>
        </p:nvSpPr>
        <p:spPr>
          <a:xfrm>
            <a:off x="457200" y="4069080"/>
            <a:ext cx="8229600" cy="457200"/>
          </a:xfrm>
          <a:prstGeom prst="roundRect">
            <a:avLst>
              <a:gd name="adj" fmla="val 16000"/>
            </a:avLst>
          </a:prstGeom>
          <a:solidFill>
            <a:srgbClr val="FFFFFF"/>
          </a:solidFill>
          <a:ln w="9525">
            <a:solidFill>
              <a:srgbClr val="D4D1CA"/>
            </a:solidFill>
            <a:prstDash val="solid"/>
          </a:ln>
        </p:spPr>
        <p:txBody>
          <a:bodyPr/>
          <a:lstStyle/>
          <a:p>
            <a:endParaRPr lang="en-US"/>
          </a:p>
        </p:txBody>
      </p:sp>
      <p:sp>
        <p:nvSpPr>
          <p:cNvPr id="30" name="Text 28"/>
          <p:cNvSpPr/>
          <p:nvPr/>
        </p:nvSpPr>
        <p:spPr>
          <a:xfrm>
            <a:off x="594360" y="4069080"/>
            <a:ext cx="731520" cy="457200"/>
          </a:xfrm>
          <a:prstGeom prst="rect">
            <a:avLst/>
          </a:prstGeom>
          <a:noFill/>
          <a:ln/>
        </p:spPr>
        <p:txBody>
          <a:bodyPr wrap="square" lIns="0" tIns="0" rIns="0" bIns="0" rtlCol="0" anchor="ctr"/>
          <a:lstStyle/>
          <a:p>
            <a:pPr marL="0" indent="0">
              <a:buNone/>
            </a:pPr>
            <a:r>
              <a:rPr lang="en-US" sz="1300" b="1" dirty="0">
                <a:solidFill>
                  <a:srgbClr val="01696F"/>
                </a:solidFill>
                <a:latin typeface="Calibri" pitchFamily="34" charset="0"/>
                <a:ea typeface="Calibri" pitchFamily="34" charset="-122"/>
                <a:cs typeface="Calibri" pitchFamily="34" charset="-120"/>
              </a:rPr>
              <a:t>33:00</a:t>
            </a:r>
            <a:endParaRPr lang="en-US" sz="1300" dirty="0"/>
          </a:p>
        </p:txBody>
      </p:sp>
      <p:sp>
        <p:nvSpPr>
          <p:cNvPr id="31" name="Text 29"/>
          <p:cNvSpPr/>
          <p:nvPr/>
        </p:nvSpPr>
        <p:spPr>
          <a:xfrm>
            <a:off x="1325880" y="4069080"/>
            <a:ext cx="685800" cy="457200"/>
          </a:xfrm>
          <a:prstGeom prst="rect">
            <a:avLst/>
          </a:prstGeom>
          <a:noFill/>
          <a:ln/>
        </p:spPr>
        <p:txBody>
          <a:bodyPr wrap="square" lIns="0" tIns="0" rIns="0" bIns="0" rtlCol="0" anchor="ctr"/>
          <a:lstStyle/>
          <a:p>
            <a:pPr marL="0" indent="0">
              <a:buNone/>
            </a:pPr>
            <a:r>
              <a:rPr lang="en-US" sz="1200" dirty="0">
                <a:solidFill>
                  <a:srgbClr val="5F5E59"/>
                </a:solidFill>
                <a:latin typeface="Calibri" pitchFamily="34" charset="0"/>
                <a:ea typeface="Calibri" pitchFamily="34" charset="-122"/>
                <a:cs typeface="Calibri" pitchFamily="34" charset="-120"/>
              </a:rPr>
              <a:t>2 min</a:t>
            </a:r>
            <a:endParaRPr lang="en-US" sz="1200" dirty="0"/>
          </a:p>
        </p:txBody>
      </p:sp>
      <p:sp>
        <p:nvSpPr>
          <p:cNvPr id="32" name="Text 30"/>
          <p:cNvSpPr/>
          <p:nvPr/>
        </p:nvSpPr>
        <p:spPr>
          <a:xfrm>
            <a:off x="2057400" y="4069080"/>
            <a:ext cx="1645920" cy="457200"/>
          </a:xfrm>
          <a:prstGeom prst="rect">
            <a:avLst/>
          </a:prstGeom>
          <a:noFill/>
          <a:ln/>
        </p:spPr>
        <p:txBody>
          <a:bodyPr wrap="square" lIns="0" tIns="0" rIns="0" bIns="0" rtlCol="0" anchor="ctr"/>
          <a:lstStyle/>
          <a:p>
            <a:pPr marL="0" indent="0">
              <a:buNone/>
            </a:pPr>
            <a:r>
              <a:rPr lang="en-US" sz="1400" b="1" dirty="0">
                <a:solidFill>
                  <a:srgbClr val="28251D"/>
                </a:solidFill>
                <a:latin typeface="Trebuchet MS" pitchFamily="34" charset="0"/>
                <a:ea typeface="Trebuchet MS" pitchFamily="34" charset="-122"/>
                <a:cs typeface="Trebuchet MS" pitchFamily="34" charset="-120"/>
              </a:rPr>
              <a:t>Risk flag</a:t>
            </a:r>
            <a:endParaRPr lang="en-US" sz="1400" dirty="0"/>
          </a:p>
        </p:txBody>
      </p:sp>
      <p:sp>
        <p:nvSpPr>
          <p:cNvPr id="33" name="Text 31"/>
          <p:cNvSpPr/>
          <p:nvPr/>
        </p:nvSpPr>
        <p:spPr>
          <a:xfrm>
            <a:off x="3749040" y="4069080"/>
            <a:ext cx="4846320" cy="457200"/>
          </a:xfrm>
          <a:prstGeom prst="rect">
            <a:avLst/>
          </a:prstGeom>
          <a:noFill/>
          <a:ln/>
        </p:spPr>
        <p:txBody>
          <a:bodyPr wrap="square" lIns="0" tIns="0" rIns="0" bIns="0" rtlCol="0" anchor="ctr"/>
          <a:lstStyle/>
          <a:p>
            <a:pPr marL="0" indent="0">
              <a:buNone/>
            </a:pPr>
            <a:r>
              <a:rPr lang="en-US" sz="1250" dirty="0">
                <a:solidFill>
                  <a:srgbClr val="28251D"/>
                </a:solidFill>
                <a:latin typeface="Calibri" pitchFamily="34" charset="0"/>
                <a:ea typeface="Calibri" pitchFamily="34" charset="-122"/>
                <a:cs typeface="Calibri" pitchFamily="34" charset="-120"/>
              </a:rPr>
              <a:t>Why it is on, and what the test events do to drift</a:t>
            </a:r>
            <a:endParaRPr lang="en-US" sz="1250" dirty="0"/>
          </a:p>
        </p:txBody>
      </p:sp>
      <p:sp>
        <p:nvSpPr>
          <p:cNvPr id="34" name="Text 32"/>
          <p:cNvSpPr/>
          <p:nvPr/>
        </p:nvSpPr>
        <p:spPr>
          <a:xfrm>
            <a:off x="457200" y="4773168"/>
            <a:ext cx="8229600" cy="228600"/>
          </a:xfrm>
          <a:prstGeom prst="rect">
            <a:avLst/>
          </a:prstGeom>
          <a:noFill/>
          <a:ln/>
        </p:spPr>
        <p:txBody>
          <a:bodyPr wrap="square" lIns="0" tIns="0" rIns="0" bIns="0" rtlCol="0" anchor="ctr"/>
          <a:lstStyle/>
          <a:p>
            <a:pPr marL="0" indent="0">
              <a:buNone/>
            </a:pPr>
            <a:r>
              <a:rPr lang="en-US" sz="900" dirty="0">
                <a:solidFill>
                  <a:srgbClr val="5F5E59"/>
                </a:solidFill>
                <a:latin typeface="Calibri" pitchFamily="34" charset="0"/>
                <a:ea typeface="Calibri" pitchFamily="34" charset="-122"/>
                <a:cs typeface="Calibri" pitchFamily="34" charset="-120"/>
              </a:rPr>
              <a:t>Source: </a:t>
            </a:r>
            <a:r>
              <a:rPr lang="en-US" sz="900" u="sng" dirty="0">
                <a:solidFill>
                  <a:srgbClr val="01696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Databricks dashboard</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AutomatedPillDispenser repo</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DEMO BACKUP</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Verified in Databricks: the dashboard reconciles to the tables row for row</a:t>
            </a:r>
            <a:endParaRPr lang="en-US" sz="2400" dirty="0"/>
          </a:p>
        </p:txBody>
      </p:sp>
      <p:pic>
        <p:nvPicPr>
          <p:cNvPr id="4" name="Image 0" descr="dash.png"/>
          <p:cNvPicPr>
            <a:picLocks noChangeAspect="1"/>
          </p:cNvPicPr>
          <p:nvPr/>
        </p:nvPicPr>
        <p:blipFill>
          <a:blip r:embed="rId3"/>
          <a:stretch>
            <a:fillRect/>
          </a:stretch>
        </p:blipFill>
        <p:spPr>
          <a:xfrm>
            <a:off x="457200" y="1600200"/>
            <a:ext cx="4251960" cy="1892808"/>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892040" y="1280160"/>
          <a:ext cx="3794760" cy="2304288"/>
        </p:xfrm>
        <a:graphic>
          <a:graphicData uri="http://schemas.openxmlformats.org/drawingml/2006/table">
            <a:tbl>
              <a:tblPr/>
              <a:tblGrid>
                <a:gridCol w="14173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01696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Dashboard</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01696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Synthetic only</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01696F"/>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Events</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177</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172</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Dispense success</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99.44%</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Pills detected</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178</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172</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Avg time drift</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33.77 min</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5.94 min</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Avg latency</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1,246 ms</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1,227 ms</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Adherence (Gold)</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94.12%</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buNone/>
                      </a:pPr>
                      <a:r>
                        <a:rPr lang="en-US" sz="1200" dirty="0">
                          <a:solidFill>
                            <a:srgbClr val="28251D"/>
                          </a:solidFill>
                          <a:latin typeface="Calibri" pitchFamily="34" charset="0"/>
                          <a:ea typeface="Calibri" pitchFamily="34" charset="-122"/>
                          <a:cs typeface="Calibri" pitchFamily="34" charset="-120"/>
                        </a:rPr>
                        <a:t>94.51%</a:t>
                      </a:r>
                      <a:endParaRPr lang="en-US" sz="120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2"/>
          <p:cNvSpPr/>
          <p:nvPr/>
        </p:nvSpPr>
        <p:spPr>
          <a:xfrm>
            <a:off x="457200" y="4069080"/>
            <a:ext cx="8229600" cy="502920"/>
          </a:xfrm>
          <a:prstGeom prst="rect">
            <a:avLst/>
          </a:prstGeom>
          <a:noFill/>
          <a:ln/>
        </p:spPr>
        <p:txBody>
          <a:bodyPr wrap="square" lIns="0" tIns="0" rIns="0" bIns="0" rtlCol="0" anchor="ctr"/>
          <a:lstStyle/>
          <a:p>
            <a:pPr marL="0" indent="0">
              <a:buNone/>
            </a:pPr>
            <a:r>
              <a:rPr lang="en-US" sz="1250" dirty="0">
                <a:solidFill>
                  <a:srgbClr val="28251D"/>
                </a:solidFill>
                <a:latin typeface="Calibri" pitchFamily="34" charset="0"/>
                <a:ea typeface="Calibri" pitchFamily="34" charset="-122"/>
                <a:cs typeface="Calibri" pitchFamily="34" charset="-120"/>
              </a:rPr>
              <a:t>Synthetic patient: 182 scheduled doses, 1 Jul to 29 Sep 2026, 10 missed (10 to 14 Aug). Plus 5 live bench events on 29 Sep ET.</a:t>
            </a:r>
            <a:endParaRPr lang="en-US" sz="1250" dirty="0"/>
          </a:p>
        </p:txBody>
      </p:sp>
      <p:sp>
        <p:nvSpPr>
          <p:cNvPr id="7" name="Text 3"/>
          <p:cNvSpPr/>
          <p:nvPr/>
        </p:nvSpPr>
        <p:spPr>
          <a:xfrm>
            <a:off x="457200" y="4773168"/>
            <a:ext cx="8229600" cy="228600"/>
          </a:xfrm>
          <a:prstGeom prst="rect">
            <a:avLst/>
          </a:prstGeom>
          <a:noFill/>
          <a:ln/>
        </p:spPr>
        <p:txBody>
          <a:bodyPr wrap="square" lIns="0" tIns="0" rIns="0" bIns="0" rtlCol="0" anchor="ctr"/>
          <a:lstStyle/>
          <a:p>
            <a:pPr marL="0" indent="0">
              <a:buNone/>
            </a:pPr>
            <a:r>
              <a:rPr lang="en-US" sz="900" dirty="0">
                <a:solidFill>
                  <a:srgbClr val="5F5E59"/>
                </a:solidFill>
                <a:latin typeface="Calibri" pitchFamily="34" charset="0"/>
                <a:ea typeface="Calibri" pitchFamily="34" charset="-122"/>
                <a:cs typeface="Calibri" pitchFamily="34" charset="-120"/>
              </a:rPr>
              <a:t>Source: </a:t>
            </a:r>
            <a:r>
              <a:rPr lang="en-US" sz="900" u="sng" dirty="0">
                <a:solidFill>
                  <a:srgbClr val="01696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Databricks dashboard</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PR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FINANCIAL IMPACT 1 OF 4</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Non-adherence is a $100B to $300B line item that nobody measures at the point of use</a:t>
            </a:r>
            <a:endParaRPr lang="en-US" sz="2400" dirty="0"/>
          </a:p>
        </p:txBody>
      </p:sp>
      <p:sp>
        <p:nvSpPr>
          <p:cNvPr id="4" name="Shape 2"/>
          <p:cNvSpPr/>
          <p:nvPr/>
        </p:nvSpPr>
        <p:spPr>
          <a:xfrm>
            <a:off x="457200" y="1325880"/>
            <a:ext cx="3840480" cy="3200400"/>
          </a:xfrm>
          <a:prstGeom prst="roundRect">
            <a:avLst>
              <a:gd name="adj" fmla="val 2286"/>
            </a:avLst>
          </a:prstGeom>
          <a:solidFill>
            <a:srgbClr val="132B2D"/>
          </a:solidFill>
          <a:ln w="9525">
            <a:solidFill>
              <a:srgbClr val="D4D1CA"/>
            </a:solidFill>
            <a:prstDash val="solid"/>
          </a:ln>
        </p:spPr>
        <p:txBody>
          <a:bodyPr/>
          <a:lstStyle/>
          <a:p>
            <a:endParaRPr lang="en-US"/>
          </a:p>
        </p:txBody>
      </p:sp>
      <p:sp>
        <p:nvSpPr>
          <p:cNvPr id="5" name="Text 3"/>
          <p:cNvSpPr/>
          <p:nvPr/>
        </p:nvSpPr>
        <p:spPr>
          <a:xfrm>
            <a:off x="685800" y="1600200"/>
            <a:ext cx="3474720" cy="73152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$100B to $300B</a:t>
            </a:r>
            <a:endParaRPr lang="en-US" sz="3600" dirty="0"/>
          </a:p>
        </p:txBody>
      </p:sp>
      <p:sp>
        <p:nvSpPr>
          <p:cNvPr id="6" name="Text 4"/>
          <p:cNvSpPr/>
          <p:nvPr/>
        </p:nvSpPr>
        <p:spPr>
          <a:xfrm>
            <a:off x="685800" y="2377440"/>
            <a:ext cx="3383280" cy="822960"/>
          </a:xfrm>
          <a:prstGeom prst="rect">
            <a:avLst/>
          </a:prstGeom>
          <a:noFill/>
          <a:ln/>
        </p:spPr>
        <p:txBody>
          <a:bodyPr wrap="square" lIns="0" tIns="0" rIns="0" bIns="0" rtlCol="0" anchor="t"/>
          <a:lstStyle/>
          <a:p>
            <a:pPr marL="0" indent="0">
              <a:buNone/>
            </a:pPr>
            <a:r>
              <a:rPr lang="en-US" sz="1400" dirty="0">
                <a:solidFill>
                  <a:srgbClr val="EEF1EF"/>
                </a:solidFill>
                <a:latin typeface="Calibri" pitchFamily="34" charset="0"/>
                <a:ea typeface="Calibri" pitchFamily="34" charset="-122"/>
                <a:cs typeface="Calibri" pitchFamily="34" charset="-120"/>
              </a:rPr>
              <a:t>Avoidable direct US health care spending linked to non-adherence each year</a:t>
            </a:r>
            <a:endParaRPr lang="en-US" sz="1400" dirty="0"/>
          </a:p>
        </p:txBody>
      </p:sp>
      <p:sp>
        <p:nvSpPr>
          <p:cNvPr id="7" name="Text 5"/>
          <p:cNvSpPr/>
          <p:nvPr/>
        </p:nvSpPr>
        <p:spPr>
          <a:xfrm>
            <a:off x="685800" y="3291840"/>
            <a:ext cx="3383280" cy="914400"/>
          </a:xfrm>
          <a:prstGeom prst="rect">
            <a:avLst/>
          </a:prstGeom>
          <a:noFill/>
          <a:ln/>
        </p:spPr>
        <p:txBody>
          <a:bodyPr wrap="square" lIns="0" tIns="0" rIns="0" bIns="0" rtlCol="0" anchor="t"/>
          <a:lstStyle/>
          <a:p>
            <a:pPr marL="0" indent="0">
              <a:buNone/>
            </a:pPr>
            <a:r>
              <a:rPr lang="en-US" sz="1300" dirty="0">
                <a:solidFill>
                  <a:srgbClr val="A9B8B7"/>
                </a:solidFill>
                <a:latin typeface="Calibri" pitchFamily="34" charset="0"/>
                <a:ea typeface="Calibri" pitchFamily="34" charset="-122"/>
                <a:cs typeface="Calibri" pitchFamily="34" charset="-120"/>
              </a:rPr>
              <a:t>Most of that cost shows up as avoidable hospital admissions, not as pharmacy spend.</a:t>
            </a:r>
            <a:endParaRPr lang="en-US" sz="1300" dirty="0"/>
          </a:p>
        </p:txBody>
      </p:sp>
      <p:sp>
        <p:nvSpPr>
          <p:cNvPr id="8" name="Shape 6"/>
          <p:cNvSpPr/>
          <p:nvPr/>
        </p:nvSpPr>
        <p:spPr>
          <a:xfrm>
            <a:off x="4572000" y="1325880"/>
            <a:ext cx="4114800" cy="960120"/>
          </a:xfrm>
          <a:prstGeom prst="roundRect">
            <a:avLst>
              <a:gd name="adj" fmla="val 7619"/>
            </a:avLst>
          </a:prstGeom>
          <a:solidFill>
            <a:srgbClr val="FFFFFF"/>
          </a:solidFill>
          <a:ln w="9525">
            <a:solidFill>
              <a:srgbClr val="D4D1CA"/>
            </a:solidFill>
            <a:prstDash val="solid"/>
          </a:ln>
        </p:spPr>
        <p:txBody>
          <a:bodyPr/>
          <a:lstStyle/>
          <a:p>
            <a:endParaRPr lang="en-US"/>
          </a:p>
        </p:txBody>
      </p:sp>
      <p:sp>
        <p:nvSpPr>
          <p:cNvPr id="9" name="Text 7"/>
          <p:cNvSpPr/>
          <p:nvPr/>
        </p:nvSpPr>
        <p:spPr>
          <a:xfrm>
            <a:off x="4754880" y="1417320"/>
            <a:ext cx="3749040" cy="411480"/>
          </a:xfrm>
          <a:prstGeom prst="rect">
            <a:avLst/>
          </a:prstGeom>
          <a:noFill/>
          <a:ln/>
        </p:spPr>
        <p:txBody>
          <a:bodyPr wrap="square" lIns="0" tIns="0" rIns="0" bIns="0" rtlCol="0" anchor="ctr"/>
          <a:lstStyle/>
          <a:p>
            <a:pPr marL="0" indent="0">
              <a:buNone/>
            </a:pPr>
            <a:r>
              <a:rPr lang="en-US" sz="2200" b="1" dirty="0">
                <a:solidFill>
                  <a:srgbClr val="01696F"/>
                </a:solidFill>
                <a:latin typeface="Trebuchet MS" pitchFamily="34" charset="0"/>
                <a:ea typeface="Trebuchet MS" pitchFamily="34" charset="-122"/>
                <a:cs typeface="Trebuchet MS" pitchFamily="34" charset="-120"/>
              </a:rPr>
              <a:t>3.8 billion</a:t>
            </a:r>
            <a:endParaRPr lang="en-US" sz="2200" dirty="0"/>
          </a:p>
        </p:txBody>
      </p:sp>
      <p:sp>
        <p:nvSpPr>
          <p:cNvPr id="10" name="Text 8"/>
          <p:cNvSpPr/>
          <p:nvPr/>
        </p:nvSpPr>
        <p:spPr>
          <a:xfrm>
            <a:off x="4754880" y="1828800"/>
            <a:ext cx="3749040" cy="365760"/>
          </a:xfrm>
          <a:prstGeom prst="rect">
            <a:avLst/>
          </a:prstGeom>
          <a:noFill/>
          <a:ln/>
        </p:spPr>
        <p:txBody>
          <a:bodyPr wrap="square" lIns="0" tIns="0" rIns="0" bIns="0" rtlCol="0" anchor="ctr"/>
          <a:lstStyle/>
          <a:p>
            <a:pPr marL="0" indent="0">
              <a:buNone/>
            </a:pPr>
            <a:r>
              <a:rPr lang="en-US" sz="1300" dirty="0">
                <a:solidFill>
                  <a:srgbClr val="28251D"/>
                </a:solidFill>
                <a:latin typeface="Calibri" pitchFamily="34" charset="0"/>
                <a:ea typeface="Calibri" pitchFamily="34" charset="-122"/>
                <a:cs typeface="Calibri" pitchFamily="34" charset="-120"/>
              </a:rPr>
              <a:t>Prescriptions written in the US each year</a:t>
            </a:r>
            <a:endParaRPr lang="en-US" sz="1300" dirty="0"/>
          </a:p>
        </p:txBody>
      </p:sp>
      <p:sp>
        <p:nvSpPr>
          <p:cNvPr id="11" name="Shape 9"/>
          <p:cNvSpPr/>
          <p:nvPr/>
        </p:nvSpPr>
        <p:spPr>
          <a:xfrm>
            <a:off x="4572000" y="2423160"/>
            <a:ext cx="4114800" cy="960120"/>
          </a:xfrm>
          <a:prstGeom prst="roundRect">
            <a:avLst>
              <a:gd name="adj" fmla="val 7619"/>
            </a:avLst>
          </a:prstGeom>
          <a:solidFill>
            <a:srgbClr val="FFFFFF"/>
          </a:solidFill>
          <a:ln w="9525">
            <a:solidFill>
              <a:srgbClr val="D4D1CA"/>
            </a:solidFill>
            <a:prstDash val="solid"/>
          </a:ln>
        </p:spPr>
        <p:txBody>
          <a:bodyPr/>
          <a:lstStyle/>
          <a:p>
            <a:endParaRPr lang="en-US"/>
          </a:p>
        </p:txBody>
      </p:sp>
      <p:sp>
        <p:nvSpPr>
          <p:cNvPr id="12" name="Text 10"/>
          <p:cNvSpPr/>
          <p:nvPr/>
        </p:nvSpPr>
        <p:spPr>
          <a:xfrm>
            <a:off x="4754880" y="2514600"/>
            <a:ext cx="3749040" cy="411480"/>
          </a:xfrm>
          <a:prstGeom prst="rect">
            <a:avLst/>
          </a:prstGeom>
          <a:noFill/>
          <a:ln/>
        </p:spPr>
        <p:txBody>
          <a:bodyPr wrap="square" lIns="0" tIns="0" rIns="0" bIns="0" rtlCol="0" anchor="ctr"/>
          <a:lstStyle/>
          <a:p>
            <a:pPr marL="0" indent="0">
              <a:buNone/>
            </a:pPr>
            <a:r>
              <a:rPr lang="en-US" sz="2200" b="1" dirty="0">
                <a:solidFill>
                  <a:srgbClr val="01696F"/>
                </a:solidFill>
                <a:latin typeface="Trebuchet MS" pitchFamily="34" charset="0"/>
                <a:ea typeface="Trebuchet MS" pitchFamily="34" charset="-122"/>
                <a:cs typeface="Trebuchet MS" pitchFamily="34" charset="-120"/>
              </a:rPr>
              <a:t>1 in 5</a:t>
            </a:r>
            <a:endParaRPr lang="en-US" sz="2200" dirty="0"/>
          </a:p>
        </p:txBody>
      </p:sp>
      <p:sp>
        <p:nvSpPr>
          <p:cNvPr id="13" name="Text 11"/>
          <p:cNvSpPr/>
          <p:nvPr/>
        </p:nvSpPr>
        <p:spPr>
          <a:xfrm>
            <a:off x="4754880" y="2926080"/>
            <a:ext cx="3749040" cy="365760"/>
          </a:xfrm>
          <a:prstGeom prst="rect">
            <a:avLst/>
          </a:prstGeom>
          <a:noFill/>
          <a:ln/>
        </p:spPr>
        <p:txBody>
          <a:bodyPr wrap="square" lIns="0" tIns="0" rIns="0" bIns="0" rtlCol="0" anchor="ctr"/>
          <a:lstStyle/>
          <a:p>
            <a:pPr marL="0" indent="0">
              <a:buNone/>
            </a:pPr>
            <a:r>
              <a:rPr lang="en-US" sz="1300" dirty="0">
                <a:solidFill>
                  <a:srgbClr val="28251D"/>
                </a:solidFill>
                <a:latin typeface="Calibri" pitchFamily="34" charset="0"/>
                <a:ea typeface="Calibri" pitchFamily="34" charset="-122"/>
                <a:cs typeface="Calibri" pitchFamily="34" charset="-120"/>
              </a:rPr>
              <a:t>New prescriptions never filled</a:t>
            </a:r>
            <a:endParaRPr lang="en-US" sz="1300" dirty="0"/>
          </a:p>
        </p:txBody>
      </p:sp>
      <p:sp>
        <p:nvSpPr>
          <p:cNvPr id="14" name="Shape 12"/>
          <p:cNvSpPr/>
          <p:nvPr/>
        </p:nvSpPr>
        <p:spPr>
          <a:xfrm>
            <a:off x="4572000" y="3520440"/>
            <a:ext cx="4114800" cy="960120"/>
          </a:xfrm>
          <a:prstGeom prst="roundRect">
            <a:avLst>
              <a:gd name="adj" fmla="val 7619"/>
            </a:avLst>
          </a:prstGeom>
          <a:solidFill>
            <a:srgbClr val="FFFFFF"/>
          </a:solidFill>
          <a:ln w="9525">
            <a:solidFill>
              <a:srgbClr val="D4D1CA"/>
            </a:solidFill>
            <a:prstDash val="solid"/>
          </a:ln>
        </p:spPr>
        <p:txBody>
          <a:bodyPr/>
          <a:lstStyle/>
          <a:p>
            <a:endParaRPr lang="en-US"/>
          </a:p>
        </p:txBody>
      </p:sp>
      <p:sp>
        <p:nvSpPr>
          <p:cNvPr id="15" name="Text 13"/>
          <p:cNvSpPr/>
          <p:nvPr/>
        </p:nvSpPr>
        <p:spPr>
          <a:xfrm>
            <a:off x="4754880" y="3611880"/>
            <a:ext cx="3749040" cy="411480"/>
          </a:xfrm>
          <a:prstGeom prst="rect">
            <a:avLst/>
          </a:prstGeom>
          <a:noFill/>
          <a:ln/>
        </p:spPr>
        <p:txBody>
          <a:bodyPr wrap="square" lIns="0" tIns="0" rIns="0" bIns="0" rtlCol="0" anchor="ctr"/>
          <a:lstStyle/>
          <a:p>
            <a:pPr marL="0" indent="0">
              <a:buNone/>
            </a:pPr>
            <a:r>
              <a:rPr lang="en-US" sz="2200" b="1" dirty="0">
                <a:solidFill>
                  <a:srgbClr val="01696F"/>
                </a:solidFill>
                <a:latin typeface="Trebuchet MS" pitchFamily="34" charset="0"/>
                <a:ea typeface="Trebuchet MS" pitchFamily="34" charset="-122"/>
                <a:cs typeface="Trebuchet MS" pitchFamily="34" charset="-120"/>
              </a:rPr>
              <a:t>$409 billion</a:t>
            </a:r>
            <a:endParaRPr lang="en-US" sz="2200" dirty="0"/>
          </a:p>
        </p:txBody>
      </p:sp>
      <p:sp>
        <p:nvSpPr>
          <p:cNvPr id="16" name="Text 14"/>
          <p:cNvSpPr/>
          <p:nvPr/>
        </p:nvSpPr>
        <p:spPr>
          <a:xfrm>
            <a:off x="4754880" y="4023360"/>
            <a:ext cx="3749040" cy="365760"/>
          </a:xfrm>
          <a:prstGeom prst="rect">
            <a:avLst/>
          </a:prstGeom>
          <a:noFill/>
          <a:ln/>
        </p:spPr>
        <p:txBody>
          <a:bodyPr wrap="square" lIns="0" tIns="0" rIns="0" bIns="0" rtlCol="0" anchor="ctr"/>
          <a:lstStyle/>
          <a:p>
            <a:pPr marL="0" indent="0">
              <a:buNone/>
            </a:pPr>
            <a:r>
              <a:rPr lang="en-US" sz="1300" dirty="0">
                <a:solidFill>
                  <a:srgbClr val="28251D"/>
                </a:solidFill>
                <a:latin typeface="Calibri" pitchFamily="34" charset="0"/>
                <a:ea typeface="Calibri" pitchFamily="34" charset="-122"/>
                <a:cs typeface="Calibri" pitchFamily="34" charset="-120"/>
              </a:rPr>
              <a:t>2026 US cost of care for people 65+ with dementia</a:t>
            </a:r>
            <a:endParaRPr lang="en-US" sz="1300" dirty="0"/>
          </a:p>
        </p:txBody>
      </p:sp>
      <p:sp>
        <p:nvSpPr>
          <p:cNvPr id="17" name="Text 15"/>
          <p:cNvSpPr/>
          <p:nvPr/>
        </p:nvSpPr>
        <p:spPr>
          <a:xfrm>
            <a:off x="457200" y="4773168"/>
            <a:ext cx="8229600" cy="228600"/>
          </a:xfrm>
          <a:prstGeom prst="rect">
            <a:avLst/>
          </a:prstGeom>
          <a:noFill/>
          <a:ln/>
        </p:spPr>
        <p:txBody>
          <a:bodyPr wrap="square" lIns="0" tIns="0" rIns="0" bIns="0" rtlCol="0" anchor="ctr"/>
          <a:lstStyle/>
          <a:p>
            <a:pPr marL="0" indent="0">
              <a:buNone/>
            </a:pPr>
            <a:r>
              <a:rPr lang="en-US" sz="900" dirty="0">
                <a:solidFill>
                  <a:srgbClr val="5F5E59"/>
                </a:solidFill>
                <a:latin typeface="Calibri" pitchFamily="34" charset="0"/>
                <a:ea typeface="Calibri" pitchFamily="34" charset="-122"/>
                <a:cs typeface="Calibri" pitchFamily="34" charset="-120"/>
              </a:rPr>
              <a:t>Source: </a:t>
            </a:r>
            <a:r>
              <a:rPr lang="en-US" sz="900" u="sng" dirty="0">
                <a:solidFill>
                  <a:srgbClr val="01696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CDC MMWR 2017</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Adherence and health care costs, PMC</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2026 Alzheimer's Facts and Figures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FINANCIAL IMPACT 2 OF 4</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Readmission penalties make post-discharge adherence a hospital revenue issue</a:t>
            </a:r>
            <a:endParaRPr lang="en-US" sz="2400" dirty="0"/>
          </a:p>
        </p:txBody>
      </p:sp>
      <p:sp>
        <p:nvSpPr>
          <p:cNvPr id="4" name="Shape 2"/>
          <p:cNvSpPr/>
          <p:nvPr/>
        </p:nvSpPr>
        <p:spPr>
          <a:xfrm>
            <a:off x="457200" y="1325880"/>
            <a:ext cx="4023360" cy="1417320"/>
          </a:xfrm>
          <a:prstGeom prst="roundRect">
            <a:avLst>
              <a:gd name="adj" fmla="val 5161"/>
            </a:avLst>
          </a:prstGeom>
          <a:solidFill>
            <a:srgbClr val="FFFFFF"/>
          </a:solidFill>
          <a:ln w="9525">
            <a:solidFill>
              <a:srgbClr val="D4D1CA"/>
            </a:solidFill>
            <a:prstDash val="solid"/>
          </a:ln>
        </p:spPr>
        <p:txBody>
          <a:bodyPr/>
          <a:lstStyle/>
          <a:p>
            <a:endParaRPr lang="en-US"/>
          </a:p>
        </p:txBody>
      </p:sp>
      <p:sp>
        <p:nvSpPr>
          <p:cNvPr id="5" name="Text 3"/>
          <p:cNvSpPr/>
          <p:nvPr/>
        </p:nvSpPr>
        <p:spPr>
          <a:xfrm>
            <a:off x="685800" y="1463040"/>
            <a:ext cx="3566160" cy="548640"/>
          </a:xfrm>
          <a:prstGeom prst="rect">
            <a:avLst/>
          </a:prstGeom>
          <a:noFill/>
          <a:ln/>
        </p:spPr>
        <p:txBody>
          <a:bodyPr wrap="square" lIns="0" tIns="0" rIns="0" bIns="0" rtlCol="0" anchor="ctr"/>
          <a:lstStyle/>
          <a:p>
            <a:pPr marL="0" indent="0">
              <a:buNone/>
            </a:pPr>
            <a:r>
              <a:rPr lang="en-US" sz="3000" b="1" dirty="0">
                <a:solidFill>
                  <a:srgbClr val="01696F"/>
                </a:solidFill>
                <a:latin typeface="Trebuchet MS" pitchFamily="34" charset="0"/>
                <a:ea typeface="Trebuchet MS" pitchFamily="34" charset="-122"/>
                <a:cs typeface="Trebuchet MS" pitchFamily="34" charset="-120"/>
              </a:rPr>
              <a:t>Up to 3%</a:t>
            </a:r>
            <a:endParaRPr lang="en-US" sz="3000" dirty="0"/>
          </a:p>
        </p:txBody>
      </p:sp>
      <p:sp>
        <p:nvSpPr>
          <p:cNvPr id="6" name="Text 4"/>
          <p:cNvSpPr/>
          <p:nvPr/>
        </p:nvSpPr>
        <p:spPr>
          <a:xfrm>
            <a:off x="685800" y="2057400"/>
            <a:ext cx="3566160" cy="594360"/>
          </a:xfrm>
          <a:prstGeom prst="rect">
            <a:avLst/>
          </a:prstGeom>
          <a:noFill/>
          <a:ln/>
        </p:spPr>
        <p:txBody>
          <a:bodyPr wrap="square" lIns="0" tIns="0" rIns="0" bIns="0" rtlCol="0" anchor="t"/>
          <a:lstStyle/>
          <a:p>
            <a:pPr marL="0" indent="0">
              <a:buNone/>
            </a:pPr>
            <a:r>
              <a:rPr lang="en-US" sz="1300" dirty="0">
                <a:solidFill>
                  <a:srgbClr val="28251D"/>
                </a:solidFill>
                <a:latin typeface="Calibri" pitchFamily="34" charset="0"/>
                <a:ea typeface="Calibri" pitchFamily="34" charset="-122"/>
                <a:cs typeface="Calibri" pitchFamily="34" charset="-120"/>
              </a:rPr>
              <a:t>Cut to all Medicare fee-for-service base payments for hospitals with excess readmissions</a:t>
            </a:r>
            <a:endParaRPr lang="en-US" sz="1300" dirty="0"/>
          </a:p>
        </p:txBody>
      </p:sp>
      <p:sp>
        <p:nvSpPr>
          <p:cNvPr id="7" name="Shape 5"/>
          <p:cNvSpPr/>
          <p:nvPr/>
        </p:nvSpPr>
        <p:spPr>
          <a:xfrm>
            <a:off x="4663440" y="1325880"/>
            <a:ext cx="4023360" cy="1417320"/>
          </a:xfrm>
          <a:prstGeom prst="roundRect">
            <a:avLst>
              <a:gd name="adj" fmla="val 5161"/>
            </a:avLst>
          </a:prstGeom>
          <a:solidFill>
            <a:srgbClr val="FFFFFF"/>
          </a:solidFill>
          <a:ln w="9525">
            <a:solidFill>
              <a:srgbClr val="D4D1CA"/>
            </a:solidFill>
            <a:prstDash val="solid"/>
          </a:ln>
        </p:spPr>
        <p:txBody>
          <a:bodyPr/>
          <a:lstStyle/>
          <a:p>
            <a:endParaRPr lang="en-US"/>
          </a:p>
        </p:txBody>
      </p:sp>
      <p:sp>
        <p:nvSpPr>
          <p:cNvPr id="8" name="Text 6"/>
          <p:cNvSpPr/>
          <p:nvPr/>
        </p:nvSpPr>
        <p:spPr>
          <a:xfrm>
            <a:off x="4892040" y="1463040"/>
            <a:ext cx="3566160" cy="548640"/>
          </a:xfrm>
          <a:prstGeom prst="rect">
            <a:avLst/>
          </a:prstGeom>
          <a:noFill/>
          <a:ln/>
        </p:spPr>
        <p:txBody>
          <a:bodyPr wrap="square" lIns="0" tIns="0" rIns="0" bIns="0" rtlCol="0" anchor="ctr"/>
          <a:lstStyle/>
          <a:p>
            <a:pPr marL="0" indent="0">
              <a:buNone/>
            </a:pPr>
            <a:r>
              <a:rPr lang="en-US" sz="3000" b="1" dirty="0">
                <a:solidFill>
                  <a:srgbClr val="01696F"/>
                </a:solidFill>
                <a:latin typeface="Trebuchet MS" pitchFamily="34" charset="0"/>
                <a:ea typeface="Trebuchet MS" pitchFamily="34" charset="-122"/>
                <a:cs typeface="Trebuchet MS" pitchFamily="34" charset="-120"/>
              </a:rPr>
              <a:t>78.2%</a:t>
            </a:r>
            <a:endParaRPr lang="en-US" sz="3000" dirty="0"/>
          </a:p>
        </p:txBody>
      </p:sp>
      <p:sp>
        <p:nvSpPr>
          <p:cNvPr id="9" name="Text 7"/>
          <p:cNvSpPr/>
          <p:nvPr/>
        </p:nvSpPr>
        <p:spPr>
          <a:xfrm>
            <a:off x="4892040" y="2057400"/>
            <a:ext cx="3566160" cy="594360"/>
          </a:xfrm>
          <a:prstGeom prst="rect">
            <a:avLst/>
          </a:prstGeom>
          <a:noFill/>
          <a:ln/>
        </p:spPr>
        <p:txBody>
          <a:bodyPr wrap="square" lIns="0" tIns="0" rIns="0" bIns="0" rtlCol="0" anchor="t"/>
          <a:lstStyle/>
          <a:p>
            <a:pPr marL="0" indent="0">
              <a:buNone/>
            </a:pPr>
            <a:r>
              <a:rPr lang="en-US" sz="1300" dirty="0">
                <a:solidFill>
                  <a:srgbClr val="28251D"/>
                </a:solidFill>
                <a:latin typeface="Calibri" pitchFamily="34" charset="0"/>
                <a:ea typeface="Calibri" pitchFamily="34" charset="-122"/>
                <a:cs typeface="Calibri" pitchFamily="34" charset="-120"/>
              </a:rPr>
              <a:t>Of hospitals penalized in FY 2026 (21.8% received no penalty)</a:t>
            </a:r>
            <a:endParaRPr lang="en-US" sz="1300" dirty="0"/>
          </a:p>
        </p:txBody>
      </p:sp>
      <p:sp>
        <p:nvSpPr>
          <p:cNvPr id="10" name="Shape 8"/>
          <p:cNvSpPr/>
          <p:nvPr/>
        </p:nvSpPr>
        <p:spPr>
          <a:xfrm>
            <a:off x="457200" y="2926080"/>
            <a:ext cx="4023360" cy="1417320"/>
          </a:xfrm>
          <a:prstGeom prst="roundRect">
            <a:avLst>
              <a:gd name="adj" fmla="val 5161"/>
            </a:avLst>
          </a:prstGeom>
          <a:solidFill>
            <a:srgbClr val="FFFFFF"/>
          </a:solidFill>
          <a:ln w="9525">
            <a:solidFill>
              <a:srgbClr val="D4D1CA"/>
            </a:solidFill>
            <a:prstDash val="solid"/>
          </a:ln>
        </p:spPr>
        <p:txBody>
          <a:bodyPr/>
          <a:lstStyle/>
          <a:p>
            <a:endParaRPr lang="en-US"/>
          </a:p>
        </p:txBody>
      </p:sp>
      <p:sp>
        <p:nvSpPr>
          <p:cNvPr id="11" name="Text 9"/>
          <p:cNvSpPr/>
          <p:nvPr/>
        </p:nvSpPr>
        <p:spPr>
          <a:xfrm>
            <a:off x="685800" y="3063240"/>
            <a:ext cx="3566160" cy="548640"/>
          </a:xfrm>
          <a:prstGeom prst="rect">
            <a:avLst/>
          </a:prstGeom>
          <a:noFill/>
          <a:ln/>
        </p:spPr>
        <p:txBody>
          <a:bodyPr wrap="square" lIns="0" tIns="0" rIns="0" bIns="0" rtlCol="0" anchor="ctr"/>
          <a:lstStyle/>
          <a:p>
            <a:pPr marL="0" indent="0">
              <a:buNone/>
            </a:pPr>
            <a:r>
              <a:rPr lang="en-US" sz="3000" b="1" dirty="0">
                <a:solidFill>
                  <a:srgbClr val="01696F"/>
                </a:solidFill>
                <a:latin typeface="Trebuchet MS" pitchFamily="34" charset="0"/>
                <a:ea typeface="Trebuchet MS" pitchFamily="34" charset="-122"/>
                <a:cs typeface="Trebuchet MS" pitchFamily="34" charset="-120"/>
              </a:rPr>
              <a:t>240</a:t>
            </a:r>
            <a:endParaRPr lang="en-US" sz="3000" dirty="0"/>
          </a:p>
        </p:txBody>
      </p:sp>
      <p:sp>
        <p:nvSpPr>
          <p:cNvPr id="12" name="Text 10"/>
          <p:cNvSpPr/>
          <p:nvPr/>
        </p:nvSpPr>
        <p:spPr>
          <a:xfrm>
            <a:off x="685800" y="3657600"/>
            <a:ext cx="3566160" cy="594360"/>
          </a:xfrm>
          <a:prstGeom prst="rect">
            <a:avLst/>
          </a:prstGeom>
          <a:noFill/>
          <a:ln/>
        </p:spPr>
        <p:txBody>
          <a:bodyPr wrap="square" lIns="0" tIns="0" rIns="0" bIns="0" rtlCol="0" anchor="t"/>
          <a:lstStyle/>
          <a:p>
            <a:pPr marL="0" indent="0">
              <a:buNone/>
            </a:pPr>
            <a:r>
              <a:rPr lang="en-US" sz="1300" dirty="0">
                <a:solidFill>
                  <a:srgbClr val="28251D"/>
                </a:solidFill>
                <a:latin typeface="Calibri" pitchFamily="34" charset="0"/>
                <a:ea typeface="Calibri" pitchFamily="34" charset="-122"/>
                <a:cs typeface="Calibri" pitchFamily="34" charset="-120"/>
              </a:rPr>
              <a:t>Hospitals (8.1%) facing penalties of 1% or more in FY 2026, up from 208</a:t>
            </a:r>
            <a:endParaRPr lang="en-US" sz="1300" dirty="0"/>
          </a:p>
        </p:txBody>
      </p:sp>
      <p:sp>
        <p:nvSpPr>
          <p:cNvPr id="13" name="Shape 11"/>
          <p:cNvSpPr/>
          <p:nvPr/>
        </p:nvSpPr>
        <p:spPr>
          <a:xfrm>
            <a:off x="4663440" y="2926080"/>
            <a:ext cx="4023360" cy="1417320"/>
          </a:xfrm>
          <a:prstGeom prst="roundRect">
            <a:avLst>
              <a:gd name="adj" fmla="val 5161"/>
            </a:avLst>
          </a:prstGeom>
          <a:solidFill>
            <a:srgbClr val="E3EEEE"/>
          </a:solidFill>
          <a:ln w="9525">
            <a:solidFill>
              <a:srgbClr val="D4D1CA"/>
            </a:solidFill>
            <a:prstDash val="solid"/>
          </a:ln>
        </p:spPr>
        <p:txBody>
          <a:bodyPr/>
          <a:lstStyle/>
          <a:p>
            <a:endParaRPr lang="en-US"/>
          </a:p>
        </p:txBody>
      </p:sp>
      <p:sp>
        <p:nvSpPr>
          <p:cNvPr id="14" name="Text 12"/>
          <p:cNvSpPr/>
          <p:nvPr/>
        </p:nvSpPr>
        <p:spPr>
          <a:xfrm>
            <a:off x="4892040" y="3063240"/>
            <a:ext cx="3566160" cy="548640"/>
          </a:xfrm>
          <a:prstGeom prst="rect">
            <a:avLst/>
          </a:prstGeom>
          <a:noFill/>
          <a:ln/>
        </p:spPr>
        <p:txBody>
          <a:bodyPr wrap="square" lIns="0" tIns="0" rIns="0" bIns="0" rtlCol="0" anchor="ctr"/>
          <a:lstStyle/>
          <a:p>
            <a:pPr marL="0" indent="0">
              <a:buNone/>
            </a:pPr>
            <a:r>
              <a:rPr lang="en-US" sz="3000" b="1" dirty="0">
                <a:solidFill>
                  <a:srgbClr val="0C4E54"/>
                </a:solidFill>
                <a:latin typeface="Trebuchet MS" pitchFamily="34" charset="0"/>
                <a:ea typeface="Trebuchet MS" pitchFamily="34" charset="-122"/>
                <a:cs typeface="Trebuchet MS" pitchFamily="34" charset="-120"/>
              </a:rPr>
              <a:t>$16,037</a:t>
            </a:r>
            <a:endParaRPr lang="en-US" sz="3000" dirty="0"/>
          </a:p>
        </p:txBody>
      </p:sp>
      <p:sp>
        <p:nvSpPr>
          <p:cNvPr id="15" name="Text 13"/>
          <p:cNvSpPr/>
          <p:nvPr/>
        </p:nvSpPr>
        <p:spPr>
          <a:xfrm>
            <a:off x="4892040" y="3657600"/>
            <a:ext cx="3566160" cy="594360"/>
          </a:xfrm>
          <a:prstGeom prst="rect">
            <a:avLst/>
          </a:prstGeom>
          <a:noFill/>
          <a:ln/>
        </p:spPr>
        <p:txBody>
          <a:bodyPr wrap="square" lIns="0" tIns="0" rIns="0" bIns="0" rtlCol="0" anchor="t"/>
          <a:lstStyle/>
          <a:p>
            <a:pPr marL="0" indent="0">
              <a:buNone/>
            </a:pPr>
            <a:r>
              <a:rPr lang="en-US" sz="1300" dirty="0">
                <a:solidFill>
                  <a:srgbClr val="28251D"/>
                </a:solidFill>
                <a:latin typeface="Calibri" pitchFamily="34" charset="0"/>
                <a:ea typeface="Calibri" pitchFamily="34" charset="-122"/>
                <a:cs typeface="Calibri" pitchFamily="34" charset="-120"/>
              </a:rPr>
              <a:t>Mean cost of a single 30-day readmission (all conditions)</a:t>
            </a:r>
            <a:endParaRPr lang="en-US" sz="1300" dirty="0"/>
          </a:p>
        </p:txBody>
      </p:sp>
      <p:sp>
        <p:nvSpPr>
          <p:cNvPr id="16" name="Text 14"/>
          <p:cNvSpPr/>
          <p:nvPr/>
        </p:nvSpPr>
        <p:spPr>
          <a:xfrm>
            <a:off x="457200" y="4773168"/>
            <a:ext cx="8229600" cy="228600"/>
          </a:xfrm>
          <a:prstGeom prst="rect">
            <a:avLst/>
          </a:prstGeom>
          <a:noFill/>
          <a:ln/>
        </p:spPr>
        <p:txBody>
          <a:bodyPr wrap="square" lIns="0" tIns="0" rIns="0" bIns="0" rtlCol="0" anchor="ctr"/>
          <a:lstStyle/>
          <a:p>
            <a:pPr marL="0" indent="0">
              <a:buNone/>
            </a:pPr>
            <a:r>
              <a:rPr lang="en-US" sz="900" dirty="0">
                <a:solidFill>
                  <a:srgbClr val="5F5E59"/>
                </a:solidFill>
                <a:latin typeface="Calibri" pitchFamily="34" charset="0"/>
                <a:ea typeface="Calibri" pitchFamily="34" charset="-122"/>
                <a:cs typeface="Calibri" pitchFamily="34" charset="-120"/>
              </a:rPr>
              <a:t>Source: </a:t>
            </a:r>
            <a:r>
              <a:rPr lang="en-US" sz="900" u="sng" dirty="0">
                <a:solidFill>
                  <a:srgbClr val="01696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CMS HRRP</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CMS HRRP impact file guide</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Becker's Hospital Review</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Readmission cost meta-analysis, PMC 2024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FINANCIAL IMPACT 3 OF 4</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Adherent patients save $1,258 to $7,823 a year, against a $150 device</a:t>
            </a:r>
            <a:endParaRPr lang="en-US" sz="2400" dirty="0"/>
          </a:p>
        </p:txBody>
      </p:sp>
      <p:graphicFrame>
        <p:nvGraphicFramePr>
          <p:cNvPr id="4" name="Chart 0"/>
          <p:cNvGraphicFramePr/>
          <p:nvPr/>
        </p:nvGraphicFramePr>
        <p:xfrm>
          <a:off x="457200" y="1280160"/>
          <a:ext cx="49377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623560" y="1325880"/>
            <a:ext cx="3063240" cy="3200400"/>
          </a:xfrm>
          <a:prstGeom prst="roundRect">
            <a:avLst>
              <a:gd name="adj" fmla="val 2388"/>
            </a:avLst>
          </a:prstGeom>
          <a:solidFill>
            <a:srgbClr val="E3EEEE"/>
          </a:solidFill>
          <a:ln w="9525">
            <a:solidFill>
              <a:srgbClr val="D4D1CA"/>
            </a:solidFill>
            <a:prstDash val="solid"/>
          </a:ln>
        </p:spPr>
        <p:txBody>
          <a:bodyPr/>
          <a:lstStyle/>
          <a:p>
            <a:endParaRPr lang="en-US"/>
          </a:p>
        </p:txBody>
      </p:sp>
      <p:sp>
        <p:nvSpPr>
          <p:cNvPr id="6" name="Text 3"/>
          <p:cNvSpPr/>
          <p:nvPr/>
        </p:nvSpPr>
        <p:spPr>
          <a:xfrm>
            <a:off x="5806440" y="1463040"/>
            <a:ext cx="2743200" cy="320040"/>
          </a:xfrm>
          <a:prstGeom prst="rect">
            <a:avLst/>
          </a:prstGeom>
          <a:noFill/>
          <a:ln/>
        </p:spPr>
        <p:txBody>
          <a:bodyPr wrap="square" lIns="0" tIns="0" rIns="0" bIns="0" rtlCol="0" anchor="ctr"/>
          <a:lstStyle/>
          <a:p>
            <a:pPr marL="0" indent="0">
              <a:buNone/>
            </a:pPr>
            <a:r>
              <a:rPr lang="en-US" sz="1400" b="1" dirty="0">
                <a:solidFill>
                  <a:srgbClr val="01696F"/>
                </a:solidFill>
                <a:latin typeface="Trebuchet MS" pitchFamily="34" charset="0"/>
                <a:ea typeface="Trebuchet MS" pitchFamily="34" charset="-122"/>
                <a:cs typeface="Trebuchet MS" pitchFamily="34" charset="-120"/>
              </a:rPr>
              <a:t>Illustrative unit economics</a:t>
            </a:r>
            <a:endParaRPr lang="en-US" sz="1400" dirty="0"/>
          </a:p>
        </p:txBody>
      </p:sp>
      <p:sp>
        <p:nvSpPr>
          <p:cNvPr id="7" name="Text 4"/>
          <p:cNvSpPr/>
          <p:nvPr/>
        </p:nvSpPr>
        <p:spPr>
          <a:xfrm>
            <a:off x="5806440" y="1828800"/>
            <a:ext cx="2743200" cy="1828800"/>
          </a:xfrm>
          <a:prstGeom prst="rect">
            <a:avLst/>
          </a:prstGeom>
          <a:noFill/>
          <a:ln/>
        </p:spPr>
        <p:txBody>
          <a:bodyPr wrap="square" lIns="0" tIns="0" rIns="0" bIns="0" rtlCol="0" anchor="t"/>
          <a:lstStyle/>
          <a:p>
            <a:pPr marL="0" indent="0">
              <a:spcAft>
                <a:spcPts val="600"/>
              </a:spcAft>
              <a:buNone/>
            </a:pPr>
            <a:r>
              <a:rPr lang="en-US" sz="1250" dirty="0">
                <a:solidFill>
                  <a:srgbClr val="28251D"/>
                </a:solidFill>
                <a:latin typeface="Calibri" pitchFamily="34" charset="0"/>
                <a:ea typeface="Calibri" pitchFamily="34" charset="-122"/>
                <a:cs typeface="Calibri" pitchFamily="34" charset="-120"/>
              </a:rPr>
              <a:t>Device, all-in: $100 to $150</a:t>
            </a:r>
            <a:endParaRPr lang="en-US" sz="1250" dirty="0"/>
          </a:p>
          <a:p>
            <a:pPr marL="0" indent="0">
              <a:spcAft>
                <a:spcPts val="600"/>
              </a:spcAft>
              <a:buNone/>
            </a:pPr>
            <a:r>
              <a:rPr lang="en-US" sz="1250" dirty="0">
                <a:solidFill>
                  <a:srgbClr val="28251D"/>
                </a:solidFill>
                <a:latin typeface="Calibri" pitchFamily="34" charset="0"/>
                <a:ea typeface="Calibri" pitchFamily="34" charset="-122"/>
                <a:cs typeface="Calibri" pitchFamily="34" charset="-120"/>
              </a:rPr>
              <a:t>One avoided readmission: $16,037</a:t>
            </a:r>
            <a:endParaRPr lang="en-US" sz="1250" dirty="0"/>
          </a:p>
          <a:p>
            <a:pPr marL="0" indent="0">
              <a:spcAft>
                <a:spcPts val="600"/>
              </a:spcAft>
              <a:buNone/>
            </a:pPr>
            <a:r>
              <a:rPr lang="en-US" sz="1250" b="1" dirty="0">
                <a:solidFill>
                  <a:srgbClr val="28251D"/>
                </a:solidFill>
                <a:latin typeface="Calibri" pitchFamily="34" charset="0"/>
                <a:ea typeface="Calibri" pitchFamily="34" charset="-122"/>
                <a:cs typeface="Calibri" pitchFamily="34" charset="-120"/>
              </a:rPr>
              <a:t>$16,037 ÷ $108 ≈ 107x the device cost</a:t>
            </a:r>
            <a:endParaRPr lang="en-US" sz="1250" dirty="0"/>
          </a:p>
          <a:p>
            <a:pPr marL="0" indent="0">
              <a:spcAft>
                <a:spcPts val="600"/>
              </a:spcAft>
              <a:buNone/>
            </a:pPr>
            <a:r>
              <a:rPr lang="en-US" sz="600" dirty="0">
                <a:solidFill>
                  <a:srgbClr val="28251D"/>
                </a:solidFill>
                <a:latin typeface="Calibri" pitchFamily="34" charset="0"/>
                <a:ea typeface="Calibri" pitchFamily="34" charset="-122"/>
                <a:cs typeface="Calibri" pitchFamily="34" charset="-120"/>
              </a:rPr>
              <a:t> </a:t>
            </a:r>
            <a:endParaRPr lang="en-US" sz="1250" dirty="0"/>
          </a:p>
          <a:p>
            <a:pPr marL="0" indent="0">
              <a:spcAft>
                <a:spcPts val="600"/>
              </a:spcAft>
              <a:buNone/>
            </a:pPr>
            <a:r>
              <a:rPr lang="en-US" sz="1250" dirty="0">
                <a:solidFill>
                  <a:srgbClr val="28251D"/>
                </a:solidFill>
                <a:latin typeface="Calibri" pitchFamily="34" charset="0"/>
                <a:ea typeface="Calibri" pitchFamily="34" charset="-122"/>
                <a:cs typeface="Calibri" pitchFamily="34" charset="-120"/>
              </a:rPr>
              <a:t>Benefit-cost ratios from better adherence: 3.1:1 to 10.1:1</a:t>
            </a:r>
            <a:endParaRPr lang="en-US" sz="1250" dirty="0"/>
          </a:p>
        </p:txBody>
      </p:sp>
      <p:sp>
        <p:nvSpPr>
          <p:cNvPr id="8" name="Text 5"/>
          <p:cNvSpPr/>
          <p:nvPr/>
        </p:nvSpPr>
        <p:spPr>
          <a:xfrm>
            <a:off x="5806440" y="3886200"/>
            <a:ext cx="2743200" cy="457200"/>
          </a:xfrm>
          <a:prstGeom prst="rect">
            <a:avLst/>
          </a:prstGeom>
          <a:noFill/>
          <a:ln/>
        </p:spPr>
        <p:txBody>
          <a:bodyPr wrap="square" lIns="0" tIns="0" rIns="0" bIns="0" rtlCol="0" anchor="t"/>
          <a:lstStyle/>
          <a:p>
            <a:pPr marL="0" indent="0">
              <a:buNone/>
            </a:pPr>
            <a:r>
              <a:rPr lang="en-US" sz="1100" dirty="0">
                <a:solidFill>
                  <a:srgbClr val="5F5E59"/>
                </a:solidFill>
                <a:latin typeface="Calibri" pitchFamily="34" charset="0"/>
                <a:ea typeface="Calibri" pitchFamily="34" charset="-122"/>
                <a:cs typeface="Calibri" pitchFamily="34" charset="-120"/>
              </a:rPr>
              <a:t>Scenario math, not a measured outcome of this prototype.</a:t>
            </a:r>
            <a:endParaRPr lang="en-US" sz="1100" dirty="0"/>
          </a:p>
        </p:txBody>
      </p:sp>
      <p:sp>
        <p:nvSpPr>
          <p:cNvPr id="9" name="Text 6"/>
          <p:cNvSpPr/>
          <p:nvPr/>
        </p:nvSpPr>
        <p:spPr>
          <a:xfrm>
            <a:off x="457200" y="4773168"/>
            <a:ext cx="8229600" cy="228600"/>
          </a:xfrm>
          <a:prstGeom prst="rect">
            <a:avLst/>
          </a:prstGeom>
          <a:noFill/>
          <a:ln/>
        </p:spPr>
        <p:txBody>
          <a:bodyPr wrap="square" lIns="0" tIns="0" rIns="0" bIns="0" rtlCol="0" anchor="ctr"/>
          <a:lstStyle/>
          <a:p>
            <a:pPr marL="0" indent="0">
              <a:buNone/>
            </a:pPr>
            <a:r>
              <a:rPr lang="en-US" sz="900" dirty="0">
                <a:solidFill>
                  <a:srgbClr val="5F5E59"/>
                </a:solidFill>
                <a:latin typeface="Calibri" pitchFamily="34" charset="0"/>
                <a:ea typeface="Calibri" pitchFamily="34" charset="-122"/>
                <a:cs typeface="Calibri" pitchFamily="34" charset="-120"/>
              </a:rPr>
              <a:t>Source: </a:t>
            </a:r>
            <a:r>
              <a:rPr lang="en-US" sz="900" u="sng" dirty="0">
                <a:solidFill>
                  <a:srgbClr val="01696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Roebuck et al., Health Affairs 2011</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Readmission cost meta-analysis, PMC 2024</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AutomatedPillDispenser repo</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FINANCIAL IMPACT 4 OF 4</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For mild dementia, reliable medication routines can mean more years at home</a:t>
            </a:r>
            <a:endParaRPr lang="en-US" sz="2400" dirty="0"/>
          </a:p>
        </p:txBody>
      </p:sp>
      <p:graphicFrame>
        <p:nvGraphicFramePr>
          <p:cNvPr id="18" name="Table 0"/>
          <p:cNvGraphicFramePr>
            <a:graphicFrameLocks noGrp="1"/>
          </p:cNvGraphicFramePr>
          <p:nvPr>
            <p:extLst>
              <p:ext uri="{D42A27DB-BD31-4B8C-83A1-F6EECF244321}">
                <p14:modId xmlns:p14="http://schemas.microsoft.com/office/powerpoint/2010/main" val="811529424"/>
              </p:ext>
            </p:extLst>
          </p:nvPr>
        </p:nvGraphicFramePr>
        <p:xfrm>
          <a:off x="457200" y="1325880"/>
          <a:ext cx="4206240" cy="1920240"/>
        </p:xfrm>
        <a:graphic>
          <a:graphicData uri="http://schemas.openxmlformats.org/drawingml/2006/table">
            <a:tbl>
              <a:tblPr/>
              <a:tblGrid>
                <a:gridCol w="28346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Care setting (2025 US median)</a:t>
                      </a:r>
                      <a:endParaRPr lang="en-US" sz="125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01696F"/>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Annual cost</a:t>
                      </a:r>
                      <a:endParaRPr lang="en-US" sz="125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01696F"/>
                    </a:solidFill>
                  </a:tcPr>
                </a:tc>
                <a:extLst>
                  <a:ext uri="{0D108BD9-81ED-4DB2-BD59-A6C34878D82A}">
                    <a16:rowId xmlns:a16="http://schemas.microsoft.com/office/drawing/2014/main" val="10000"/>
                  </a:ext>
                </a:extLst>
              </a:tr>
              <a:tr h="384048">
                <a:tc>
                  <a:txBody>
                    <a:bodyPr/>
                    <a:lstStyle/>
                    <a:p>
                      <a:pPr marL="0" indent="0">
                        <a:buNone/>
                      </a:pPr>
                      <a:r>
                        <a:rPr lang="en-US" sz="1250" dirty="0">
                          <a:solidFill>
                            <a:srgbClr val="28251D"/>
                          </a:solidFill>
                          <a:latin typeface="Calibri" pitchFamily="34" charset="0"/>
                          <a:ea typeface="Calibri" pitchFamily="34" charset="-122"/>
                          <a:cs typeface="Calibri" pitchFamily="34" charset="-120"/>
                        </a:rPr>
                        <a:t>Nursing home, private room</a:t>
                      </a:r>
                      <a:endParaRPr lang="en-US" sz="125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lgn="r">
                        <a:buNone/>
                      </a:pPr>
                      <a:r>
                        <a:rPr lang="en-US" sz="1250" dirty="0">
                          <a:solidFill>
                            <a:srgbClr val="28251D"/>
                          </a:solidFill>
                          <a:latin typeface="Calibri" pitchFamily="34" charset="0"/>
                          <a:ea typeface="Calibri" pitchFamily="34" charset="-122"/>
                          <a:cs typeface="Calibri" pitchFamily="34" charset="-120"/>
                        </a:rPr>
                        <a:t>$129,575</a:t>
                      </a:r>
                      <a:endParaRPr lang="en-US" sz="125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50" dirty="0">
                          <a:solidFill>
                            <a:srgbClr val="28251D"/>
                          </a:solidFill>
                          <a:latin typeface="Calibri" pitchFamily="34" charset="0"/>
                          <a:ea typeface="Calibri" pitchFamily="34" charset="-122"/>
                          <a:cs typeface="Calibri" pitchFamily="34" charset="-120"/>
                        </a:rPr>
                        <a:t>Nursing home, semi-private room</a:t>
                      </a:r>
                      <a:endParaRPr lang="en-US" sz="125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lgn="r">
                        <a:buNone/>
                      </a:pPr>
                      <a:r>
                        <a:rPr lang="en-US" sz="1250" dirty="0">
                          <a:solidFill>
                            <a:srgbClr val="28251D"/>
                          </a:solidFill>
                          <a:latin typeface="Calibri" pitchFamily="34" charset="0"/>
                          <a:ea typeface="Calibri" pitchFamily="34" charset="-122"/>
                          <a:cs typeface="Calibri" pitchFamily="34" charset="-120"/>
                        </a:rPr>
                        <a:t>$114,975</a:t>
                      </a:r>
                      <a:endParaRPr lang="en-US" sz="125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50" dirty="0">
                          <a:solidFill>
                            <a:srgbClr val="28251D"/>
                          </a:solidFill>
                          <a:latin typeface="Calibri" pitchFamily="34" charset="0"/>
                          <a:ea typeface="Calibri" pitchFamily="34" charset="-122"/>
                          <a:cs typeface="Calibri" pitchFamily="34" charset="-120"/>
                        </a:rPr>
                        <a:t>Assisted living community</a:t>
                      </a:r>
                      <a:endParaRPr lang="en-US" sz="125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lgn="r">
                        <a:buNone/>
                      </a:pPr>
                      <a:r>
                        <a:rPr lang="en-US" sz="1250" dirty="0">
                          <a:solidFill>
                            <a:srgbClr val="28251D"/>
                          </a:solidFill>
                          <a:latin typeface="Calibri" pitchFamily="34" charset="0"/>
                          <a:ea typeface="Calibri" pitchFamily="34" charset="-122"/>
                          <a:cs typeface="Calibri" pitchFamily="34" charset="-120"/>
                        </a:rPr>
                        <a:t>$74,400</a:t>
                      </a:r>
                      <a:endParaRPr lang="en-US" sz="125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50" dirty="0">
                          <a:solidFill>
                            <a:srgbClr val="28251D"/>
                          </a:solidFill>
                          <a:latin typeface="Calibri" pitchFamily="34" charset="0"/>
                          <a:ea typeface="Calibri" pitchFamily="34" charset="-122"/>
                          <a:cs typeface="Calibri" pitchFamily="34" charset="-120"/>
                        </a:rPr>
                        <a:t>Prototype dispenser (one-time)</a:t>
                      </a:r>
                      <a:endParaRPr lang="en-US" sz="125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tc>
                  <a:txBody>
                    <a:bodyPr/>
                    <a:lstStyle/>
                    <a:p>
                      <a:pPr marL="0" indent="0" algn="r">
                        <a:buNone/>
                      </a:pPr>
                      <a:r>
                        <a:rPr lang="en-US" sz="1250" b="1" dirty="0">
                          <a:solidFill>
                            <a:srgbClr val="01696F"/>
                          </a:solidFill>
                          <a:latin typeface="Calibri" pitchFamily="34" charset="0"/>
                          <a:ea typeface="Calibri" pitchFamily="34" charset="-122"/>
                          <a:cs typeface="Calibri" pitchFamily="34" charset="-120"/>
                        </a:rPr>
                        <a:t>$100 to $150</a:t>
                      </a:r>
                      <a:endParaRPr lang="en-US" sz="1250" dirty="0">
                        <a:latin typeface="Calibri" charset="0"/>
                        <a:ea typeface="Calibri" charset="0"/>
                        <a:cs typeface="Calibri" charset="0"/>
                      </a:endParaRPr>
                    </a:p>
                  </a:txBody>
                  <a:tcPr anchor="ctr">
                    <a:lnL w="9525" cap="flat" cmpd="sng" algn="ctr">
                      <a:solidFill>
                        <a:srgbClr val="D4D1CA"/>
                      </a:solidFill>
                      <a:prstDash val="solid"/>
                      <a:round/>
                      <a:headEnd type="none" w="med" len="med"/>
                      <a:tailEnd type="none" w="med" len="med"/>
                    </a:lnL>
                    <a:lnR w="9525" cap="flat" cmpd="sng" algn="ctr">
                      <a:solidFill>
                        <a:srgbClr val="D4D1CA"/>
                      </a:solidFill>
                      <a:prstDash val="solid"/>
                      <a:round/>
                      <a:headEnd type="none" w="med" len="med"/>
                      <a:tailEnd type="none" w="med" len="med"/>
                    </a:lnR>
                    <a:lnT w="9525" cap="flat" cmpd="sng" algn="ctr">
                      <a:solidFill>
                        <a:srgbClr val="D4D1CA"/>
                      </a:solidFill>
                      <a:prstDash val="solid"/>
                      <a:round/>
                      <a:headEnd type="none" w="med" len="med"/>
                      <a:tailEnd type="none" w="med" len="med"/>
                    </a:lnT>
                    <a:lnB w="9525" cap="flat" cmpd="sng" algn="ctr">
                      <a:solidFill>
                        <a:srgbClr val="D4D1C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4937760" y="1325880"/>
            <a:ext cx="1325880" cy="685800"/>
          </a:xfrm>
          <a:prstGeom prst="rect">
            <a:avLst/>
          </a:prstGeom>
          <a:noFill/>
          <a:ln/>
        </p:spPr>
        <p:txBody>
          <a:bodyPr wrap="square" lIns="0" tIns="0" rIns="0" bIns="0" rtlCol="0" anchor="t"/>
          <a:lstStyle/>
          <a:p>
            <a:pPr marL="0" indent="0">
              <a:buNone/>
            </a:pPr>
            <a:r>
              <a:rPr lang="en-US" sz="1600" b="1" dirty="0">
                <a:solidFill>
                  <a:srgbClr val="01696F"/>
                </a:solidFill>
                <a:latin typeface="Trebuchet MS" pitchFamily="34" charset="0"/>
                <a:ea typeface="Trebuchet MS" pitchFamily="34" charset="-122"/>
                <a:cs typeface="Trebuchet MS" pitchFamily="34" charset="-120"/>
              </a:rPr>
              <a:t>7.4 million</a:t>
            </a:r>
            <a:endParaRPr lang="en-US" sz="1600" dirty="0"/>
          </a:p>
        </p:txBody>
      </p:sp>
      <p:sp>
        <p:nvSpPr>
          <p:cNvPr id="6" name="Text 3"/>
          <p:cNvSpPr/>
          <p:nvPr/>
        </p:nvSpPr>
        <p:spPr>
          <a:xfrm>
            <a:off x="6309360" y="1325880"/>
            <a:ext cx="2377440" cy="731520"/>
          </a:xfrm>
          <a:prstGeom prst="rect">
            <a:avLst/>
          </a:prstGeom>
          <a:noFill/>
          <a:ln/>
        </p:spPr>
        <p:txBody>
          <a:bodyPr wrap="square" lIns="0" tIns="0" rIns="0" bIns="0" rtlCol="0" anchor="t"/>
          <a:lstStyle/>
          <a:p>
            <a:pPr marL="0" indent="0">
              <a:buNone/>
            </a:pPr>
            <a:r>
              <a:rPr lang="en-US" sz="1150" dirty="0">
                <a:solidFill>
                  <a:srgbClr val="28251D"/>
                </a:solidFill>
                <a:latin typeface="Calibri" pitchFamily="34" charset="0"/>
                <a:ea typeface="Calibri" pitchFamily="34" charset="-122"/>
                <a:cs typeface="Calibri" pitchFamily="34" charset="-120"/>
              </a:rPr>
              <a:t>Americans 65+ living with Alzheimer's dementia in 2026</a:t>
            </a:r>
            <a:endParaRPr lang="en-US" sz="1150" dirty="0"/>
          </a:p>
        </p:txBody>
      </p:sp>
      <p:sp>
        <p:nvSpPr>
          <p:cNvPr id="7" name="Text 4"/>
          <p:cNvSpPr/>
          <p:nvPr/>
        </p:nvSpPr>
        <p:spPr>
          <a:xfrm>
            <a:off x="4937760" y="2130552"/>
            <a:ext cx="1325880" cy="685800"/>
          </a:xfrm>
          <a:prstGeom prst="rect">
            <a:avLst/>
          </a:prstGeom>
          <a:noFill/>
          <a:ln/>
        </p:spPr>
        <p:txBody>
          <a:bodyPr wrap="square" lIns="0" tIns="0" rIns="0" bIns="0" rtlCol="0" anchor="t"/>
          <a:lstStyle/>
          <a:p>
            <a:pPr marL="0" indent="0">
              <a:buNone/>
            </a:pPr>
            <a:r>
              <a:rPr lang="en-US" sz="1600" b="1" dirty="0">
                <a:solidFill>
                  <a:srgbClr val="01696F"/>
                </a:solidFill>
                <a:latin typeface="Trebuchet MS" pitchFamily="34" charset="0"/>
                <a:ea typeface="Trebuchet MS" pitchFamily="34" charset="-122"/>
                <a:cs typeface="Trebuchet MS" pitchFamily="34" charset="-120"/>
              </a:rPr>
              <a:t>75%</a:t>
            </a:r>
            <a:endParaRPr lang="en-US" sz="1600" dirty="0"/>
          </a:p>
        </p:txBody>
      </p:sp>
      <p:sp>
        <p:nvSpPr>
          <p:cNvPr id="8" name="Text 5"/>
          <p:cNvSpPr/>
          <p:nvPr/>
        </p:nvSpPr>
        <p:spPr>
          <a:xfrm>
            <a:off x="6309360" y="2130552"/>
            <a:ext cx="2377440" cy="731520"/>
          </a:xfrm>
          <a:prstGeom prst="rect">
            <a:avLst/>
          </a:prstGeom>
          <a:noFill/>
          <a:ln/>
        </p:spPr>
        <p:txBody>
          <a:bodyPr wrap="square" lIns="0" tIns="0" rIns="0" bIns="0" rtlCol="0" anchor="t"/>
          <a:lstStyle/>
          <a:p>
            <a:pPr marL="0" indent="0">
              <a:buNone/>
            </a:pPr>
            <a:r>
              <a:rPr lang="en-US" sz="1150" dirty="0">
                <a:solidFill>
                  <a:srgbClr val="28251D"/>
                </a:solidFill>
                <a:latin typeface="Calibri" pitchFamily="34" charset="0"/>
                <a:ea typeface="Calibri" pitchFamily="34" charset="-122"/>
                <a:cs typeface="Calibri" pitchFamily="34" charset="-120"/>
              </a:rPr>
              <a:t>Of adults 50+ want to stay in their own homes for life</a:t>
            </a:r>
            <a:endParaRPr lang="en-US" sz="1150" dirty="0"/>
          </a:p>
        </p:txBody>
      </p:sp>
      <p:sp>
        <p:nvSpPr>
          <p:cNvPr id="9" name="Text 6"/>
          <p:cNvSpPr/>
          <p:nvPr/>
        </p:nvSpPr>
        <p:spPr>
          <a:xfrm>
            <a:off x="4937760" y="2935224"/>
            <a:ext cx="1325880" cy="685800"/>
          </a:xfrm>
          <a:prstGeom prst="rect">
            <a:avLst/>
          </a:prstGeom>
          <a:noFill/>
          <a:ln/>
        </p:spPr>
        <p:txBody>
          <a:bodyPr wrap="square" lIns="0" tIns="0" rIns="0" bIns="0" rtlCol="0" anchor="t"/>
          <a:lstStyle/>
          <a:p>
            <a:pPr marL="0" indent="0">
              <a:buNone/>
            </a:pPr>
            <a:r>
              <a:rPr lang="en-US" sz="1600" b="1" dirty="0">
                <a:solidFill>
                  <a:srgbClr val="01696F"/>
                </a:solidFill>
                <a:latin typeface="Trebuchet MS" pitchFamily="34" charset="0"/>
                <a:ea typeface="Trebuchet MS" pitchFamily="34" charset="-122"/>
                <a:cs typeface="Trebuchet MS" pitchFamily="34" charset="-120"/>
              </a:rPr>
              <a:t>~3 million</a:t>
            </a:r>
            <a:endParaRPr lang="en-US" sz="1600" dirty="0"/>
          </a:p>
        </p:txBody>
      </p:sp>
      <p:sp>
        <p:nvSpPr>
          <p:cNvPr id="10" name="Text 7"/>
          <p:cNvSpPr/>
          <p:nvPr/>
        </p:nvSpPr>
        <p:spPr>
          <a:xfrm>
            <a:off x="6309360" y="2935224"/>
            <a:ext cx="2377440" cy="731520"/>
          </a:xfrm>
          <a:prstGeom prst="rect">
            <a:avLst/>
          </a:prstGeom>
          <a:noFill/>
          <a:ln/>
        </p:spPr>
        <p:txBody>
          <a:bodyPr wrap="square" lIns="0" tIns="0" rIns="0" bIns="0" rtlCol="0" anchor="t"/>
          <a:lstStyle/>
          <a:p>
            <a:pPr marL="0" indent="0">
              <a:buNone/>
            </a:pPr>
            <a:r>
              <a:rPr lang="en-US" sz="1150" dirty="0">
                <a:solidFill>
                  <a:srgbClr val="28251D"/>
                </a:solidFill>
                <a:latin typeface="Calibri" pitchFamily="34" charset="0"/>
                <a:ea typeface="Calibri" pitchFamily="34" charset="-122"/>
                <a:cs typeface="Calibri" pitchFamily="34" charset="-120"/>
              </a:rPr>
              <a:t>Older adults admitted to nursing homes for drug-related problems, over $14B a year</a:t>
            </a:r>
            <a:endParaRPr lang="en-US" sz="1150" dirty="0"/>
          </a:p>
        </p:txBody>
      </p:sp>
      <p:sp>
        <p:nvSpPr>
          <p:cNvPr id="11" name="Text 8"/>
          <p:cNvSpPr/>
          <p:nvPr/>
        </p:nvSpPr>
        <p:spPr>
          <a:xfrm>
            <a:off x="4937760" y="3739896"/>
            <a:ext cx="1325880" cy="685800"/>
          </a:xfrm>
          <a:prstGeom prst="rect">
            <a:avLst/>
          </a:prstGeom>
          <a:noFill/>
          <a:ln/>
        </p:spPr>
        <p:txBody>
          <a:bodyPr wrap="square" lIns="0" tIns="0" rIns="0" bIns="0" rtlCol="0" anchor="t"/>
          <a:lstStyle/>
          <a:p>
            <a:pPr marL="0" indent="0">
              <a:buNone/>
            </a:pPr>
            <a:r>
              <a:rPr lang="en-US" sz="1600" b="1" dirty="0">
                <a:solidFill>
                  <a:srgbClr val="01696F"/>
                </a:solidFill>
                <a:latin typeface="Trebuchet MS" pitchFamily="34" charset="0"/>
                <a:ea typeface="Trebuchet MS" pitchFamily="34" charset="-122"/>
                <a:cs typeface="Trebuchet MS" pitchFamily="34" charset="-120"/>
              </a:rPr>
              <a:t>9 of 18</a:t>
            </a:r>
            <a:endParaRPr lang="en-US" sz="1600" dirty="0"/>
          </a:p>
        </p:txBody>
      </p:sp>
      <p:sp>
        <p:nvSpPr>
          <p:cNvPr id="12" name="Text 9"/>
          <p:cNvSpPr/>
          <p:nvPr/>
        </p:nvSpPr>
        <p:spPr>
          <a:xfrm>
            <a:off x="6309360" y="3739896"/>
            <a:ext cx="2377440" cy="731520"/>
          </a:xfrm>
          <a:prstGeom prst="rect">
            <a:avLst/>
          </a:prstGeom>
          <a:noFill/>
          <a:ln/>
        </p:spPr>
        <p:txBody>
          <a:bodyPr wrap="square" lIns="0" tIns="0" rIns="0" bIns="0" rtlCol="0" anchor="t"/>
          <a:lstStyle/>
          <a:p>
            <a:pPr marL="0" indent="0">
              <a:buNone/>
            </a:pPr>
            <a:r>
              <a:rPr lang="en-US" sz="1150" dirty="0">
                <a:solidFill>
                  <a:srgbClr val="28251D"/>
                </a:solidFill>
                <a:latin typeface="Calibri" pitchFamily="34" charset="0"/>
                <a:ea typeface="Calibri" pitchFamily="34" charset="-122"/>
                <a:cs typeface="Calibri" pitchFamily="34" charset="-120"/>
              </a:rPr>
              <a:t>Mild dementia users kept 100% self-administration at 3 months with a reminder device; 11 started at 0%</a:t>
            </a:r>
            <a:endParaRPr lang="en-US" sz="1150" dirty="0"/>
          </a:p>
        </p:txBody>
      </p:sp>
      <p:sp>
        <p:nvSpPr>
          <p:cNvPr id="13" name="Text 10"/>
          <p:cNvSpPr/>
          <p:nvPr/>
        </p:nvSpPr>
        <p:spPr>
          <a:xfrm>
            <a:off x="457200" y="3429000"/>
            <a:ext cx="4206240" cy="731520"/>
          </a:xfrm>
          <a:prstGeom prst="rect">
            <a:avLst/>
          </a:prstGeom>
          <a:noFill/>
          <a:ln/>
        </p:spPr>
        <p:txBody>
          <a:bodyPr wrap="square" lIns="0" tIns="0" rIns="0" bIns="0" rtlCol="0" anchor="t"/>
          <a:lstStyle/>
          <a:p>
            <a:pPr marL="0" indent="0">
              <a:buNone/>
            </a:pPr>
            <a:r>
              <a:rPr lang="en-US" sz="1300" dirty="0">
                <a:solidFill>
                  <a:srgbClr val="28251D"/>
                </a:solidFill>
                <a:latin typeface="Calibri" pitchFamily="34" charset="0"/>
                <a:ea typeface="Calibri" pitchFamily="34" charset="-122"/>
                <a:cs typeface="Calibri" pitchFamily="34" charset="-120"/>
              </a:rPr>
              <a:t>Each year a patient stays home instead of a private nursing home room avoids up to $129,575 in facility cost.</a:t>
            </a:r>
            <a:endParaRPr lang="en-US" sz="1300" dirty="0"/>
          </a:p>
        </p:txBody>
      </p:sp>
      <p:sp>
        <p:nvSpPr>
          <p:cNvPr id="14" name="Text 11"/>
          <p:cNvSpPr/>
          <p:nvPr/>
        </p:nvSpPr>
        <p:spPr>
          <a:xfrm>
            <a:off x="457200" y="4773168"/>
            <a:ext cx="8229600" cy="228600"/>
          </a:xfrm>
          <a:prstGeom prst="rect">
            <a:avLst/>
          </a:prstGeom>
          <a:noFill/>
          <a:ln/>
        </p:spPr>
        <p:txBody>
          <a:bodyPr wrap="square" lIns="0" tIns="0" rIns="0" bIns="0" rtlCol="0" anchor="ctr"/>
          <a:lstStyle/>
          <a:p>
            <a:pPr marL="0" indent="0">
              <a:buNone/>
            </a:pPr>
            <a:r>
              <a:rPr lang="en-US" sz="900" dirty="0">
                <a:solidFill>
                  <a:srgbClr val="5F5E59"/>
                </a:solidFill>
                <a:latin typeface="Calibri" pitchFamily="34" charset="0"/>
                <a:ea typeface="Calibri" pitchFamily="34" charset="-122"/>
                <a:cs typeface="Calibri" pitchFamily="34" charset="-120"/>
              </a:rPr>
              <a:t>Source: </a:t>
            </a:r>
            <a:r>
              <a:rPr lang="en-US" sz="900" u="sng" dirty="0">
                <a:solidFill>
                  <a:srgbClr val="01696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Alzheimer's Association (CareScout 2025 medians)</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2026 Alzheimer's Facts and Figures</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AARP 2024</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AHRQ</a:t>
            </a:r>
            <a:r>
              <a:rPr lang="en-US" sz="900" dirty="0">
                <a:solidFill>
                  <a:srgbClr val="5F5E59"/>
                </a:solidFill>
                <a:latin typeface="Calibri" pitchFamily="34" charset="0"/>
                <a:ea typeface="Calibri" pitchFamily="34" charset="-122"/>
                <a:cs typeface="Calibri" pitchFamily="34" charset="-120"/>
              </a:rPr>
              <a:t>, </a:t>
            </a:r>
            <a:r>
              <a:rPr lang="en-US" sz="900" u="sng" dirty="0">
                <a:solidFill>
                  <a:srgbClr val="01696F"/>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Mild dementia reminder study, PMC 2023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B2D"/>
        </a:solidFill>
        <a:effectLst/>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marL="0" indent="0">
              <a:buNone/>
            </a:pPr>
            <a:r>
              <a:rPr lang="en-US" sz="1200" b="1" kern="0" spc="200" dirty="0">
                <a:solidFill>
                  <a:srgbClr val="A9B8B7"/>
                </a:solidFill>
                <a:latin typeface="Calibri" pitchFamily="34" charset="0"/>
                <a:ea typeface="Calibri" pitchFamily="34" charset="-122"/>
                <a:cs typeface="Calibri" pitchFamily="34" charset="-120"/>
              </a:rPr>
              <a:t>ROADMAP AND Q&amp;A</a:t>
            </a:r>
            <a:endParaRPr lang="en-US" sz="1200" dirty="0"/>
          </a:p>
        </p:txBody>
      </p:sp>
      <p:sp>
        <p:nvSpPr>
          <p:cNvPr id="3" name="Text 1"/>
          <p:cNvSpPr/>
          <p:nvPr/>
        </p:nvSpPr>
        <p:spPr>
          <a:xfrm>
            <a:off x="548640" y="731520"/>
            <a:ext cx="8046720" cy="64008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What ships next</a:t>
            </a:r>
            <a:endParaRPr lang="en-US" sz="3200" dirty="0"/>
          </a:p>
        </p:txBody>
      </p:sp>
      <p:sp>
        <p:nvSpPr>
          <p:cNvPr id="4" name="Text 2"/>
          <p:cNvSpPr/>
          <p:nvPr/>
        </p:nvSpPr>
        <p:spPr>
          <a:xfrm>
            <a:off x="548640" y="1554480"/>
            <a:ext cx="1645920" cy="457200"/>
          </a:xfrm>
          <a:prstGeom prst="rect">
            <a:avLst/>
          </a:prstGeom>
          <a:noFill/>
          <a:ln/>
        </p:spPr>
        <p:txBody>
          <a:bodyPr wrap="square" lIns="0" tIns="0" rIns="0" bIns="0" rtlCol="0" anchor="ctr"/>
          <a:lstStyle/>
          <a:p>
            <a:pPr marL="0" indent="0">
              <a:buNone/>
            </a:pPr>
            <a:r>
              <a:rPr lang="en-US" sz="1500" b="1" dirty="0">
                <a:solidFill>
                  <a:srgbClr val="7FC4C9"/>
                </a:solidFill>
                <a:latin typeface="Trebuchet MS" pitchFamily="34" charset="0"/>
                <a:ea typeface="Trebuchet MS" pitchFamily="34" charset="-122"/>
                <a:cs typeface="Trebuchet MS" pitchFamily="34" charset="-120"/>
              </a:rPr>
              <a:t>Safety</a:t>
            </a:r>
            <a:endParaRPr lang="en-US" sz="1500" dirty="0"/>
          </a:p>
        </p:txBody>
      </p:sp>
      <p:sp>
        <p:nvSpPr>
          <p:cNvPr id="5" name="Text 3"/>
          <p:cNvSpPr/>
          <p:nvPr/>
        </p:nvSpPr>
        <p:spPr>
          <a:xfrm>
            <a:off x="2240280" y="1554480"/>
            <a:ext cx="6400800" cy="457200"/>
          </a:xfrm>
          <a:prstGeom prst="rect">
            <a:avLst/>
          </a:prstGeom>
          <a:noFill/>
          <a:ln/>
        </p:spPr>
        <p:txBody>
          <a:bodyPr wrap="square" lIns="0" tIns="0" rIns="0" bIns="0" rtlCol="0" anchor="ctr"/>
          <a:lstStyle/>
          <a:p>
            <a:pPr marL="0" indent="0">
              <a:buNone/>
            </a:pPr>
            <a:r>
              <a:rPr lang="en-US" sz="1400" dirty="0">
                <a:solidFill>
                  <a:srgbClr val="EEF1EF"/>
                </a:solidFill>
                <a:latin typeface="Calibri" pitchFamily="34" charset="0"/>
                <a:ea typeface="Calibri" pitchFamily="34" charset="-122"/>
                <a:cs typeface="Calibri" pitchFamily="34" charset="-120"/>
              </a:rPr>
              <a:t>Bench-validate one actuation per cycle and face-departure gating on v3</a:t>
            </a:r>
            <a:endParaRPr lang="en-US" sz="1400" dirty="0"/>
          </a:p>
        </p:txBody>
      </p:sp>
      <p:sp>
        <p:nvSpPr>
          <p:cNvPr id="6" name="Text 4"/>
          <p:cNvSpPr/>
          <p:nvPr/>
        </p:nvSpPr>
        <p:spPr>
          <a:xfrm>
            <a:off x="548640" y="2103120"/>
            <a:ext cx="1645920" cy="457200"/>
          </a:xfrm>
          <a:prstGeom prst="rect">
            <a:avLst/>
          </a:prstGeom>
          <a:noFill/>
          <a:ln/>
        </p:spPr>
        <p:txBody>
          <a:bodyPr wrap="square" lIns="0" tIns="0" rIns="0" bIns="0" rtlCol="0" anchor="ctr"/>
          <a:lstStyle/>
          <a:p>
            <a:pPr marL="0" indent="0">
              <a:buNone/>
            </a:pPr>
            <a:r>
              <a:rPr lang="en-US" sz="1500" b="1" dirty="0">
                <a:solidFill>
                  <a:srgbClr val="7FC4C9"/>
                </a:solidFill>
                <a:latin typeface="Trebuchet MS" pitchFamily="34" charset="0"/>
                <a:ea typeface="Trebuchet MS" pitchFamily="34" charset="-122"/>
                <a:cs typeface="Trebuchet MS" pitchFamily="34" charset="-120"/>
              </a:rPr>
              <a:t>Data quality</a:t>
            </a:r>
            <a:endParaRPr lang="en-US" sz="1500" dirty="0"/>
          </a:p>
        </p:txBody>
      </p:sp>
      <p:sp>
        <p:nvSpPr>
          <p:cNvPr id="7" name="Text 5"/>
          <p:cNvSpPr/>
          <p:nvPr/>
        </p:nvSpPr>
        <p:spPr>
          <a:xfrm>
            <a:off x="2240280" y="2103120"/>
            <a:ext cx="6400800" cy="457200"/>
          </a:xfrm>
          <a:prstGeom prst="rect">
            <a:avLst/>
          </a:prstGeom>
          <a:noFill/>
          <a:ln/>
        </p:spPr>
        <p:txBody>
          <a:bodyPr wrap="square" lIns="0" tIns="0" rIns="0" bIns="0" rtlCol="0" anchor="ctr"/>
          <a:lstStyle/>
          <a:p>
            <a:pPr marL="0" indent="0">
              <a:buNone/>
            </a:pPr>
            <a:r>
              <a:rPr lang="en-US" sz="1400" dirty="0">
                <a:solidFill>
                  <a:srgbClr val="EEF1EF"/>
                </a:solidFill>
                <a:latin typeface="Calibri" pitchFamily="34" charset="0"/>
                <a:ea typeface="Calibri" pitchFamily="34" charset="-122"/>
                <a:cs typeface="Calibri" pitchFamily="34" charset="-120"/>
              </a:rPr>
              <a:t>Separate bench rows from patient rows; fix anchor drift after midnight UTC</a:t>
            </a:r>
            <a:endParaRPr lang="en-US" sz="1400" dirty="0"/>
          </a:p>
        </p:txBody>
      </p:sp>
      <p:sp>
        <p:nvSpPr>
          <p:cNvPr id="8" name="Text 6"/>
          <p:cNvSpPr/>
          <p:nvPr/>
        </p:nvSpPr>
        <p:spPr>
          <a:xfrm>
            <a:off x="548640" y="2651760"/>
            <a:ext cx="1645920" cy="457200"/>
          </a:xfrm>
          <a:prstGeom prst="rect">
            <a:avLst/>
          </a:prstGeom>
          <a:noFill/>
          <a:ln/>
        </p:spPr>
        <p:txBody>
          <a:bodyPr wrap="square" lIns="0" tIns="0" rIns="0" bIns="0" rtlCol="0" anchor="ctr"/>
          <a:lstStyle/>
          <a:p>
            <a:pPr marL="0" indent="0">
              <a:buNone/>
            </a:pPr>
            <a:r>
              <a:rPr lang="en-US" sz="1500" b="1" dirty="0">
                <a:solidFill>
                  <a:srgbClr val="7FC4C9"/>
                </a:solidFill>
                <a:latin typeface="Trebuchet MS" pitchFamily="34" charset="0"/>
                <a:ea typeface="Trebuchet MS" pitchFamily="34" charset="-122"/>
                <a:cs typeface="Trebuchet MS" pitchFamily="34" charset="-120"/>
              </a:rPr>
              <a:t>Prediction</a:t>
            </a:r>
            <a:endParaRPr lang="en-US" sz="1500" dirty="0"/>
          </a:p>
        </p:txBody>
      </p:sp>
      <p:sp>
        <p:nvSpPr>
          <p:cNvPr id="9" name="Text 7"/>
          <p:cNvSpPr/>
          <p:nvPr/>
        </p:nvSpPr>
        <p:spPr>
          <a:xfrm>
            <a:off x="2240280" y="2651760"/>
            <a:ext cx="6400800" cy="457200"/>
          </a:xfrm>
          <a:prstGeom prst="rect">
            <a:avLst/>
          </a:prstGeom>
          <a:noFill/>
          <a:ln/>
        </p:spPr>
        <p:txBody>
          <a:bodyPr wrap="square" lIns="0" tIns="0" rIns="0" bIns="0" rtlCol="0" anchor="ctr"/>
          <a:lstStyle/>
          <a:p>
            <a:pPr marL="0" indent="0">
              <a:buNone/>
            </a:pPr>
            <a:r>
              <a:rPr lang="en-US" sz="1400" dirty="0">
                <a:solidFill>
                  <a:srgbClr val="EEF1EF"/>
                </a:solidFill>
                <a:latin typeface="Calibri" pitchFamily="34" charset="0"/>
                <a:ea typeface="Calibri" pitchFamily="34" charset="-122"/>
                <a:cs typeface="Calibri" pitchFamily="34" charset="-120"/>
              </a:rPr>
              <a:t>MLflow adherence-risk model to replace the drift and rate rule</a:t>
            </a:r>
            <a:endParaRPr lang="en-US" sz="1400" dirty="0"/>
          </a:p>
        </p:txBody>
      </p:sp>
      <p:sp>
        <p:nvSpPr>
          <p:cNvPr id="10" name="Text 8"/>
          <p:cNvSpPr/>
          <p:nvPr/>
        </p:nvSpPr>
        <p:spPr>
          <a:xfrm>
            <a:off x="548640" y="3200400"/>
            <a:ext cx="1645920" cy="457200"/>
          </a:xfrm>
          <a:prstGeom prst="rect">
            <a:avLst/>
          </a:prstGeom>
          <a:noFill/>
          <a:ln/>
        </p:spPr>
        <p:txBody>
          <a:bodyPr wrap="square" lIns="0" tIns="0" rIns="0" bIns="0" rtlCol="0" anchor="ctr"/>
          <a:lstStyle/>
          <a:p>
            <a:pPr marL="0" indent="0">
              <a:buNone/>
            </a:pPr>
            <a:r>
              <a:rPr lang="en-US" sz="1500" b="1" dirty="0">
                <a:solidFill>
                  <a:srgbClr val="7FC4C9"/>
                </a:solidFill>
                <a:latin typeface="Trebuchet MS" pitchFamily="34" charset="0"/>
                <a:ea typeface="Trebuchet MS" pitchFamily="34" charset="-122"/>
                <a:cs typeface="Trebuchet MS" pitchFamily="34" charset="-120"/>
              </a:rPr>
              <a:t>Identity</a:t>
            </a:r>
            <a:endParaRPr lang="en-US" sz="1500" dirty="0"/>
          </a:p>
        </p:txBody>
      </p:sp>
      <p:sp>
        <p:nvSpPr>
          <p:cNvPr id="11" name="Text 9"/>
          <p:cNvSpPr/>
          <p:nvPr/>
        </p:nvSpPr>
        <p:spPr>
          <a:xfrm>
            <a:off x="2240280" y="3200400"/>
            <a:ext cx="6400800" cy="457200"/>
          </a:xfrm>
          <a:prstGeom prst="rect">
            <a:avLst/>
          </a:prstGeom>
          <a:noFill/>
          <a:ln/>
        </p:spPr>
        <p:txBody>
          <a:bodyPr wrap="square" lIns="0" tIns="0" rIns="0" bIns="0" rtlCol="0" anchor="ctr"/>
          <a:lstStyle/>
          <a:p>
            <a:pPr marL="0" indent="0">
              <a:buNone/>
            </a:pPr>
            <a:r>
              <a:rPr lang="en-US" sz="1400" dirty="0">
                <a:solidFill>
                  <a:srgbClr val="EEF1EF"/>
                </a:solidFill>
                <a:latin typeface="Calibri" pitchFamily="34" charset="0"/>
                <a:ea typeface="Calibri" pitchFamily="34" charset="-122"/>
                <a:cs typeface="Calibri" pitchFamily="34" charset="-120"/>
              </a:rPr>
              <a:t>Move from face presence to patient match, plus pill color and size checks</a:t>
            </a:r>
            <a:endParaRPr lang="en-US" sz="1400" dirty="0"/>
          </a:p>
        </p:txBody>
      </p:sp>
      <p:sp>
        <p:nvSpPr>
          <p:cNvPr id="12" name="Text 10"/>
          <p:cNvSpPr/>
          <p:nvPr/>
        </p:nvSpPr>
        <p:spPr>
          <a:xfrm>
            <a:off x="548640" y="3749040"/>
            <a:ext cx="1645920" cy="457200"/>
          </a:xfrm>
          <a:prstGeom prst="rect">
            <a:avLst/>
          </a:prstGeom>
          <a:noFill/>
          <a:ln/>
        </p:spPr>
        <p:txBody>
          <a:bodyPr wrap="square" lIns="0" tIns="0" rIns="0" bIns="0" rtlCol="0" anchor="ctr"/>
          <a:lstStyle/>
          <a:p>
            <a:pPr marL="0" indent="0">
              <a:buNone/>
            </a:pPr>
            <a:r>
              <a:rPr lang="en-US" sz="1500" b="1" dirty="0">
                <a:solidFill>
                  <a:srgbClr val="7FC4C9"/>
                </a:solidFill>
                <a:latin typeface="Trebuchet MS" pitchFamily="34" charset="0"/>
                <a:ea typeface="Trebuchet MS" pitchFamily="34" charset="-122"/>
                <a:cs typeface="Trebuchet MS" pitchFamily="34" charset="-120"/>
              </a:rPr>
              <a:t>Validation</a:t>
            </a:r>
            <a:endParaRPr lang="en-US" sz="1500" dirty="0"/>
          </a:p>
        </p:txBody>
      </p:sp>
      <p:sp>
        <p:nvSpPr>
          <p:cNvPr id="13" name="Text 11"/>
          <p:cNvSpPr/>
          <p:nvPr/>
        </p:nvSpPr>
        <p:spPr>
          <a:xfrm>
            <a:off x="2240280" y="3749040"/>
            <a:ext cx="6400800" cy="457200"/>
          </a:xfrm>
          <a:prstGeom prst="rect">
            <a:avLst/>
          </a:prstGeom>
          <a:noFill/>
          <a:ln/>
        </p:spPr>
        <p:txBody>
          <a:bodyPr wrap="square" lIns="0" tIns="0" rIns="0" bIns="0" rtlCol="0" anchor="ctr"/>
          <a:lstStyle/>
          <a:p>
            <a:pPr marL="0" indent="0">
              <a:buNone/>
            </a:pPr>
            <a:r>
              <a:rPr lang="en-US" sz="1400" dirty="0">
                <a:solidFill>
                  <a:srgbClr val="EEF1EF"/>
                </a:solidFill>
                <a:latin typeface="Calibri" pitchFamily="34" charset="0"/>
                <a:ea typeface="Calibri" pitchFamily="34" charset="-122"/>
                <a:cs typeface="Calibri" pitchFamily="34" charset="-120"/>
              </a:rPr>
              <a:t>Bench v3 drivetrain, then a supervised pilot with caregivers</a:t>
            </a:r>
            <a:endParaRPr lang="en-US" sz="1400" dirty="0"/>
          </a:p>
        </p:txBody>
      </p:sp>
      <p:sp>
        <p:nvSpPr>
          <p:cNvPr id="14" name="Text 12"/>
          <p:cNvSpPr/>
          <p:nvPr/>
        </p:nvSpPr>
        <p:spPr>
          <a:xfrm>
            <a:off x="548640" y="4434840"/>
            <a:ext cx="8046720" cy="320040"/>
          </a:xfrm>
          <a:prstGeom prst="rect">
            <a:avLst/>
          </a:prstGeom>
          <a:noFill/>
          <a:ln/>
        </p:spPr>
        <p:txBody>
          <a:bodyPr wrap="square" lIns="0" tIns="0" rIns="0" bIns="0" rtlCol="0" anchor="ctr"/>
          <a:lstStyle/>
          <a:p>
            <a:pPr marL="0" indent="0">
              <a:buNone/>
            </a:pPr>
            <a:r>
              <a:rPr lang="en-US" sz="1400" b="1" u="sng" dirty="0">
                <a:solidFill>
                  <a:srgbClr val="FFFFF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Questions?  github.com/arewa-builds/AutomatedPillDispenser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200" dirty="0">
                <a:solidFill>
                  <a:srgbClr val="01696F"/>
                </a:solidFill>
                <a:latin typeface="Calibri" pitchFamily="34" charset="0"/>
                <a:ea typeface="Calibri" pitchFamily="34" charset="-122"/>
                <a:cs typeface="Calibri" pitchFamily="34" charset="-120"/>
              </a:rPr>
              <a:t>APPENDIX</a:t>
            </a:r>
            <a:endParaRPr lang="en-US" sz="1100" dirty="0"/>
          </a:p>
        </p:txBody>
      </p:sp>
      <p:sp>
        <p:nvSpPr>
          <p:cNvPr id="3" name="Text 1"/>
          <p:cNvSpPr/>
          <p:nvPr/>
        </p:nvSpPr>
        <p:spPr>
          <a:xfrm>
            <a:off x="457200" y="502920"/>
            <a:ext cx="8229600" cy="685800"/>
          </a:xfrm>
          <a:prstGeom prst="rect">
            <a:avLst/>
          </a:prstGeom>
          <a:noFill/>
          <a:ln/>
        </p:spPr>
        <p:txBody>
          <a:bodyPr wrap="square" lIns="0" tIns="0" rIns="0" bIns="0" rtlCol="0" anchor="t"/>
          <a:lstStyle/>
          <a:p>
            <a:pPr marL="0" indent="0">
              <a:buNone/>
            </a:pPr>
            <a:r>
              <a:rPr lang="en-US" sz="2400" b="1" dirty="0">
                <a:solidFill>
                  <a:srgbClr val="28251D"/>
                </a:solidFill>
                <a:latin typeface="Trebuchet MS" pitchFamily="34" charset="0"/>
                <a:ea typeface="Trebuchet MS" pitchFamily="34" charset="-122"/>
                <a:cs typeface="Trebuchet MS" pitchFamily="34" charset="-120"/>
              </a:rPr>
              <a:t>References</a:t>
            </a:r>
            <a:endParaRPr lang="en-US" sz="2400" dirty="0"/>
          </a:p>
        </p:txBody>
      </p:sp>
      <p:sp>
        <p:nvSpPr>
          <p:cNvPr id="4" name="Text 2"/>
          <p:cNvSpPr/>
          <p:nvPr/>
        </p:nvSpPr>
        <p:spPr>
          <a:xfrm>
            <a:off x="457200" y="1188720"/>
            <a:ext cx="4572000" cy="3611880"/>
          </a:xfrm>
          <a:prstGeom prst="rect">
            <a:avLst/>
          </a:prstGeom>
          <a:noFill/>
          <a:ln/>
        </p:spPr>
        <p:txBody>
          <a:bodyPr wrap="square" lIns="0" tIns="0" rIns="0" bIns="0" rtlCol="0" anchor="t"/>
          <a:lstStyle/>
          <a:p>
            <a:pPr marL="0" indent="0">
              <a:spcAft>
                <a:spcPts val="400"/>
              </a:spcAft>
              <a:buNone/>
            </a:pPr>
            <a:r>
              <a:rPr lang="en-US" sz="1200" b="1" dirty="0">
                <a:solidFill>
                  <a:srgbClr val="01696F"/>
                </a:solidFill>
                <a:latin typeface="Calibri" pitchFamily="34" charset="0"/>
                <a:ea typeface="Calibri" pitchFamily="34" charset="-122"/>
                <a:cs typeface="Calibri" pitchFamily="34" charset="-120"/>
              </a:rPr>
              <a:t>Industry and clinical sources</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CDC MMWR (2017). Improving Medication Adherence for Chronic Disease Management</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NIH PMC review (2023). Integrated drug plans and medication adherence</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Iuga &amp; McGuire, PMC (2014). Adherence and health care costs</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Roebuck et al., Health Affairs (2011). Adherence lowers health care use and costs</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CMS. Hospital Readmissions Reduction Program (HRRP)</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CMS. HRRP stratified methodology impact file user guide (3% cap)</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Becker's Hospital Review (2025). Higher readmission penalties in FY 2026</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10">
                  <a:extLst>
                    <a:ext uri="{A12FA001-AC4F-418D-AE19-62706E023703}">
                      <ahyp:hlinkClr xmlns:ahyp="http://schemas.microsoft.com/office/drawing/2018/hyperlinkcolor" val="tx"/>
                    </a:ext>
                  </a:extLst>
                </a:hlinkClick>
              </a:rPr>
              <a:t>PMC (2024). Meta-analysis of 30-day readmission costs</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Alzheimer's Association (2026). 2026 Alzheimer's Disease Facts and Figures</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12">
                  <a:extLst>
                    <a:ext uri="{A12FA001-AC4F-418D-AE19-62706E023703}">
                      <ahyp:hlinkClr xmlns:ahyp="http://schemas.microsoft.com/office/drawing/2018/hyperlinkcolor" val="tx"/>
                    </a:ext>
                  </a:extLst>
                </a:hlinkClick>
              </a:rPr>
              <a:t>Alzheimer's Association. Planning for care costs (CareScout 2025 national medians)</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13">
                  <a:extLst>
                    <a:ext uri="{A12FA001-AC4F-418D-AE19-62706E023703}">
                      <ahyp:hlinkClr xmlns:ahyp="http://schemas.microsoft.com/office/drawing/2018/hyperlinkcolor" val="tx"/>
                    </a:ext>
                  </a:extLst>
                </a:hlinkClick>
              </a:rPr>
              <a:t>AARP (2024). Home and Community Preferences research insights</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14">
                  <a:extLst>
                    <a:ext uri="{A12FA001-AC4F-418D-AE19-62706E023703}">
                      <ahyp:hlinkClr xmlns:ahyp="http://schemas.microsoft.com/office/drawing/2018/hyperlinkcolor" val="tx"/>
                    </a:ext>
                  </a:extLst>
                </a:hlinkClick>
              </a:rPr>
              <a:t>AHRQ. Medication management of the community-dwelling older adult</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15">
                  <a:extLst>
                    <a:ext uri="{A12FA001-AC4F-418D-AE19-62706E023703}">
                      <ahyp:hlinkClr xmlns:ahyp="http://schemas.microsoft.com/office/drawing/2018/hyperlinkcolor" val="tx"/>
                    </a:ext>
                  </a:extLst>
                </a:hlinkClick>
              </a:rPr>
              <a:t>PMC (2023). Medication reminder device for older adults with mild dementia</a:t>
            </a:r>
            <a:endParaRPr lang="en-US" sz="1200" dirty="0"/>
          </a:p>
        </p:txBody>
      </p:sp>
      <p:sp>
        <p:nvSpPr>
          <p:cNvPr id="5" name="Text 3"/>
          <p:cNvSpPr/>
          <p:nvPr/>
        </p:nvSpPr>
        <p:spPr>
          <a:xfrm>
            <a:off x="5303520" y="1188720"/>
            <a:ext cx="3383280" cy="3611880"/>
          </a:xfrm>
          <a:prstGeom prst="rect">
            <a:avLst/>
          </a:prstGeom>
          <a:noFill/>
          <a:ln/>
        </p:spPr>
        <p:txBody>
          <a:bodyPr wrap="square" lIns="0" tIns="0" rIns="0" bIns="0" rtlCol="0" anchor="t"/>
          <a:lstStyle/>
          <a:p>
            <a:pPr marL="0" indent="0">
              <a:spcAft>
                <a:spcPts val="400"/>
              </a:spcAft>
              <a:buNone/>
            </a:pPr>
            <a:r>
              <a:rPr lang="en-US" sz="1200" b="1" dirty="0">
                <a:solidFill>
                  <a:srgbClr val="01696F"/>
                </a:solidFill>
                <a:latin typeface="Calibri" pitchFamily="34" charset="0"/>
                <a:ea typeface="Calibri" pitchFamily="34" charset="-122"/>
                <a:cs typeface="Calibri" pitchFamily="34" charset="-120"/>
              </a:rPr>
              <a:t>Project sources</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16">
                  <a:extLst>
                    <a:ext uri="{A12FA001-AC4F-418D-AE19-62706E023703}">
                      <ahyp:hlinkClr xmlns:ahyp="http://schemas.microsoft.com/office/drawing/2018/hyperlinkcolor" val="tx"/>
                    </a:ext>
                  </a:extLst>
                </a:hlinkClick>
              </a:rPr>
              <a:t>AutomatedPillDispenser GitHub repository</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17">
                  <a:extLst>
                    <a:ext uri="{A12FA001-AC4F-418D-AE19-62706E023703}">
                      <ahyp:hlinkClr xmlns:ahyp="http://schemas.microsoft.com/office/drawing/2018/hyperlinkcolor" val="tx"/>
                    </a:ext>
                  </a:extLst>
                </a:hlinkClick>
              </a:rPr>
              <a:t>cad/v3 README: v3 mechanism geometry</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18">
                  <a:extLst>
                    <a:ext uri="{A12FA001-AC4F-418D-AE19-62706E023703}">
                      <ahyp:hlinkClr xmlns:ahyp="http://schemas.microsoft.com/office/drawing/2018/hyperlinkcolor" val="tx"/>
                    </a:ext>
                  </a:extLst>
                </a:hlinkClick>
              </a:rPr>
              <a:t>firmware README: Arduino state machine</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19">
                  <a:extLst>
                    <a:ext uri="{A12FA001-AC4F-418D-AE19-62706E023703}">
                      <ahyp:hlinkClr xmlns:ahyp="http://schemas.microsoft.com/office/drawing/2018/hyperlinkcolor" val="tx"/>
                    </a:ext>
                  </a:extLst>
                </a:hlinkClick>
              </a:rPr>
              <a:t>PRs #5, #9, #14, #15: vision, REZERO, Databricks sink</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20">
                  <a:extLst>
                    <a:ext uri="{A12FA001-AC4F-418D-AE19-62706E023703}">
                      <ahyp:hlinkClr xmlns:ahyp="http://schemas.microsoft.com/office/drawing/2018/hyperlinkcolor" val="tx"/>
                    </a:ext>
                  </a:extLst>
                </a:hlinkClick>
              </a:rPr>
              <a:t>PR #20: three-month Bronze history and trend tables</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21">
                  <a:extLst>
                    <a:ext uri="{A12FA001-AC4F-418D-AE19-62706E023703}">
                      <ahyp:hlinkClr xmlns:ahyp="http://schemas.microsoft.com/office/drawing/2018/hyperlinkcolor" val="tx"/>
                    </a:ext>
                  </a:extLst>
                </a:hlinkClick>
              </a:rPr>
              <a:t>bronze_dispense_month.sql</a:t>
            </a:r>
            <a:endParaRPr lang="en-US" sz="1200" dirty="0"/>
          </a:p>
          <a:p>
            <a:pPr marL="0" indent="0">
              <a:spcAft>
                <a:spcPts val="400"/>
              </a:spcAft>
              <a:buNone/>
            </a:pPr>
            <a:r>
              <a:rPr lang="en-US" sz="1000" u="sng" dirty="0">
                <a:solidFill>
                  <a:srgbClr val="28251D"/>
                </a:solidFill>
                <a:latin typeface="Calibri" pitchFamily="34" charset="0"/>
                <a:ea typeface="Calibri" pitchFamily="34" charset="-122"/>
                <a:cs typeface="Calibri" pitchFamily="34" charset="-120"/>
                <a:hlinkClick r:id="rId22">
                  <a:extLst>
                    <a:ext uri="{A12FA001-AC4F-418D-AE19-62706E023703}">
                      <ahyp:hlinkClr xmlns:ahyp="http://schemas.microsoft.com/office/drawing/2018/hyperlinkcolor" val="tx"/>
                    </a:ext>
                  </a:extLst>
                </a:hlinkClick>
              </a:rPr>
              <a:t>Pill Dispenser Event Insights, published Databricks dashboard</a:t>
            </a:r>
            <a:endParaRPr lang="en-US" sz="1200" dirty="0"/>
          </a:p>
        </p:txBody>
      </p:sp>
      <p:sp>
        <p:nvSpPr>
          <p:cNvPr id="6" name="Text 4"/>
          <p:cNvSpPr/>
          <p:nvPr/>
        </p:nvSpPr>
        <p:spPr>
          <a:xfrm>
            <a:off x="457200" y="4773168"/>
            <a:ext cx="8229600" cy="228600"/>
          </a:xfrm>
          <a:prstGeom prst="rect">
            <a:avLst/>
          </a:prstGeom>
          <a:noFill/>
          <a:ln/>
        </p:spPr>
        <p:txBody>
          <a:bodyPr wrap="square" lIns="0" tIns="0" rIns="0" bIns="0" rtlCol="0" anchor="ctr"/>
          <a:lstStyle/>
          <a:p>
            <a:pPr marL="0" indent="0">
              <a:buNone/>
            </a:pPr>
            <a:r>
              <a:rPr lang="en-US" sz="900" dirty="0">
                <a:solidFill>
                  <a:srgbClr val="5F5E59"/>
                </a:solidFill>
                <a:latin typeface="Calibri" pitchFamily="34" charset="0"/>
                <a:ea typeface="Calibri" pitchFamily="34" charset="-122"/>
                <a:cs typeface="Calibri" pitchFamily="34" charset="-120"/>
              </a:rPr>
              <a:t>All Databricks figures were queried from workspace.pill_dispenser on 30 Sep to 1 Oct 2026 (ET).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539</TotalTime>
  <Words>5685</Words>
  <Application>Microsoft Office PowerPoint</Application>
  <PresentationFormat>On-screen Show (16:9)</PresentationFormat>
  <Paragraphs>501</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Pill Dispenser</dc:title>
  <dc:subject>PptxGenJS Presentation</dc:subject>
  <dc:creator>PptxGenJS</dc:creator>
  <cp:lastModifiedBy>Arewa _</cp:lastModifiedBy>
  <cp:revision>4</cp:revision>
  <dcterms:created xsi:type="dcterms:W3CDTF">2026-10-01T05:24:35Z</dcterms:created>
  <dcterms:modified xsi:type="dcterms:W3CDTF">2026-10-01T14:25:43Z</dcterms:modified>
</cp:coreProperties>
</file>